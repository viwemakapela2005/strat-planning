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256" r:id="rId2"/>
    <p:sldId id="257" r:id="rId3"/>
    <p:sldId id="260" r:id="rId4"/>
    <p:sldId id="279" r:id="rId5"/>
    <p:sldId id="261" r:id="rId6"/>
    <p:sldId id="262" r:id="rId7"/>
    <p:sldId id="263" r:id="rId8"/>
    <p:sldId id="264" r:id="rId9"/>
    <p:sldId id="265" r:id="rId10"/>
    <p:sldId id="266" r:id="rId11"/>
    <p:sldId id="267" r:id="rId12"/>
    <p:sldId id="317" r:id="rId13"/>
    <p:sldId id="280" r:id="rId14"/>
    <p:sldId id="268" r:id="rId15"/>
    <p:sldId id="270" r:id="rId16"/>
    <p:sldId id="281" r:id="rId17"/>
    <p:sldId id="282" r:id="rId18"/>
    <p:sldId id="283" r:id="rId19"/>
    <p:sldId id="284" r:id="rId20"/>
    <p:sldId id="285" r:id="rId21"/>
    <p:sldId id="269" r:id="rId22"/>
    <p:sldId id="286" r:id="rId23"/>
    <p:sldId id="287" r:id="rId24"/>
    <p:sldId id="288" r:id="rId25"/>
    <p:sldId id="271" r:id="rId26"/>
    <p:sldId id="290" r:id="rId27"/>
    <p:sldId id="291" r:id="rId28"/>
    <p:sldId id="318" r:id="rId29"/>
    <p:sldId id="319" r:id="rId30"/>
    <p:sldId id="320" r:id="rId31"/>
    <p:sldId id="321" r:id="rId32"/>
    <p:sldId id="294" r:id="rId33"/>
    <p:sldId id="295" r:id="rId34"/>
    <p:sldId id="308" r:id="rId35"/>
    <p:sldId id="309" r:id="rId36"/>
    <p:sldId id="310" r:id="rId37"/>
    <p:sldId id="298" r:id="rId38"/>
    <p:sldId id="299" r:id="rId39"/>
    <p:sldId id="300" r:id="rId40"/>
    <p:sldId id="301" r:id="rId41"/>
    <p:sldId id="316" r:id="rId42"/>
    <p:sldId id="302" r:id="rId43"/>
    <p:sldId id="311" r:id="rId44"/>
    <p:sldId id="312" r:id="rId45"/>
    <p:sldId id="313" r:id="rId46"/>
    <p:sldId id="314" r:id="rId47"/>
    <p:sldId id="315" r:id="rId48"/>
    <p:sldId id="307" r:id="rId49"/>
    <p:sldId id="275"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48E86"/>
    <a:srgbClr val="1A395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FBAD69-220F-48A0-9E95-0D679F879509}" v="35" dt="2026-06-24T12:15:28.5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21" autoAdjust="0"/>
    <p:restoredTop sz="94660"/>
  </p:normalViewPr>
  <p:slideViewPr>
    <p:cSldViewPr snapToGrid="0">
      <p:cViewPr varScale="1">
        <p:scale>
          <a:sx n="74" d="100"/>
          <a:sy n="74" d="100"/>
        </p:scale>
        <p:origin x="3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mathapelo Mongwe" userId="18731c1b-9e62-43ad-8744-4dad301ab871" providerId="ADAL" clId="{E28AF81F-42E2-4155-BE60-00F79056D2BB}"/>
    <pc:docChg chg="undo redo custSel addSld delSld modSld sldOrd">
      <pc:chgData name="Mmathapelo Mongwe" userId="18731c1b-9e62-43ad-8744-4dad301ab871" providerId="ADAL" clId="{E28AF81F-42E2-4155-BE60-00F79056D2BB}" dt="2026-06-24T14:23:10.089" v="931"/>
      <pc:docMkLst>
        <pc:docMk/>
      </pc:docMkLst>
      <pc:sldChg chg="modSp mod">
        <pc:chgData name="Mmathapelo Mongwe" userId="18731c1b-9e62-43ad-8744-4dad301ab871" providerId="ADAL" clId="{E28AF81F-42E2-4155-BE60-00F79056D2BB}" dt="2026-06-24T12:15:21.683" v="927" actId="1076"/>
        <pc:sldMkLst>
          <pc:docMk/>
          <pc:sldMk cId="0" sldId="257"/>
        </pc:sldMkLst>
        <pc:spChg chg="mod">
          <ac:chgData name="Mmathapelo Mongwe" userId="18731c1b-9e62-43ad-8744-4dad301ab871" providerId="ADAL" clId="{E28AF81F-42E2-4155-BE60-00F79056D2BB}" dt="2026-06-24T12:15:21.683" v="927" actId="1076"/>
          <ac:spMkLst>
            <pc:docMk/>
            <pc:sldMk cId="0" sldId="257"/>
            <ac:spMk id="3" creationId="{00000000-0000-0000-0000-000000000000}"/>
          </ac:spMkLst>
        </pc:spChg>
      </pc:sldChg>
      <pc:sldChg chg="modSp">
        <pc:chgData name="Mmathapelo Mongwe" userId="18731c1b-9e62-43ad-8744-4dad301ab871" providerId="ADAL" clId="{E28AF81F-42E2-4155-BE60-00F79056D2BB}" dt="2026-06-24T12:15:28.571" v="928"/>
        <pc:sldMkLst>
          <pc:docMk/>
          <pc:sldMk cId="0" sldId="260"/>
        </pc:sldMkLst>
        <pc:spChg chg="mod">
          <ac:chgData name="Mmathapelo Mongwe" userId="18731c1b-9e62-43ad-8744-4dad301ab871" providerId="ADAL" clId="{E28AF81F-42E2-4155-BE60-00F79056D2BB}" dt="2026-06-24T12:15:28.571" v="928"/>
          <ac:spMkLst>
            <pc:docMk/>
            <pc:sldMk cId="0" sldId="260"/>
            <ac:spMk id="3" creationId="{00000000-0000-0000-0000-000000000000}"/>
          </ac:spMkLst>
        </pc:spChg>
      </pc:sldChg>
      <pc:sldChg chg="modSp mod">
        <pc:chgData name="Mmathapelo Mongwe" userId="18731c1b-9e62-43ad-8744-4dad301ab871" providerId="ADAL" clId="{E28AF81F-42E2-4155-BE60-00F79056D2BB}" dt="2026-06-24T07:20:05.169" v="317" actId="123"/>
        <pc:sldMkLst>
          <pc:docMk/>
          <pc:sldMk cId="0" sldId="261"/>
        </pc:sldMkLst>
        <pc:spChg chg="mod">
          <ac:chgData name="Mmathapelo Mongwe" userId="18731c1b-9e62-43ad-8744-4dad301ab871" providerId="ADAL" clId="{E28AF81F-42E2-4155-BE60-00F79056D2BB}" dt="2026-06-23T11:28:17.019" v="3" actId="255"/>
          <ac:spMkLst>
            <pc:docMk/>
            <pc:sldMk cId="0" sldId="261"/>
            <ac:spMk id="13" creationId="{23103EDF-9C2D-4F1B-88DD-1A30FC6F9CFE}"/>
          </ac:spMkLst>
        </pc:spChg>
        <pc:spChg chg="mod">
          <ac:chgData name="Mmathapelo Mongwe" userId="18731c1b-9e62-43ad-8744-4dad301ab871" providerId="ADAL" clId="{E28AF81F-42E2-4155-BE60-00F79056D2BB}" dt="2026-06-23T11:27:54.736" v="0" actId="255"/>
          <ac:spMkLst>
            <pc:docMk/>
            <pc:sldMk cId="0" sldId="261"/>
            <ac:spMk id="22" creationId="{3F6F92FA-A8D7-FA6E-52B3-685F1186F596}"/>
          </ac:spMkLst>
        </pc:spChg>
        <pc:spChg chg="mod">
          <ac:chgData name="Mmathapelo Mongwe" userId="18731c1b-9e62-43ad-8744-4dad301ab871" providerId="ADAL" clId="{E28AF81F-42E2-4155-BE60-00F79056D2BB}" dt="2026-06-23T11:28:01.188" v="1" actId="255"/>
          <ac:spMkLst>
            <pc:docMk/>
            <pc:sldMk cId="0" sldId="261"/>
            <ac:spMk id="25" creationId="{1995C8D6-760F-AD03-4447-F7271013A304}"/>
          </ac:spMkLst>
        </pc:spChg>
        <pc:spChg chg="mod">
          <ac:chgData name="Mmathapelo Mongwe" userId="18731c1b-9e62-43ad-8744-4dad301ab871" providerId="ADAL" clId="{E28AF81F-42E2-4155-BE60-00F79056D2BB}" dt="2026-06-24T07:20:05.169" v="317" actId="123"/>
          <ac:spMkLst>
            <pc:docMk/>
            <pc:sldMk cId="0" sldId="261"/>
            <ac:spMk id="28" creationId="{C57DD993-DD0B-B447-0986-96F8E50C45F2}"/>
          </ac:spMkLst>
        </pc:spChg>
      </pc:sldChg>
      <pc:sldChg chg="modSp mod">
        <pc:chgData name="Mmathapelo Mongwe" userId="18731c1b-9e62-43ad-8744-4dad301ab871" providerId="ADAL" clId="{E28AF81F-42E2-4155-BE60-00F79056D2BB}" dt="2026-06-24T07:20:19.143" v="321" actId="123"/>
        <pc:sldMkLst>
          <pc:docMk/>
          <pc:sldMk cId="0" sldId="262"/>
        </pc:sldMkLst>
        <pc:spChg chg="mod">
          <ac:chgData name="Mmathapelo Mongwe" userId="18731c1b-9e62-43ad-8744-4dad301ab871" providerId="ADAL" clId="{E28AF81F-42E2-4155-BE60-00F79056D2BB}" dt="2026-06-24T07:20:19.143" v="321" actId="123"/>
          <ac:spMkLst>
            <pc:docMk/>
            <pc:sldMk cId="0" sldId="262"/>
            <ac:spMk id="15" creationId="{00000000-0000-0000-0000-000000000000}"/>
          </ac:spMkLst>
        </pc:spChg>
      </pc:sldChg>
      <pc:sldChg chg="modSp mod">
        <pc:chgData name="Mmathapelo Mongwe" userId="18731c1b-9e62-43ad-8744-4dad301ab871" providerId="ADAL" clId="{E28AF81F-42E2-4155-BE60-00F79056D2BB}" dt="2026-06-24T11:28:25.846" v="516" actId="20577"/>
        <pc:sldMkLst>
          <pc:docMk/>
          <pc:sldMk cId="0" sldId="264"/>
        </pc:sldMkLst>
        <pc:graphicFrameChg chg="modGraphic">
          <ac:chgData name="Mmathapelo Mongwe" userId="18731c1b-9e62-43ad-8744-4dad301ab871" providerId="ADAL" clId="{E28AF81F-42E2-4155-BE60-00F79056D2BB}" dt="2026-06-24T11:28:25.846" v="516" actId="20577"/>
          <ac:graphicFrameMkLst>
            <pc:docMk/>
            <pc:sldMk cId="0" sldId="264"/>
            <ac:graphicFrameMk id="4" creationId="{19952BEC-E003-D06E-CDC5-EFC2598D6021}"/>
          </ac:graphicFrameMkLst>
        </pc:graphicFrameChg>
      </pc:sldChg>
      <pc:sldChg chg="modSp mod">
        <pc:chgData name="Mmathapelo Mongwe" userId="18731c1b-9e62-43ad-8744-4dad301ab871" providerId="ADAL" clId="{E28AF81F-42E2-4155-BE60-00F79056D2BB}" dt="2026-06-24T12:14:59.844" v="925"/>
        <pc:sldMkLst>
          <pc:docMk/>
          <pc:sldMk cId="0" sldId="265"/>
        </pc:sldMkLst>
        <pc:spChg chg="mod">
          <ac:chgData name="Mmathapelo Mongwe" userId="18731c1b-9e62-43ad-8744-4dad301ab871" providerId="ADAL" clId="{E28AF81F-42E2-4155-BE60-00F79056D2BB}" dt="2026-06-24T12:14:54.066" v="924" actId="1076"/>
          <ac:spMkLst>
            <pc:docMk/>
            <pc:sldMk cId="0" sldId="265"/>
            <ac:spMk id="2" creationId="{00000000-0000-0000-0000-000000000000}"/>
          </ac:spMkLst>
        </pc:spChg>
        <pc:spChg chg="mod">
          <ac:chgData name="Mmathapelo Mongwe" userId="18731c1b-9e62-43ad-8744-4dad301ab871" providerId="ADAL" clId="{E28AF81F-42E2-4155-BE60-00F79056D2BB}" dt="2026-06-24T12:14:59.844" v="925"/>
          <ac:spMkLst>
            <pc:docMk/>
            <pc:sldMk cId="0" sldId="265"/>
            <ac:spMk id="3" creationId="{00000000-0000-0000-0000-000000000000}"/>
          </ac:spMkLst>
        </pc:spChg>
        <pc:spChg chg="mod">
          <ac:chgData name="Mmathapelo Mongwe" userId="18731c1b-9e62-43ad-8744-4dad301ab871" providerId="ADAL" clId="{E28AF81F-42E2-4155-BE60-00F79056D2BB}" dt="2026-06-23T12:02:57.049" v="246" actId="1076"/>
          <ac:spMkLst>
            <pc:docMk/>
            <pc:sldMk cId="0" sldId="265"/>
            <ac:spMk id="5" creationId="{00000000-0000-0000-0000-000000000000}"/>
          </ac:spMkLst>
        </pc:spChg>
        <pc:graphicFrameChg chg="mod modGraphic">
          <ac:chgData name="Mmathapelo Mongwe" userId="18731c1b-9e62-43ad-8744-4dad301ab871" providerId="ADAL" clId="{E28AF81F-42E2-4155-BE60-00F79056D2BB}" dt="2026-06-23T12:04:20.421" v="256" actId="1076"/>
          <ac:graphicFrameMkLst>
            <pc:docMk/>
            <pc:sldMk cId="0" sldId="265"/>
            <ac:graphicFrameMk id="34" creationId="{F838EAC9-B67A-B7A1-D3A8-A0E3DD8715F4}"/>
          </ac:graphicFrameMkLst>
        </pc:graphicFrameChg>
      </pc:sldChg>
      <pc:sldChg chg="modSp mod">
        <pc:chgData name="Mmathapelo Mongwe" userId="18731c1b-9e62-43ad-8744-4dad301ab871" providerId="ADAL" clId="{E28AF81F-42E2-4155-BE60-00F79056D2BB}" dt="2026-06-24T12:14:44.178" v="922" actId="20577"/>
        <pc:sldMkLst>
          <pc:docMk/>
          <pc:sldMk cId="0" sldId="267"/>
        </pc:sldMkLst>
        <pc:spChg chg="mod">
          <ac:chgData name="Mmathapelo Mongwe" userId="18731c1b-9e62-43ad-8744-4dad301ab871" providerId="ADAL" clId="{E28AF81F-42E2-4155-BE60-00F79056D2BB}" dt="2026-06-23T11:31:32.218" v="27" actId="1076"/>
          <ac:spMkLst>
            <pc:docMk/>
            <pc:sldMk cId="0" sldId="267"/>
            <ac:spMk id="2" creationId="{00000000-0000-0000-0000-000000000000}"/>
          </ac:spMkLst>
        </pc:spChg>
        <pc:spChg chg="mod">
          <ac:chgData name="Mmathapelo Mongwe" userId="18731c1b-9e62-43ad-8744-4dad301ab871" providerId="ADAL" clId="{E28AF81F-42E2-4155-BE60-00F79056D2BB}" dt="2026-06-24T12:14:44.178" v="922" actId="20577"/>
          <ac:spMkLst>
            <pc:docMk/>
            <pc:sldMk cId="0" sldId="267"/>
            <ac:spMk id="3" creationId="{00000000-0000-0000-0000-000000000000}"/>
          </ac:spMkLst>
        </pc:spChg>
        <pc:spChg chg="mod">
          <ac:chgData name="Mmathapelo Mongwe" userId="18731c1b-9e62-43ad-8744-4dad301ab871" providerId="ADAL" clId="{E28AF81F-42E2-4155-BE60-00F79056D2BB}" dt="2026-06-23T11:45:39.720" v="147" actId="207"/>
          <ac:spMkLst>
            <pc:docMk/>
            <pc:sldMk cId="0" sldId="267"/>
            <ac:spMk id="6" creationId="{00000000-0000-0000-0000-000000000000}"/>
          </ac:spMkLst>
        </pc:spChg>
        <pc:spChg chg="mod">
          <ac:chgData name="Mmathapelo Mongwe" userId="18731c1b-9e62-43ad-8744-4dad301ab871" providerId="ADAL" clId="{E28AF81F-42E2-4155-BE60-00F79056D2BB}" dt="2026-06-24T07:21:00.281" v="327" actId="20577"/>
          <ac:spMkLst>
            <pc:docMk/>
            <pc:sldMk cId="0" sldId="267"/>
            <ac:spMk id="24" creationId="{30D6000A-DC91-670E-14CE-F94A16A391C2}"/>
          </ac:spMkLst>
        </pc:spChg>
      </pc:sldChg>
      <pc:sldChg chg="modSp mod">
        <pc:chgData name="Mmathapelo Mongwe" userId="18731c1b-9e62-43ad-8744-4dad301ab871" providerId="ADAL" clId="{E28AF81F-42E2-4155-BE60-00F79056D2BB}" dt="2026-06-23T11:44:52.118" v="138" actId="207"/>
        <pc:sldMkLst>
          <pc:docMk/>
          <pc:sldMk cId="0" sldId="268"/>
        </pc:sldMkLst>
        <pc:spChg chg="mod">
          <ac:chgData name="Mmathapelo Mongwe" userId="18731c1b-9e62-43ad-8744-4dad301ab871" providerId="ADAL" clId="{E28AF81F-42E2-4155-BE60-00F79056D2BB}" dt="2026-06-23T11:44:52.118" v="138" actId="207"/>
          <ac:spMkLst>
            <pc:docMk/>
            <pc:sldMk cId="0" sldId="268"/>
            <ac:spMk id="26" creationId="{CAB07026-6035-1649-B9F4-34D5E28C1358}"/>
          </ac:spMkLst>
        </pc:spChg>
        <pc:spChg chg="mod">
          <ac:chgData name="Mmathapelo Mongwe" userId="18731c1b-9e62-43ad-8744-4dad301ab871" providerId="ADAL" clId="{E28AF81F-42E2-4155-BE60-00F79056D2BB}" dt="2026-06-23T11:44:29.340" v="134" actId="207"/>
          <ac:spMkLst>
            <pc:docMk/>
            <pc:sldMk cId="0" sldId="268"/>
            <ac:spMk id="27" creationId="{8A92832C-0359-ADAC-D3D6-24952F5BCC8F}"/>
          </ac:spMkLst>
        </pc:spChg>
        <pc:spChg chg="mod">
          <ac:chgData name="Mmathapelo Mongwe" userId="18731c1b-9e62-43ad-8744-4dad301ab871" providerId="ADAL" clId="{E28AF81F-42E2-4155-BE60-00F79056D2BB}" dt="2026-06-23T11:44:45.555" v="137" actId="207"/>
          <ac:spMkLst>
            <pc:docMk/>
            <pc:sldMk cId="0" sldId="268"/>
            <ac:spMk id="31" creationId="{9A96CEDD-2588-D9A5-7713-A7AEB6EFC87C}"/>
          </ac:spMkLst>
        </pc:spChg>
        <pc:spChg chg="mod">
          <ac:chgData name="Mmathapelo Mongwe" userId="18731c1b-9e62-43ad-8744-4dad301ab871" providerId="ADAL" clId="{E28AF81F-42E2-4155-BE60-00F79056D2BB}" dt="2026-06-23T11:44:37.743" v="136" actId="207"/>
          <ac:spMkLst>
            <pc:docMk/>
            <pc:sldMk cId="0" sldId="268"/>
            <ac:spMk id="32" creationId="{487AF248-2FF1-7919-D95B-6FCA8C9D4CC4}"/>
          </ac:spMkLst>
        </pc:spChg>
      </pc:sldChg>
      <pc:sldChg chg="modSp mod">
        <pc:chgData name="Mmathapelo Mongwe" userId="18731c1b-9e62-43ad-8744-4dad301ab871" providerId="ADAL" clId="{E28AF81F-42E2-4155-BE60-00F79056D2BB}" dt="2026-06-23T11:37:50.987" v="86" actId="122"/>
        <pc:sldMkLst>
          <pc:docMk/>
          <pc:sldMk cId="0" sldId="269"/>
        </pc:sldMkLst>
        <pc:graphicFrameChg chg="mod modGraphic">
          <ac:chgData name="Mmathapelo Mongwe" userId="18731c1b-9e62-43ad-8744-4dad301ab871" providerId="ADAL" clId="{E28AF81F-42E2-4155-BE60-00F79056D2BB}" dt="2026-06-23T11:37:50.987" v="86" actId="122"/>
          <ac:graphicFrameMkLst>
            <pc:docMk/>
            <pc:sldMk cId="0" sldId="269"/>
            <ac:graphicFrameMk id="33" creationId="{B8AD4E0E-E0B2-95A1-F540-01576E3292C7}"/>
          </ac:graphicFrameMkLst>
        </pc:graphicFrameChg>
      </pc:sldChg>
      <pc:sldChg chg="modSp mod">
        <pc:chgData name="Mmathapelo Mongwe" userId="18731c1b-9e62-43ad-8744-4dad301ab871" providerId="ADAL" clId="{E28AF81F-42E2-4155-BE60-00F79056D2BB}" dt="2026-06-23T11:32:45.404" v="44" actId="1076"/>
        <pc:sldMkLst>
          <pc:docMk/>
          <pc:sldMk cId="0" sldId="270"/>
        </pc:sldMkLst>
        <pc:picChg chg="mod">
          <ac:chgData name="Mmathapelo Mongwe" userId="18731c1b-9e62-43ad-8744-4dad301ab871" providerId="ADAL" clId="{E28AF81F-42E2-4155-BE60-00F79056D2BB}" dt="2026-06-23T11:32:42.954" v="43" actId="1076"/>
          <ac:picMkLst>
            <pc:docMk/>
            <pc:sldMk cId="0" sldId="270"/>
            <ac:picMk id="24" creationId="{F29E3891-5507-DD06-DC2E-C0E4A587B6C3}"/>
          </ac:picMkLst>
        </pc:picChg>
        <pc:picChg chg="mod">
          <ac:chgData name="Mmathapelo Mongwe" userId="18731c1b-9e62-43ad-8744-4dad301ab871" providerId="ADAL" clId="{E28AF81F-42E2-4155-BE60-00F79056D2BB}" dt="2026-06-23T11:32:45.404" v="44" actId="1076"/>
          <ac:picMkLst>
            <pc:docMk/>
            <pc:sldMk cId="0" sldId="270"/>
            <ac:picMk id="25" creationId="{55ED8694-C301-B342-8C45-B3F2717ECCAC}"/>
          </ac:picMkLst>
        </pc:picChg>
      </pc:sldChg>
      <pc:sldChg chg="modSp mod">
        <pc:chgData name="Mmathapelo Mongwe" userId="18731c1b-9e62-43ad-8744-4dad301ab871" providerId="ADAL" clId="{E28AF81F-42E2-4155-BE60-00F79056D2BB}" dt="2026-06-24T07:37:24.537" v="421" actId="313"/>
        <pc:sldMkLst>
          <pc:docMk/>
          <pc:sldMk cId="0" sldId="271"/>
        </pc:sldMkLst>
        <pc:spChg chg="mod">
          <ac:chgData name="Mmathapelo Mongwe" userId="18731c1b-9e62-43ad-8744-4dad301ab871" providerId="ADAL" clId="{E28AF81F-42E2-4155-BE60-00F79056D2BB}" dt="2026-06-24T07:37:24.537" v="421" actId="313"/>
          <ac:spMkLst>
            <pc:docMk/>
            <pc:sldMk cId="0" sldId="271"/>
            <ac:spMk id="2" creationId="{00000000-0000-0000-0000-000000000000}"/>
          </ac:spMkLst>
        </pc:spChg>
      </pc:sldChg>
      <pc:sldChg chg="modSp mod">
        <pc:chgData name="Mmathapelo Mongwe" userId="18731c1b-9e62-43ad-8744-4dad301ab871" providerId="ADAL" clId="{E28AF81F-42E2-4155-BE60-00F79056D2BB}" dt="2026-06-24T07:30:11.737" v="352" actId="2710"/>
        <pc:sldMkLst>
          <pc:docMk/>
          <pc:sldMk cId="980326144" sldId="279"/>
        </pc:sldMkLst>
        <pc:spChg chg="mod">
          <ac:chgData name="Mmathapelo Mongwe" userId="18731c1b-9e62-43ad-8744-4dad301ab871" providerId="ADAL" clId="{E28AF81F-42E2-4155-BE60-00F79056D2BB}" dt="2026-06-24T07:19:34.132" v="312" actId="14100"/>
          <ac:spMkLst>
            <pc:docMk/>
            <pc:sldMk cId="980326144" sldId="279"/>
            <ac:spMk id="13" creationId="{B8A1055E-FF27-EA65-73EC-CD91C5075313}"/>
          </ac:spMkLst>
        </pc:spChg>
        <pc:spChg chg="mod">
          <ac:chgData name="Mmathapelo Mongwe" userId="18731c1b-9e62-43ad-8744-4dad301ab871" providerId="ADAL" clId="{E28AF81F-42E2-4155-BE60-00F79056D2BB}" dt="2026-06-24T07:19:37.583" v="313" actId="14100"/>
          <ac:spMkLst>
            <pc:docMk/>
            <pc:sldMk cId="980326144" sldId="279"/>
            <ac:spMk id="14" creationId="{129B1985-2BB6-BF99-A53B-CE06C93B8955}"/>
          </ac:spMkLst>
        </pc:spChg>
        <pc:spChg chg="mod">
          <ac:chgData name="Mmathapelo Mongwe" userId="18731c1b-9e62-43ad-8744-4dad301ab871" providerId="ADAL" clId="{E28AF81F-42E2-4155-BE60-00F79056D2BB}" dt="2026-06-24T07:23:58.362" v="329"/>
          <ac:spMkLst>
            <pc:docMk/>
            <pc:sldMk cId="980326144" sldId="279"/>
            <ac:spMk id="16" creationId="{5047F8FB-79D6-C86C-6E1F-EFA772EE2BBB}"/>
          </ac:spMkLst>
        </pc:spChg>
        <pc:spChg chg="mod">
          <ac:chgData name="Mmathapelo Mongwe" userId="18731c1b-9e62-43ad-8744-4dad301ab871" providerId="ADAL" clId="{E28AF81F-42E2-4155-BE60-00F79056D2BB}" dt="2026-06-24T07:28:17.473" v="343" actId="14100"/>
          <ac:spMkLst>
            <pc:docMk/>
            <pc:sldMk cId="980326144" sldId="279"/>
            <ac:spMk id="17" creationId="{5C12AC37-74DC-C53B-19A5-76F5674F979E}"/>
          </ac:spMkLst>
        </pc:spChg>
        <pc:spChg chg="mod">
          <ac:chgData name="Mmathapelo Mongwe" userId="18731c1b-9e62-43ad-8744-4dad301ab871" providerId="ADAL" clId="{E28AF81F-42E2-4155-BE60-00F79056D2BB}" dt="2026-06-24T07:19:16.137" v="307" actId="1076"/>
          <ac:spMkLst>
            <pc:docMk/>
            <pc:sldMk cId="980326144" sldId="279"/>
            <ac:spMk id="18" creationId="{A3C47D10-B39C-BAB8-8800-D2A3EDA9D572}"/>
          </ac:spMkLst>
        </pc:spChg>
        <pc:spChg chg="mod">
          <ac:chgData name="Mmathapelo Mongwe" userId="18731c1b-9e62-43ad-8744-4dad301ab871" providerId="ADAL" clId="{E28AF81F-42E2-4155-BE60-00F79056D2BB}" dt="2026-06-24T07:19:24.462" v="309" actId="1076"/>
          <ac:spMkLst>
            <pc:docMk/>
            <pc:sldMk cId="980326144" sldId="279"/>
            <ac:spMk id="19" creationId="{7ED160EF-835B-4675-8D79-74756214CAAC}"/>
          </ac:spMkLst>
        </pc:spChg>
        <pc:spChg chg="mod">
          <ac:chgData name="Mmathapelo Mongwe" userId="18731c1b-9e62-43ad-8744-4dad301ab871" providerId="ADAL" clId="{E28AF81F-42E2-4155-BE60-00F79056D2BB}" dt="2026-06-24T07:24:32.244" v="331"/>
          <ac:spMkLst>
            <pc:docMk/>
            <pc:sldMk cId="980326144" sldId="279"/>
            <ac:spMk id="21" creationId="{40D13CFE-B22B-ED4A-B398-BA4D972D7877}"/>
          </ac:spMkLst>
        </pc:spChg>
        <pc:spChg chg="mod">
          <ac:chgData name="Mmathapelo Mongwe" userId="18731c1b-9e62-43ad-8744-4dad301ab871" providerId="ADAL" clId="{E28AF81F-42E2-4155-BE60-00F79056D2BB}" dt="2026-06-24T07:29:08.774" v="345" actId="1076"/>
          <ac:spMkLst>
            <pc:docMk/>
            <pc:sldMk cId="980326144" sldId="279"/>
            <ac:spMk id="22" creationId="{E2F9FE48-8A21-1426-A8A5-B493173B4380}"/>
          </ac:spMkLst>
        </pc:spChg>
        <pc:spChg chg="mod">
          <ac:chgData name="Mmathapelo Mongwe" userId="18731c1b-9e62-43ad-8744-4dad301ab871" providerId="ADAL" clId="{E28AF81F-42E2-4155-BE60-00F79056D2BB}" dt="2026-06-24T07:19:00.786" v="302" actId="1076"/>
          <ac:spMkLst>
            <pc:docMk/>
            <pc:sldMk cId="980326144" sldId="279"/>
            <ac:spMk id="23" creationId="{6D4BD52F-5556-5921-CD99-1F69EF463372}"/>
          </ac:spMkLst>
        </pc:spChg>
        <pc:spChg chg="mod">
          <ac:chgData name="Mmathapelo Mongwe" userId="18731c1b-9e62-43ad-8744-4dad301ab871" providerId="ADAL" clId="{E28AF81F-42E2-4155-BE60-00F79056D2BB}" dt="2026-06-24T07:19:08.362" v="305" actId="1076"/>
          <ac:spMkLst>
            <pc:docMk/>
            <pc:sldMk cId="980326144" sldId="279"/>
            <ac:spMk id="24" creationId="{459DF6EF-4C48-5A25-FD90-2B27857911C7}"/>
          </ac:spMkLst>
        </pc:spChg>
        <pc:spChg chg="mod">
          <ac:chgData name="Mmathapelo Mongwe" userId="18731c1b-9e62-43ad-8744-4dad301ab871" providerId="ADAL" clId="{E28AF81F-42E2-4155-BE60-00F79056D2BB}" dt="2026-06-24T07:19:10.970" v="306" actId="1076"/>
          <ac:spMkLst>
            <pc:docMk/>
            <pc:sldMk cId="980326144" sldId="279"/>
            <ac:spMk id="26" creationId="{6043413F-481A-B319-9A11-59EB7A6357A7}"/>
          </ac:spMkLst>
        </pc:spChg>
        <pc:spChg chg="mod">
          <ac:chgData name="Mmathapelo Mongwe" userId="18731c1b-9e62-43ad-8744-4dad301ab871" providerId="ADAL" clId="{E28AF81F-42E2-4155-BE60-00F79056D2BB}" dt="2026-06-24T07:30:11.737" v="352" actId="2710"/>
          <ac:spMkLst>
            <pc:docMk/>
            <pc:sldMk cId="980326144" sldId="279"/>
            <ac:spMk id="27" creationId="{49D00168-A493-57C9-9BA6-8208C26A343B}"/>
          </ac:spMkLst>
        </pc:spChg>
      </pc:sldChg>
      <pc:sldChg chg="modSp mod">
        <pc:chgData name="Mmathapelo Mongwe" userId="18731c1b-9e62-43ad-8744-4dad301ab871" providerId="ADAL" clId="{E28AF81F-42E2-4155-BE60-00F79056D2BB}" dt="2026-06-23T12:07:56.781" v="274" actId="14100"/>
        <pc:sldMkLst>
          <pc:docMk/>
          <pc:sldMk cId="4269914898" sldId="282"/>
        </pc:sldMkLst>
        <pc:spChg chg="mod">
          <ac:chgData name="Mmathapelo Mongwe" userId="18731c1b-9e62-43ad-8744-4dad301ab871" providerId="ADAL" clId="{E28AF81F-42E2-4155-BE60-00F79056D2BB}" dt="2026-06-23T12:07:53.098" v="273" actId="14100"/>
          <ac:spMkLst>
            <pc:docMk/>
            <pc:sldMk cId="4269914898" sldId="282"/>
            <ac:spMk id="4" creationId="{4141C86F-B4A9-603B-EE27-AE58F31D5B79}"/>
          </ac:spMkLst>
        </pc:spChg>
        <pc:spChg chg="mod">
          <ac:chgData name="Mmathapelo Mongwe" userId="18731c1b-9e62-43ad-8744-4dad301ab871" providerId="ADAL" clId="{E28AF81F-42E2-4155-BE60-00F79056D2BB}" dt="2026-06-23T12:07:56.781" v="274" actId="14100"/>
          <ac:spMkLst>
            <pc:docMk/>
            <pc:sldMk cId="4269914898" sldId="282"/>
            <ac:spMk id="18" creationId="{4294047C-4BFA-76D3-723E-524FB04776C4}"/>
          </ac:spMkLst>
        </pc:spChg>
      </pc:sldChg>
      <pc:sldChg chg="modSp mod">
        <pc:chgData name="Mmathapelo Mongwe" userId="18731c1b-9e62-43ad-8744-4dad301ab871" providerId="ADAL" clId="{E28AF81F-42E2-4155-BE60-00F79056D2BB}" dt="2026-06-23T11:44:11.584" v="132" actId="1076"/>
        <pc:sldMkLst>
          <pc:docMk/>
          <pc:sldMk cId="2116708621" sldId="284"/>
        </pc:sldMkLst>
        <pc:spChg chg="mod">
          <ac:chgData name="Mmathapelo Mongwe" userId="18731c1b-9e62-43ad-8744-4dad301ab871" providerId="ADAL" clId="{E28AF81F-42E2-4155-BE60-00F79056D2BB}" dt="2026-06-23T11:44:03.911" v="129" actId="207"/>
          <ac:spMkLst>
            <pc:docMk/>
            <pc:sldMk cId="2116708621" sldId="284"/>
            <ac:spMk id="4" creationId="{3BA5E232-0371-1430-A9DE-674ED7CD90D5}"/>
          </ac:spMkLst>
        </pc:spChg>
        <pc:spChg chg="mod">
          <ac:chgData name="Mmathapelo Mongwe" userId="18731c1b-9e62-43ad-8744-4dad301ab871" providerId="ADAL" clId="{E28AF81F-42E2-4155-BE60-00F79056D2BB}" dt="2026-06-23T11:44:10.899" v="131" actId="207"/>
          <ac:spMkLst>
            <pc:docMk/>
            <pc:sldMk cId="2116708621" sldId="284"/>
            <ac:spMk id="6" creationId="{8920AF6B-893D-1071-A823-58C8ACF5D859}"/>
          </ac:spMkLst>
        </pc:spChg>
        <pc:spChg chg="mod">
          <ac:chgData name="Mmathapelo Mongwe" userId="18731c1b-9e62-43ad-8744-4dad301ab871" providerId="ADAL" clId="{E28AF81F-42E2-4155-BE60-00F79056D2BB}" dt="2026-06-23T11:44:11.584" v="132" actId="1076"/>
          <ac:spMkLst>
            <pc:docMk/>
            <pc:sldMk cId="2116708621" sldId="284"/>
            <ac:spMk id="18" creationId="{59864CF9-DC25-A2ED-6C62-F5C806FA1834}"/>
          </ac:spMkLst>
        </pc:spChg>
      </pc:sldChg>
      <pc:sldChg chg="modSp mod">
        <pc:chgData name="Mmathapelo Mongwe" userId="18731c1b-9e62-43ad-8744-4dad301ab871" providerId="ADAL" clId="{E28AF81F-42E2-4155-BE60-00F79056D2BB}" dt="2026-06-23T11:38:33.596" v="93" actId="20577"/>
        <pc:sldMkLst>
          <pc:docMk/>
          <pc:sldMk cId="3228443735" sldId="286"/>
        </pc:sldMkLst>
        <pc:spChg chg="mod">
          <ac:chgData name="Mmathapelo Mongwe" userId="18731c1b-9e62-43ad-8744-4dad301ab871" providerId="ADAL" clId="{E28AF81F-42E2-4155-BE60-00F79056D2BB}" dt="2026-06-23T11:38:33.596" v="93" actId="20577"/>
          <ac:spMkLst>
            <pc:docMk/>
            <pc:sldMk cId="3228443735" sldId="286"/>
            <ac:spMk id="4" creationId="{84E013EB-60A2-BFCC-E873-2E47E02CB714}"/>
          </ac:spMkLst>
        </pc:spChg>
      </pc:sldChg>
      <pc:sldChg chg="modSp mod">
        <pc:chgData name="Mmathapelo Mongwe" userId="18731c1b-9e62-43ad-8744-4dad301ab871" providerId="ADAL" clId="{E28AF81F-42E2-4155-BE60-00F79056D2BB}" dt="2026-06-23T11:38:50.567" v="95" actId="120"/>
        <pc:sldMkLst>
          <pc:docMk/>
          <pc:sldMk cId="2134757628" sldId="287"/>
        </pc:sldMkLst>
        <pc:spChg chg="mod">
          <ac:chgData name="Mmathapelo Mongwe" userId="18731c1b-9e62-43ad-8744-4dad301ab871" providerId="ADAL" clId="{E28AF81F-42E2-4155-BE60-00F79056D2BB}" dt="2026-06-23T11:38:50.567" v="95" actId="120"/>
          <ac:spMkLst>
            <pc:docMk/>
            <pc:sldMk cId="2134757628" sldId="287"/>
            <ac:spMk id="15" creationId="{41A63950-E42C-0B6A-A1F2-024713A74D61}"/>
          </ac:spMkLst>
        </pc:spChg>
      </pc:sldChg>
      <pc:sldChg chg="modSp mod">
        <pc:chgData name="Mmathapelo Mongwe" userId="18731c1b-9e62-43ad-8744-4dad301ab871" providerId="ADAL" clId="{E28AF81F-42E2-4155-BE60-00F79056D2BB}" dt="2026-06-24T07:33:51.397" v="353" actId="255"/>
        <pc:sldMkLst>
          <pc:docMk/>
          <pc:sldMk cId="1557720094" sldId="288"/>
        </pc:sldMkLst>
        <pc:graphicFrameChg chg="mod modGraphic">
          <ac:chgData name="Mmathapelo Mongwe" userId="18731c1b-9e62-43ad-8744-4dad301ab871" providerId="ADAL" clId="{E28AF81F-42E2-4155-BE60-00F79056D2BB}" dt="2026-06-24T07:33:51.397" v="353" actId="255"/>
          <ac:graphicFrameMkLst>
            <pc:docMk/>
            <pc:sldMk cId="1557720094" sldId="288"/>
            <ac:graphicFrameMk id="6" creationId="{E56DB06C-A077-3029-189B-1EF9027FDF05}"/>
          </ac:graphicFrameMkLst>
        </pc:graphicFrameChg>
      </pc:sldChg>
      <pc:sldChg chg="modSp del mod">
        <pc:chgData name="Mmathapelo Mongwe" userId="18731c1b-9e62-43ad-8744-4dad301ab871" providerId="ADAL" clId="{E28AF81F-42E2-4155-BE60-00F79056D2BB}" dt="2026-06-24T11:52:11.956" v="667" actId="2696"/>
        <pc:sldMkLst>
          <pc:docMk/>
          <pc:sldMk cId="700876951" sldId="289"/>
        </pc:sldMkLst>
        <pc:spChg chg="mod">
          <ac:chgData name="Mmathapelo Mongwe" userId="18731c1b-9e62-43ad-8744-4dad301ab871" providerId="ADAL" clId="{E28AF81F-42E2-4155-BE60-00F79056D2BB}" dt="2026-06-24T07:42:56.483" v="435" actId="1076"/>
          <ac:spMkLst>
            <pc:docMk/>
            <pc:sldMk cId="700876951" sldId="289"/>
            <ac:spMk id="2" creationId="{480AA77D-7989-F7D5-9A0E-3219DD8E100A}"/>
          </ac:spMkLst>
        </pc:spChg>
        <pc:spChg chg="mod">
          <ac:chgData name="Mmathapelo Mongwe" userId="18731c1b-9e62-43ad-8744-4dad301ab871" providerId="ADAL" clId="{E28AF81F-42E2-4155-BE60-00F79056D2BB}" dt="2026-06-24T07:41:01.381" v="428"/>
          <ac:spMkLst>
            <pc:docMk/>
            <pc:sldMk cId="700876951" sldId="289"/>
            <ac:spMk id="3" creationId="{D1491CEA-7B06-5E77-2E43-10A0F5A3B93F}"/>
          </ac:spMkLst>
        </pc:spChg>
        <pc:spChg chg="mod">
          <ac:chgData name="Mmathapelo Mongwe" userId="18731c1b-9e62-43ad-8744-4dad301ab871" providerId="ADAL" clId="{E28AF81F-42E2-4155-BE60-00F79056D2BB}" dt="2026-06-24T07:41:58.954" v="431" actId="113"/>
          <ac:spMkLst>
            <pc:docMk/>
            <pc:sldMk cId="700876951" sldId="289"/>
            <ac:spMk id="4" creationId="{695E776A-1F67-7B56-986B-8E1113FA0476}"/>
          </ac:spMkLst>
        </pc:spChg>
      </pc:sldChg>
      <pc:sldChg chg="modSp mod">
        <pc:chgData name="Mmathapelo Mongwe" userId="18731c1b-9e62-43ad-8744-4dad301ab871" providerId="ADAL" clId="{E28AF81F-42E2-4155-BE60-00F79056D2BB}" dt="2026-06-24T07:37:38.090" v="422"/>
        <pc:sldMkLst>
          <pc:docMk/>
          <pc:sldMk cId="2362449390" sldId="290"/>
        </pc:sldMkLst>
        <pc:spChg chg="mod">
          <ac:chgData name="Mmathapelo Mongwe" userId="18731c1b-9e62-43ad-8744-4dad301ab871" providerId="ADAL" clId="{E28AF81F-42E2-4155-BE60-00F79056D2BB}" dt="2026-06-24T07:37:38.090" v="422"/>
          <ac:spMkLst>
            <pc:docMk/>
            <pc:sldMk cId="2362449390" sldId="290"/>
            <ac:spMk id="2" creationId="{3D2D350B-F83F-D949-0E00-1D520EAB591A}"/>
          </ac:spMkLst>
        </pc:spChg>
      </pc:sldChg>
      <pc:sldChg chg="modSp del mod">
        <pc:chgData name="Mmathapelo Mongwe" userId="18731c1b-9e62-43ad-8744-4dad301ab871" providerId="ADAL" clId="{E28AF81F-42E2-4155-BE60-00F79056D2BB}" dt="2026-06-24T11:52:16.634" v="668" actId="2696"/>
        <pc:sldMkLst>
          <pc:docMk/>
          <pc:sldMk cId="3697054862" sldId="292"/>
        </pc:sldMkLst>
        <pc:spChg chg="mod">
          <ac:chgData name="Mmathapelo Mongwe" userId="18731c1b-9e62-43ad-8744-4dad301ab871" providerId="ADAL" clId="{E28AF81F-42E2-4155-BE60-00F79056D2BB}" dt="2026-06-23T11:47:40.544" v="175" actId="113"/>
          <ac:spMkLst>
            <pc:docMk/>
            <pc:sldMk cId="3697054862" sldId="292"/>
            <ac:spMk id="6" creationId="{ABC11CE1-1876-AD45-0FD7-E7970CEFC9E5}"/>
          </ac:spMkLst>
        </pc:spChg>
      </pc:sldChg>
      <pc:sldChg chg="modSp del mod">
        <pc:chgData name="Mmathapelo Mongwe" userId="18731c1b-9e62-43ad-8744-4dad301ab871" providerId="ADAL" clId="{E28AF81F-42E2-4155-BE60-00F79056D2BB}" dt="2026-06-24T11:52:19.794" v="669" actId="2696"/>
        <pc:sldMkLst>
          <pc:docMk/>
          <pc:sldMk cId="3688396566" sldId="293"/>
        </pc:sldMkLst>
        <pc:spChg chg="mod">
          <ac:chgData name="Mmathapelo Mongwe" userId="18731c1b-9e62-43ad-8744-4dad301ab871" providerId="ADAL" clId="{E28AF81F-42E2-4155-BE60-00F79056D2BB}" dt="2026-06-23T11:49:01.928" v="197" actId="20577"/>
          <ac:spMkLst>
            <pc:docMk/>
            <pc:sldMk cId="3688396566" sldId="293"/>
            <ac:spMk id="4" creationId="{A44F0AD7-A736-9191-6013-194E26890C2E}"/>
          </ac:spMkLst>
        </pc:spChg>
      </pc:sldChg>
      <pc:sldChg chg="modSp mod">
        <pc:chgData name="Mmathapelo Mongwe" userId="18731c1b-9e62-43ad-8744-4dad301ab871" providerId="ADAL" clId="{E28AF81F-42E2-4155-BE60-00F79056D2BB}" dt="2026-06-23T11:40:09.296" v="103" actId="255"/>
        <pc:sldMkLst>
          <pc:docMk/>
          <pc:sldMk cId="1623382139" sldId="294"/>
        </pc:sldMkLst>
        <pc:spChg chg="mod">
          <ac:chgData name="Mmathapelo Mongwe" userId="18731c1b-9e62-43ad-8744-4dad301ab871" providerId="ADAL" clId="{E28AF81F-42E2-4155-BE60-00F79056D2BB}" dt="2026-06-23T11:40:09.296" v="103" actId="255"/>
          <ac:spMkLst>
            <pc:docMk/>
            <pc:sldMk cId="1623382139" sldId="294"/>
            <ac:spMk id="15" creationId="{876B248A-3A61-5C1C-0B63-2CE3D9EB0422}"/>
          </ac:spMkLst>
        </pc:spChg>
      </pc:sldChg>
      <pc:sldChg chg="modSp mod">
        <pc:chgData name="Mmathapelo Mongwe" userId="18731c1b-9e62-43ad-8744-4dad301ab871" providerId="ADAL" clId="{E28AF81F-42E2-4155-BE60-00F79056D2BB}" dt="2026-06-24T11:54:28.521" v="684" actId="20577"/>
        <pc:sldMkLst>
          <pc:docMk/>
          <pc:sldMk cId="1124725980" sldId="295"/>
        </pc:sldMkLst>
        <pc:spChg chg="mod">
          <ac:chgData name="Mmathapelo Mongwe" userId="18731c1b-9e62-43ad-8744-4dad301ab871" providerId="ADAL" clId="{E28AF81F-42E2-4155-BE60-00F79056D2BB}" dt="2026-06-24T11:54:28.521" v="684" actId="20577"/>
          <ac:spMkLst>
            <pc:docMk/>
            <pc:sldMk cId="1124725980" sldId="295"/>
            <ac:spMk id="8" creationId="{7A06EFD0-52AA-7272-7267-8098A33651D3}"/>
          </ac:spMkLst>
        </pc:spChg>
        <pc:spChg chg="mod">
          <ac:chgData name="Mmathapelo Mongwe" userId="18731c1b-9e62-43ad-8744-4dad301ab871" providerId="ADAL" clId="{E28AF81F-42E2-4155-BE60-00F79056D2BB}" dt="2026-06-24T11:53:34.886" v="674" actId="1076"/>
          <ac:spMkLst>
            <pc:docMk/>
            <pc:sldMk cId="1124725980" sldId="295"/>
            <ac:spMk id="18" creationId="{A0D86021-4C76-BB24-84DC-BBDF54D1DFA9}"/>
          </ac:spMkLst>
        </pc:spChg>
      </pc:sldChg>
      <pc:sldChg chg="addSp delSp modSp mod">
        <pc:chgData name="Mmathapelo Mongwe" userId="18731c1b-9e62-43ad-8744-4dad301ab871" providerId="ADAL" clId="{E28AF81F-42E2-4155-BE60-00F79056D2BB}" dt="2026-06-24T12:11:54.080" v="901" actId="20577"/>
        <pc:sldMkLst>
          <pc:docMk/>
          <pc:sldMk cId="919434463" sldId="298"/>
        </pc:sldMkLst>
        <pc:spChg chg="mod">
          <ac:chgData name="Mmathapelo Mongwe" userId="18731c1b-9e62-43ad-8744-4dad301ab871" providerId="ADAL" clId="{E28AF81F-42E2-4155-BE60-00F79056D2BB}" dt="2026-06-24T12:02:43.012" v="764" actId="1076"/>
          <ac:spMkLst>
            <pc:docMk/>
            <pc:sldMk cId="919434463" sldId="298"/>
            <ac:spMk id="2" creationId="{18DEE33E-49CA-7B6A-070B-2C3266CEFED6}"/>
          </ac:spMkLst>
        </pc:spChg>
        <pc:spChg chg="mod">
          <ac:chgData name="Mmathapelo Mongwe" userId="18731c1b-9e62-43ad-8744-4dad301ab871" providerId="ADAL" clId="{E28AF81F-42E2-4155-BE60-00F79056D2BB}" dt="2026-06-24T12:00:18.513" v="759" actId="20577"/>
          <ac:spMkLst>
            <pc:docMk/>
            <pc:sldMk cId="919434463" sldId="298"/>
            <ac:spMk id="3" creationId="{0640A4F7-482B-528D-9E48-9172B0E6EC14}"/>
          </ac:spMkLst>
        </pc:spChg>
        <pc:spChg chg="add mod">
          <ac:chgData name="Mmathapelo Mongwe" userId="18731c1b-9e62-43ad-8744-4dad301ab871" providerId="ADAL" clId="{E28AF81F-42E2-4155-BE60-00F79056D2BB}" dt="2026-06-24T12:11:54.080" v="901" actId="20577"/>
          <ac:spMkLst>
            <pc:docMk/>
            <pc:sldMk cId="919434463" sldId="298"/>
            <ac:spMk id="7" creationId="{DB2DCFD2-4428-19BE-E173-4C00B4F1B171}"/>
          </ac:spMkLst>
        </pc:spChg>
        <pc:spChg chg="add mod">
          <ac:chgData name="Mmathapelo Mongwe" userId="18731c1b-9e62-43ad-8744-4dad301ab871" providerId="ADAL" clId="{E28AF81F-42E2-4155-BE60-00F79056D2BB}" dt="2026-06-24T12:09:01.384" v="876" actId="1076"/>
          <ac:spMkLst>
            <pc:docMk/>
            <pc:sldMk cId="919434463" sldId="298"/>
            <ac:spMk id="8" creationId="{505B3FF6-9E69-68F3-441F-CA360D5E7010}"/>
          </ac:spMkLst>
        </pc:spChg>
        <pc:spChg chg="add mod">
          <ac:chgData name="Mmathapelo Mongwe" userId="18731c1b-9e62-43ad-8744-4dad301ab871" providerId="ADAL" clId="{E28AF81F-42E2-4155-BE60-00F79056D2BB}" dt="2026-06-24T12:04:19.555" v="831" actId="1076"/>
          <ac:spMkLst>
            <pc:docMk/>
            <pc:sldMk cId="919434463" sldId="298"/>
            <ac:spMk id="9" creationId="{3E81300B-370A-0B83-F9DB-EF8CBC516DA8}"/>
          </ac:spMkLst>
        </pc:spChg>
        <pc:spChg chg="add mod">
          <ac:chgData name="Mmathapelo Mongwe" userId="18731c1b-9e62-43ad-8744-4dad301ab871" providerId="ADAL" clId="{E28AF81F-42E2-4155-BE60-00F79056D2BB}" dt="2026-06-24T12:08:57.995" v="875" actId="1076"/>
          <ac:spMkLst>
            <pc:docMk/>
            <pc:sldMk cId="919434463" sldId="298"/>
            <ac:spMk id="10" creationId="{57D7A375-A84A-961C-CA16-3E265D08CE23}"/>
          </ac:spMkLst>
        </pc:spChg>
        <pc:spChg chg="add mod">
          <ac:chgData name="Mmathapelo Mongwe" userId="18731c1b-9e62-43ad-8744-4dad301ab871" providerId="ADAL" clId="{E28AF81F-42E2-4155-BE60-00F79056D2BB}" dt="2026-06-24T12:04:51.461" v="837" actId="1076"/>
          <ac:spMkLst>
            <pc:docMk/>
            <pc:sldMk cId="919434463" sldId="298"/>
            <ac:spMk id="11" creationId="{86FEDA07-65AB-F491-8337-243284B72627}"/>
          </ac:spMkLst>
        </pc:spChg>
        <pc:spChg chg="add mod">
          <ac:chgData name="Mmathapelo Mongwe" userId="18731c1b-9e62-43ad-8744-4dad301ab871" providerId="ADAL" clId="{E28AF81F-42E2-4155-BE60-00F79056D2BB}" dt="2026-06-24T12:07:12.201" v="862"/>
          <ac:spMkLst>
            <pc:docMk/>
            <pc:sldMk cId="919434463" sldId="298"/>
            <ac:spMk id="12" creationId="{B631BD45-7192-CF5C-8191-79BCFD32EC92}"/>
          </ac:spMkLst>
        </pc:spChg>
        <pc:spChg chg="add mod">
          <ac:chgData name="Mmathapelo Mongwe" userId="18731c1b-9e62-43ad-8744-4dad301ab871" providerId="ADAL" clId="{E28AF81F-42E2-4155-BE60-00F79056D2BB}" dt="2026-06-24T12:05:00.844" v="839" actId="1076"/>
          <ac:spMkLst>
            <pc:docMk/>
            <pc:sldMk cId="919434463" sldId="298"/>
            <ac:spMk id="13" creationId="{EA8ACC77-3512-7B63-4DEC-AA6AEB51109B}"/>
          </ac:spMkLst>
        </pc:spChg>
        <pc:spChg chg="add mod">
          <ac:chgData name="Mmathapelo Mongwe" userId="18731c1b-9e62-43ad-8744-4dad301ab871" providerId="ADAL" clId="{E28AF81F-42E2-4155-BE60-00F79056D2BB}" dt="2026-06-24T12:07:32.816" v="866" actId="255"/>
          <ac:spMkLst>
            <pc:docMk/>
            <pc:sldMk cId="919434463" sldId="298"/>
            <ac:spMk id="14" creationId="{07D06B86-94A4-C528-8BE7-2B8E2790AA93}"/>
          </ac:spMkLst>
        </pc:spChg>
        <pc:spChg chg="add mod">
          <ac:chgData name="Mmathapelo Mongwe" userId="18731c1b-9e62-43ad-8744-4dad301ab871" providerId="ADAL" clId="{E28AF81F-42E2-4155-BE60-00F79056D2BB}" dt="2026-06-24T12:05:07.606" v="841" actId="1076"/>
          <ac:spMkLst>
            <pc:docMk/>
            <pc:sldMk cId="919434463" sldId="298"/>
            <ac:spMk id="15" creationId="{28253B3B-7070-5C64-D492-A307C5414C1A}"/>
          </ac:spMkLst>
        </pc:spChg>
        <pc:graphicFrameChg chg="del mod modGraphic">
          <ac:chgData name="Mmathapelo Mongwe" userId="18731c1b-9e62-43ad-8744-4dad301ab871" providerId="ADAL" clId="{E28AF81F-42E2-4155-BE60-00F79056D2BB}" dt="2026-06-24T12:08:22.427" v="871" actId="478"/>
          <ac:graphicFrameMkLst>
            <pc:docMk/>
            <pc:sldMk cId="919434463" sldId="298"/>
            <ac:graphicFrameMk id="4" creationId="{CA1C6AE9-8E65-6E9E-47E0-ED1476713F5B}"/>
          </ac:graphicFrameMkLst>
        </pc:graphicFrameChg>
      </pc:sldChg>
      <pc:sldChg chg="modSp mod">
        <pc:chgData name="Mmathapelo Mongwe" userId="18731c1b-9e62-43ad-8744-4dad301ab871" providerId="ADAL" clId="{E28AF81F-42E2-4155-BE60-00F79056D2BB}" dt="2026-06-23T11:41:50.896" v="112" actId="20577"/>
        <pc:sldMkLst>
          <pc:docMk/>
          <pc:sldMk cId="1687147526" sldId="299"/>
        </pc:sldMkLst>
        <pc:spChg chg="mod">
          <ac:chgData name="Mmathapelo Mongwe" userId="18731c1b-9e62-43ad-8744-4dad301ab871" providerId="ADAL" clId="{E28AF81F-42E2-4155-BE60-00F79056D2BB}" dt="2026-06-23T11:41:50.896" v="112" actId="20577"/>
          <ac:spMkLst>
            <pc:docMk/>
            <pc:sldMk cId="1687147526" sldId="299"/>
            <ac:spMk id="15" creationId="{6DD08D4D-D5DB-72E9-1467-98F72F68210F}"/>
          </ac:spMkLst>
        </pc:spChg>
      </pc:sldChg>
      <pc:sldChg chg="modSp mod">
        <pc:chgData name="Mmathapelo Mongwe" userId="18731c1b-9e62-43ad-8744-4dad301ab871" providerId="ADAL" clId="{E28AF81F-42E2-4155-BE60-00F79056D2BB}" dt="2026-06-24T12:11:28.007" v="896" actId="255"/>
        <pc:sldMkLst>
          <pc:docMk/>
          <pc:sldMk cId="3113829723" sldId="300"/>
        </pc:sldMkLst>
        <pc:spChg chg="mod">
          <ac:chgData name="Mmathapelo Mongwe" userId="18731c1b-9e62-43ad-8744-4dad301ab871" providerId="ADAL" clId="{E28AF81F-42E2-4155-BE60-00F79056D2BB}" dt="2026-06-24T12:11:28.007" v="896" actId="255"/>
          <ac:spMkLst>
            <pc:docMk/>
            <pc:sldMk cId="3113829723" sldId="300"/>
            <ac:spMk id="7" creationId="{4CF9C178-5515-C05D-C245-B7C67ED4880F}"/>
          </ac:spMkLst>
        </pc:spChg>
      </pc:sldChg>
      <pc:sldChg chg="modSp mod">
        <pc:chgData name="Mmathapelo Mongwe" userId="18731c1b-9e62-43ad-8744-4dad301ab871" providerId="ADAL" clId="{E28AF81F-42E2-4155-BE60-00F79056D2BB}" dt="2026-06-23T11:42:22.561" v="115" actId="255"/>
        <pc:sldMkLst>
          <pc:docMk/>
          <pc:sldMk cId="3202508268" sldId="302"/>
        </pc:sldMkLst>
        <pc:spChg chg="mod">
          <ac:chgData name="Mmathapelo Mongwe" userId="18731c1b-9e62-43ad-8744-4dad301ab871" providerId="ADAL" clId="{E28AF81F-42E2-4155-BE60-00F79056D2BB}" dt="2026-06-23T11:42:22.561" v="115" actId="255"/>
          <ac:spMkLst>
            <pc:docMk/>
            <pc:sldMk cId="3202508268" sldId="302"/>
            <ac:spMk id="7" creationId="{49D39252-2A89-BB35-5E54-B14CB6567E5E}"/>
          </ac:spMkLst>
        </pc:spChg>
      </pc:sldChg>
      <pc:sldChg chg="modSp mod">
        <pc:chgData name="Mmathapelo Mongwe" userId="18731c1b-9e62-43ad-8744-4dad301ab871" providerId="ADAL" clId="{E28AF81F-42E2-4155-BE60-00F79056D2BB}" dt="2026-06-23T11:52:40.805" v="208" actId="255"/>
        <pc:sldMkLst>
          <pc:docMk/>
          <pc:sldMk cId="907342897" sldId="307"/>
        </pc:sldMkLst>
        <pc:spChg chg="mod">
          <ac:chgData name="Mmathapelo Mongwe" userId="18731c1b-9e62-43ad-8744-4dad301ab871" providerId="ADAL" clId="{E28AF81F-42E2-4155-BE60-00F79056D2BB}" dt="2026-06-23T11:52:40.805" v="208" actId="255"/>
          <ac:spMkLst>
            <pc:docMk/>
            <pc:sldMk cId="907342897" sldId="307"/>
            <ac:spMk id="4" creationId="{340EC4B7-0B1F-A73C-84A0-60CE69A33C6C}"/>
          </ac:spMkLst>
        </pc:spChg>
      </pc:sldChg>
      <pc:sldChg chg="modSp mod">
        <pc:chgData name="Mmathapelo Mongwe" userId="18731c1b-9e62-43ad-8744-4dad301ab871" providerId="ADAL" clId="{E28AF81F-42E2-4155-BE60-00F79056D2BB}" dt="2026-06-24T12:12:39.417" v="903" actId="14100"/>
        <pc:sldMkLst>
          <pc:docMk/>
          <pc:sldMk cId="788530067" sldId="308"/>
        </pc:sldMkLst>
        <pc:spChg chg="mod">
          <ac:chgData name="Mmathapelo Mongwe" userId="18731c1b-9e62-43ad-8744-4dad301ab871" providerId="ADAL" clId="{E28AF81F-42E2-4155-BE60-00F79056D2BB}" dt="2026-06-24T11:58:46.009" v="740" actId="1076"/>
          <ac:spMkLst>
            <pc:docMk/>
            <pc:sldMk cId="788530067" sldId="308"/>
            <ac:spMk id="2" creationId="{5A5235EB-5521-A871-EF83-3B6E2CE05842}"/>
          </ac:spMkLst>
        </pc:spChg>
        <pc:spChg chg="mod">
          <ac:chgData name="Mmathapelo Mongwe" userId="18731c1b-9e62-43ad-8744-4dad301ab871" providerId="ADAL" clId="{E28AF81F-42E2-4155-BE60-00F79056D2BB}" dt="2026-06-24T11:58:43.471" v="739" actId="20577"/>
          <ac:spMkLst>
            <pc:docMk/>
            <pc:sldMk cId="788530067" sldId="308"/>
            <ac:spMk id="3" creationId="{DF33D0C7-2463-D95F-EF88-BE8DF8A03AB5}"/>
          </ac:spMkLst>
        </pc:spChg>
        <pc:spChg chg="mod">
          <ac:chgData name="Mmathapelo Mongwe" userId="18731c1b-9e62-43ad-8744-4dad301ab871" providerId="ADAL" clId="{E28AF81F-42E2-4155-BE60-00F79056D2BB}" dt="2026-06-24T12:12:39.417" v="903" actId="14100"/>
          <ac:spMkLst>
            <pc:docMk/>
            <pc:sldMk cId="788530067" sldId="308"/>
            <ac:spMk id="4" creationId="{611F83AD-F36C-4980-3EAD-F3BAF9D6E0CD}"/>
          </ac:spMkLst>
        </pc:spChg>
      </pc:sldChg>
      <pc:sldChg chg="addSp delSp modSp mod">
        <pc:chgData name="Mmathapelo Mongwe" userId="18731c1b-9e62-43ad-8744-4dad301ab871" providerId="ADAL" clId="{E28AF81F-42E2-4155-BE60-00F79056D2BB}" dt="2026-06-24T14:23:10.089" v="931"/>
        <pc:sldMkLst>
          <pc:docMk/>
          <pc:sldMk cId="1728536679" sldId="309"/>
        </pc:sldMkLst>
        <pc:spChg chg="mod">
          <ac:chgData name="Mmathapelo Mongwe" userId="18731c1b-9e62-43ad-8744-4dad301ab871" providerId="ADAL" clId="{E28AF81F-42E2-4155-BE60-00F79056D2BB}" dt="2026-06-24T11:59:19.626" v="744" actId="1076"/>
          <ac:spMkLst>
            <pc:docMk/>
            <pc:sldMk cId="1728536679" sldId="309"/>
            <ac:spMk id="2" creationId="{C2F0359A-4006-E595-53D5-01630B27FAAE}"/>
          </ac:spMkLst>
        </pc:spChg>
        <pc:spChg chg="mod">
          <ac:chgData name="Mmathapelo Mongwe" userId="18731c1b-9e62-43ad-8744-4dad301ab871" providerId="ADAL" clId="{E28AF81F-42E2-4155-BE60-00F79056D2BB}" dt="2026-06-24T11:59:24.202" v="745" actId="20577"/>
          <ac:spMkLst>
            <pc:docMk/>
            <pc:sldMk cId="1728536679" sldId="309"/>
            <ac:spMk id="3" creationId="{622C815B-C831-0264-0E42-C109B65E2CA3}"/>
          </ac:spMkLst>
        </pc:spChg>
        <pc:spChg chg="mod">
          <ac:chgData name="Mmathapelo Mongwe" userId="18731c1b-9e62-43ad-8744-4dad301ab871" providerId="ADAL" clId="{E28AF81F-42E2-4155-BE60-00F79056D2BB}" dt="2026-06-24T12:12:32.049" v="902" actId="14100"/>
          <ac:spMkLst>
            <pc:docMk/>
            <pc:sldMk cId="1728536679" sldId="309"/>
            <ac:spMk id="4" creationId="{6DCD2E54-14A1-865A-934E-F745B08930E4}"/>
          </ac:spMkLst>
        </pc:spChg>
        <pc:spChg chg="del mod">
          <ac:chgData name="Mmathapelo Mongwe" userId="18731c1b-9e62-43ad-8744-4dad301ab871" providerId="ADAL" clId="{E28AF81F-42E2-4155-BE60-00F79056D2BB}" dt="2026-06-24T14:23:10.089" v="931"/>
          <ac:spMkLst>
            <pc:docMk/>
            <pc:sldMk cId="1728536679" sldId="309"/>
            <ac:spMk id="6" creationId="{54E968C2-B755-74BA-645D-DCCEAF70FB96}"/>
          </ac:spMkLst>
        </pc:spChg>
        <pc:spChg chg="add mod">
          <ac:chgData name="Mmathapelo Mongwe" userId="18731c1b-9e62-43ad-8744-4dad301ab871" providerId="ADAL" clId="{E28AF81F-42E2-4155-BE60-00F79056D2BB}" dt="2026-06-24T11:59:28.269" v="746" actId="1076"/>
          <ac:spMkLst>
            <pc:docMk/>
            <pc:sldMk cId="1728536679" sldId="309"/>
            <ac:spMk id="12" creationId="{8295BD80-3DBB-D39F-9DF3-3EC646B1D04F}"/>
          </ac:spMkLst>
        </pc:spChg>
      </pc:sldChg>
      <pc:sldChg chg="addSp modSp mod">
        <pc:chgData name="Mmathapelo Mongwe" userId="18731c1b-9e62-43ad-8744-4dad301ab871" providerId="ADAL" clId="{E28AF81F-42E2-4155-BE60-00F79056D2BB}" dt="2026-06-24T12:00:11.309" v="756" actId="1076"/>
        <pc:sldMkLst>
          <pc:docMk/>
          <pc:sldMk cId="298520781" sldId="310"/>
        </pc:sldMkLst>
        <pc:spChg chg="mod">
          <ac:chgData name="Mmathapelo Mongwe" userId="18731c1b-9e62-43ad-8744-4dad301ab871" providerId="ADAL" clId="{E28AF81F-42E2-4155-BE60-00F79056D2BB}" dt="2026-06-24T11:59:59.847" v="754" actId="1076"/>
          <ac:spMkLst>
            <pc:docMk/>
            <pc:sldMk cId="298520781" sldId="310"/>
            <ac:spMk id="2" creationId="{8D73D371-B7B9-DD34-5474-FA76243987DD}"/>
          </ac:spMkLst>
        </pc:spChg>
        <pc:spChg chg="mod">
          <ac:chgData name="Mmathapelo Mongwe" userId="18731c1b-9e62-43ad-8744-4dad301ab871" providerId="ADAL" clId="{E28AF81F-42E2-4155-BE60-00F79056D2BB}" dt="2026-06-24T12:00:02.866" v="755" actId="20577"/>
          <ac:spMkLst>
            <pc:docMk/>
            <pc:sldMk cId="298520781" sldId="310"/>
            <ac:spMk id="3" creationId="{A7812ED0-FCBC-5EEF-1001-95057762E142}"/>
          </ac:spMkLst>
        </pc:spChg>
        <pc:spChg chg="mod">
          <ac:chgData name="Mmathapelo Mongwe" userId="18731c1b-9e62-43ad-8744-4dad301ab871" providerId="ADAL" clId="{E28AF81F-42E2-4155-BE60-00F79056D2BB}" dt="2026-06-23T11:41:23.496" v="110" actId="14100"/>
          <ac:spMkLst>
            <pc:docMk/>
            <pc:sldMk cId="298520781" sldId="310"/>
            <ac:spMk id="4" creationId="{C31DCAA8-A6C2-16FD-5D9B-3A6EC8A198EE}"/>
          </ac:spMkLst>
        </pc:spChg>
        <pc:spChg chg="add mod">
          <ac:chgData name="Mmathapelo Mongwe" userId="18731c1b-9e62-43ad-8744-4dad301ab871" providerId="ADAL" clId="{E28AF81F-42E2-4155-BE60-00F79056D2BB}" dt="2026-06-24T12:00:11.309" v="756" actId="1076"/>
          <ac:spMkLst>
            <pc:docMk/>
            <pc:sldMk cId="298520781" sldId="310"/>
            <ac:spMk id="6" creationId="{390082DA-3D5C-E47E-9322-FE31175CF9FF}"/>
          </ac:spMkLst>
        </pc:spChg>
      </pc:sldChg>
      <pc:sldChg chg="modSp mod">
        <pc:chgData name="Mmathapelo Mongwe" userId="18731c1b-9e62-43ad-8744-4dad301ab871" providerId="ADAL" clId="{E28AF81F-42E2-4155-BE60-00F79056D2BB}" dt="2026-06-24T12:10:02.747" v="879" actId="12"/>
        <pc:sldMkLst>
          <pc:docMk/>
          <pc:sldMk cId="1085952840" sldId="311"/>
        </pc:sldMkLst>
        <pc:spChg chg="mod">
          <ac:chgData name="Mmathapelo Mongwe" userId="18731c1b-9e62-43ad-8744-4dad301ab871" providerId="ADAL" clId="{E28AF81F-42E2-4155-BE60-00F79056D2BB}" dt="2026-06-24T12:09:53.493" v="878" actId="12"/>
          <ac:spMkLst>
            <pc:docMk/>
            <pc:sldMk cId="1085952840" sldId="311"/>
            <ac:spMk id="4" creationId="{C5E9F05F-3EE8-7811-730A-64061498FA31}"/>
          </ac:spMkLst>
        </pc:spChg>
        <pc:spChg chg="mod">
          <ac:chgData name="Mmathapelo Mongwe" userId="18731c1b-9e62-43ad-8744-4dad301ab871" providerId="ADAL" clId="{E28AF81F-42E2-4155-BE60-00F79056D2BB}" dt="2026-06-24T12:10:02.747" v="879" actId="12"/>
          <ac:spMkLst>
            <pc:docMk/>
            <pc:sldMk cId="1085952840" sldId="311"/>
            <ac:spMk id="16" creationId="{05077AB2-63F7-F934-5BE9-C5196C58EDD2}"/>
          </ac:spMkLst>
        </pc:spChg>
      </pc:sldChg>
      <pc:sldChg chg="modSp mod">
        <pc:chgData name="Mmathapelo Mongwe" userId="18731c1b-9e62-43ad-8744-4dad301ab871" providerId="ADAL" clId="{E28AF81F-42E2-4155-BE60-00F79056D2BB}" dt="2026-06-24T12:10:21.683" v="883" actId="12"/>
        <pc:sldMkLst>
          <pc:docMk/>
          <pc:sldMk cId="1940636844" sldId="312"/>
        </pc:sldMkLst>
        <pc:spChg chg="mod">
          <ac:chgData name="Mmathapelo Mongwe" userId="18731c1b-9e62-43ad-8744-4dad301ab871" providerId="ADAL" clId="{E28AF81F-42E2-4155-BE60-00F79056D2BB}" dt="2026-06-24T12:10:15.763" v="881" actId="12"/>
          <ac:spMkLst>
            <pc:docMk/>
            <pc:sldMk cId="1940636844" sldId="312"/>
            <ac:spMk id="4" creationId="{E2441095-B685-5E88-856A-AFE9D78413C9}"/>
          </ac:spMkLst>
        </pc:spChg>
        <pc:spChg chg="mod">
          <ac:chgData name="Mmathapelo Mongwe" userId="18731c1b-9e62-43ad-8744-4dad301ab871" providerId="ADAL" clId="{E28AF81F-42E2-4155-BE60-00F79056D2BB}" dt="2026-06-24T12:10:21.683" v="883" actId="12"/>
          <ac:spMkLst>
            <pc:docMk/>
            <pc:sldMk cId="1940636844" sldId="312"/>
            <ac:spMk id="16" creationId="{E0C5EC26-D701-0FA4-15C2-12C5CF34550A}"/>
          </ac:spMkLst>
        </pc:spChg>
      </pc:sldChg>
      <pc:sldChg chg="modSp mod">
        <pc:chgData name="Mmathapelo Mongwe" userId="18731c1b-9e62-43ad-8744-4dad301ab871" providerId="ADAL" clId="{E28AF81F-42E2-4155-BE60-00F79056D2BB}" dt="2026-06-24T12:10:35.572" v="887" actId="12"/>
        <pc:sldMkLst>
          <pc:docMk/>
          <pc:sldMk cId="3217373880" sldId="313"/>
        </pc:sldMkLst>
        <pc:spChg chg="mod">
          <ac:chgData name="Mmathapelo Mongwe" userId="18731c1b-9e62-43ad-8744-4dad301ab871" providerId="ADAL" clId="{E28AF81F-42E2-4155-BE60-00F79056D2BB}" dt="2026-06-24T12:10:28.609" v="885" actId="12"/>
          <ac:spMkLst>
            <pc:docMk/>
            <pc:sldMk cId="3217373880" sldId="313"/>
            <ac:spMk id="4" creationId="{2715B038-BFA1-2D23-2F17-FA6F56BADB36}"/>
          </ac:spMkLst>
        </pc:spChg>
        <pc:spChg chg="mod">
          <ac:chgData name="Mmathapelo Mongwe" userId="18731c1b-9e62-43ad-8744-4dad301ab871" providerId="ADAL" clId="{E28AF81F-42E2-4155-BE60-00F79056D2BB}" dt="2026-06-24T12:10:35.572" v="887" actId="12"/>
          <ac:spMkLst>
            <pc:docMk/>
            <pc:sldMk cId="3217373880" sldId="313"/>
            <ac:spMk id="16" creationId="{CD900CC0-F3FA-4174-8EEA-36AC524006ED}"/>
          </ac:spMkLst>
        </pc:spChg>
      </pc:sldChg>
      <pc:sldChg chg="modSp mod">
        <pc:chgData name="Mmathapelo Mongwe" userId="18731c1b-9e62-43ad-8744-4dad301ab871" providerId="ADAL" clId="{E28AF81F-42E2-4155-BE60-00F79056D2BB}" dt="2026-06-24T12:10:45.867" v="891" actId="12"/>
        <pc:sldMkLst>
          <pc:docMk/>
          <pc:sldMk cId="3058359385" sldId="314"/>
        </pc:sldMkLst>
        <pc:spChg chg="mod">
          <ac:chgData name="Mmathapelo Mongwe" userId="18731c1b-9e62-43ad-8744-4dad301ab871" providerId="ADAL" clId="{E28AF81F-42E2-4155-BE60-00F79056D2BB}" dt="2026-06-24T12:10:42.042" v="889" actId="12"/>
          <ac:spMkLst>
            <pc:docMk/>
            <pc:sldMk cId="3058359385" sldId="314"/>
            <ac:spMk id="4" creationId="{4E981E47-CCC0-ADC4-4FBE-37A8A35E4177}"/>
          </ac:spMkLst>
        </pc:spChg>
        <pc:spChg chg="mod">
          <ac:chgData name="Mmathapelo Mongwe" userId="18731c1b-9e62-43ad-8744-4dad301ab871" providerId="ADAL" clId="{E28AF81F-42E2-4155-BE60-00F79056D2BB}" dt="2026-06-24T12:10:45.867" v="891" actId="12"/>
          <ac:spMkLst>
            <pc:docMk/>
            <pc:sldMk cId="3058359385" sldId="314"/>
            <ac:spMk id="16" creationId="{40C5F92A-C5BF-1D90-96FA-7B818DC0F81C}"/>
          </ac:spMkLst>
        </pc:spChg>
      </pc:sldChg>
      <pc:sldChg chg="modSp mod">
        <pc:chgData name="Mmathapelo Mongwe" userId="18731c1b-9e62-43ad-8744-4dad301ab871" providerId="ADAL" clId="{E28AF81F-42E2-4155-BE60-00F79056D2BB}" dt="2026-06-24T12:10:58.148" v="895" actId="12"/>
        <pc:sldMkLst>
          <pc:docMk/>
          <pc:sldMk cId="977302058" sldId="315"/>
        </pc:sldMkLst>
        <pc:spChg chg="mod">
          <ac:chgData name="Mmathapelo Mongwe" userId="18731c1b-9e62-43ad-8744-4dad301ab871" providerId="ADAL" clId="{E28AF81F-42E2-4155-BE60-00F79056D2BB}" dt="2026-06-24T12:10:52.713" v="893" actId="12"/>
          <ac:spMkLst>
            <pc:docMk/>
            <pc:sldMk cId="977302058" sldId="315"/>
            <ac:spMk id="4" creationId="{8A1024CF-02FD-BFD1-AC4D-7FBE332B80A4}"/>
          </ac:spMkLst>
        </pc:spChg>
        <pc:spChg chg="mod">
          <ac:chgData name="Mmathapelo Mongwe" userId="18731c1b-9e62-43ad-8744-4dad301ab871" providerId="ADAL" clId="{E28AF81F-42E2-4155-BE60-00F79056D2BB}" dt="2026-06-24T12:10:58.148" v="895" actId="12"/>
          <ac:spMkLst>
            <pc:docMk/>
            <pc:sldMk cId="977302058" sldId="315"/>
            <ac:spMk id="16" creationId="{42C4C0A7-9D43-70B5-54FA-F63AD4BDC96D}"/>
          </ac:spMkLst>
        </pc:spChg>
      </pc:sldChg>
      <pc:sldChg chg="modSp mod">
        <pc:chgData name="Mmathapelo Mongwe" userId="18731c1b-9e62-43ad-8744-4dad301ab871" providerId="ADAL" clId="{E28AF81F-42E2-4155-BE60-00F79056D2BB}" dt="2026-06-23T11:42:15.155" v="114" actId="255"/>
        <pc:sldMkLst>
          <pc:docMk/>
          <pc:sldMk cId="1974622644" sldId="316"/>
        </pc:sldMkLst>
        <pc:spChg chg="mod">
          <ac:chgData name="Mmathapelo Mongwe" userId="18731c1b-9e62-43ad-8744-4dad301ab871" providerId="ADAL" clId="{E28AF81F-42E2-4155-BE60-00F79056D2BB}" dt="2026-06-23T11:42:15.155" v="114" actId="255"/>
          <ac:spMkLst>
            <pc:docMk/>
            <pc:sldMk cId="1974622644" sldId="316"/>
            <ac:spMk id="7" creationId="{0B8846A7-ABAD-F23F-D88A-8FB6219AD15B}"/>
          </ac:spMkLst>
        </pc:spChg>
      </pc:sldChg>
      <pc:sldChg chg="modSp add mod">
        <pc:chgData name="Mmathapelo Mongwe" userId="18731c1b-9e62-43ad-8744-4dad301ab871" providerId="ADAL" clId="{E28AF81F-42E2-4155-BE60-00F79056D2BB}" dt="2026-06-24T12:14:19.381" v="915" actId="20577"/>
        <pc:sldMkLst>
          <pc:docMk/>
          <pc:sldMk cId="2045775974" sldId="317"/>
        </pc:sldMkLst>
        <pc:spChg chg="mod">
          <ac:chgData name="Mmathapelo Mongwe" userId="18731c1b-9e62-43ad-8744-4dad301ab871" providerId="ADAL" clId="{E28AF81F-42E2-4155-BE60-00F79056D2BB}" dt="2026-06-23T11:32:16.657" v="37" actId="1076"/>
          <ac:spMkLst>
            <pc:docMk/>
            <pc:sldMk cId="2045775974" sldId="317"/>
            <ac:spMk id="2" creationId="{FADBC402-4112-4AD2-7B19-4DB2AFCAF02A}"/>
          </ac:spMkLst>
        </pc:spChg>
        <pc:spChg chg="mod">
          <ac:chgData name="Mmathapelo Mongwe" userId="18731c1b-9e62-43ad-8744-4dad301ab871" providerId="ADAL" clId="{E28AF81F-42E2-4155-BE60-00F79056D2BB}" dt="2026-06-24T12:14:19.381" v="915" actId="20577"/>
          <ac:spMkLst>
            <pc:docMk/>
            <pc:sldMk cId="2045775974" sldId="317"/>
            <ac:spMk id="3" creationId="{9703EC03-8C4B-5037-3E46-57D1E829EF54}"/>
          </ac:spMkLst>
        </pc:spChg>
        <pc:spChg chg="mod">
          <ac:chgData name="Mmathapelo Mongwe" userId="18731c1b-9e62-43ad-8744-4dad301ab871" providerId="ADAL" clId="{E28AF81F-42E2-4155-BE60-00F79056D2BB}" dt="2026-06-23T11:45:26.490" v="145" actId="207"/>
          <ac:spMkLst>
            <pc:docMk/>
            <pc:sldMk cId="2045775974" sldId="317"/>
            <ac:spMk id="6" creationId="{79C144F4-5BFF-0AE3-2082-1E53F0CBF758}"/>
          </ac:spMkLst>
        </pc:spChg>
        <pc:spChg chg="mod">
          <ac:chgData name="Mmathapelo Mongwe" userId="18731c1b-9e62-43ad-8744-4dad301ab871" providerId="ADAL" clId="{E28AF81F-42E2-4155-BE60-00F79056D2BB}" dt="2026-06-23T12:05:34.844" v="268" actId="20577"/>
          <ac:spMkLst>
            <pc:docMk/>
            <pc:sldMk cId="2045775974" sldId="317"/>
            <ac:spMk id="24" creationId="{9683F91C-C7EA-6082-5146-592B4C4D0CCA}"/>
          </ac:spMkLst>
        </pc:spChg>
      </pc:sldChg>
      <pc:sldChg chg="delSp modSp add mod ord">
        <pc:chgData name="Mmathapelo Mongwe" userId="18731c1b-9e62-43ad-8744-4dad301ab871" providerId="ADAL" clId="{E28AF81F-42E2-4155-BE60-00F79056D2BB}" dt="2026-06-24T12:13:22.095" v="908" actId="20577"/>
        <pc:sldMkLst>
          <pc:docMk/>
          <pc:sldMk cId="3527244617" sldId="318"/>
        </pc:sldMkLst>
        <pc:spChg chg="mod">
          <ac:chgData name="Mmathapelo Mongwe" userId="18731c1b-9e62-43ad-8744-4dad301ab871" providerId="ADAL" clId="{E28AF81F-42E2-4155-BE60-00F79056D2BB}" dt="2026-06-24T12:13:19.207" v="907" actId="1076"/>
          <ac:spMkLst>
            <pc:docMk/>
            <pc:sldMk cId="3527244617" sldId="318"/>
            <ac:spMk id="2" creationId="{2CF5EB1C-3A5E-B91C-2AEF-04F91BD192E2}"/>
          </ac:spMkLst>
        </pc:spChg>
        <pc:spChg chg="mod">
          <ac:chgData name="Mmathapelo Mongwe" userId="18731c1b-9e62-43ad-8744-4dad301ab871" providerId="ADAL" clId="{E28AF81F-42E2-4155-BE60-00F79056D2BB}" dt="2026-06-24T12:13:22.095" v="908" actId="20577"/>
          <ac:spMkLst>
            <pc:docMk/>
            <pc:sldMk cId="3527244617" sldId="318"/>
            <ac:spMk id="4" creationId="{B8F66BD6-4EF0-F336-0563-E532EA31EE96}"/>
          </ac:spMkLst>
        </pc:spChg>
        <pc:spChg chg="mod">
          <ac:chgData name="Mmathapelo Mongwe" userId="18731c1b-9e62-43ad-8744-4dad301ab871" providerId="ADAL" clId="{E28AF81F-42E2-4155-BE60-00F79056D2BB}" dt="2026-06-24T07:47:16.034" v="469" actId="14100"/>
          <ac:spMkLst>
            <pc:docMk/>
            <pc:sldMk cId="3527244617" sldId="318"/>
            <ac:spMk id="13" creationId="{CC52D7F8-A346-6EE6-EA49-6682361AB724}"/>
          </ac:spMkLst>
        </pc:spChg>
        <pc:spChg chg="mod">
          <ac:chgData name="Mmathapelo Mongwe" userId="18731c1b-9e62-43ad-8744-4dad301ab871" providerId="ADAL" clId="{E28AF81F-42E2-4155-BE60-00F79056D2BB}" dt="2026-06-24T07:46:12.732" v="461" actId="1076"/>
          <ac:spMkLst>
            <pc:docMk/>
            <pc:sldMk cId="3527244617" sldId="318"/>
            <ac:spMk id="14" creationId="{D6B854F9-DD12-9C7E-A548-D8B003904B20}"/>
          </ac:spMkLst>
        </pc:spChg>
        <pc:spChg chg="mod">
          <ac:chgData name="Mmathapelo Mongwe" userId="18731c1b-9e62-43ad-8744-4dad301ab871" providerId="ADAL" clId="{E28AF81F-42E2-4155-BE60-00F79056D2BB}" dt="2026-06-24T07:46:18.476" v="463" actId="1076"/>
          <ac:spMkLst>
            <pc:docMk/>
            <pc:sldMk cId="3527244617" sldId="318"/>
            <ac:spMk id="16" creationId="{E7CCE62D-C561-F395-5A82-A5AF32B0DF41}"/>
          </ac:spMkLst>
        </pc:spChg>
        <pc:spChg chg="mod">
          <ac:chgData name="Mmathapelo Mongwe" userId="18731c1b-9e62-43ad-8744-4dad301ab871" providerId="ADAL" clId="{E28AF81F-42E2-4155-BE60-00F79056D2BB}" dt="2026-06-24T07:46:51.410" v="466" actId="1076"/>
          <ac:spMkLst>
            <pc:docMk/>
            <pc:sldMk cId="3527244617" sldId="318"/>
            <ac:spMk id="17" creationId="{B5A4376A-34D7-CE33-1389-961FD535D3E6}"/>
          </ac:spMkLst>
        </pc:spChg>
        <pc:spChg chg="del">
          <ac:chgData name="Mmathapelo Mongwe" userId="18731c1b-9e62-43ad-8744-4dad301ab871" providerId="ADAL" clId="{E28AF81F-42E2-4155-BE60-00F79056D2BB}" dt="2026-06-24T07:44:58.148" v="442" actId="478"/>
          <ac:spMkLst>
            <pc:docMk/>
            <pc:sldMk cId="3527244617" sldId="318"/>
            <ac:spMk id="18" creationId="{C0B699CB-B49B-4CF8-6CAA-FC95B52CAD9A}"/>
          </ac:spMkLst>
        </pc:spChg>
        <pc:spChg chg="del">
          <ac:chgData name="Mmathapelo Mongwe" userId="18731c1b-9e62-43ad-8744-4dad301ab871" providerId="ADAL" clId="{E28AF81F-42E2-4155-BE60-00F79056D2BB}" dt="2026-06-24T07:44:59.027" v="443" actId="478"/>
          <ac:spMkLst>
            <pc:docMk/>
            <pc:sldMk cId="3527244617" sldId="318"/>
            <ac:spMk id="19" creationId="{5083853E-571D-4D3D-E507-C507F92DBB11}"/>
          </ac:spMkLst>
        </pc:spChg>
        <pc:spChg chg="mod">
          <ac:chgData name="Mmathapelo Mongwe" userId="18731c1b-9e62-43ad-8744-4dad301ab871" providerId="ADAL" clId="{E28AF81F-42E2-4155-BE60-00F79056D2BB}" dt="2026-06-24T07:45:26.281" v="451" actId="20577"/>
          <ac:spMkLst>
            <pc:docMk/>
            <pc:sldMk cId="3527244617" sldId="318"/>
            <ac:spMk id="21" creationId="{BFC8A8D1-237B-598F-1227-488FCAC3BE53}"/>
          </ac:spMkLst>
        </pc:spChg>
        <pc:spChg chg="mod">
          <ac:chgData name="Mmathapelo Mongwe" userId="18731c1b-9e62-43ad-8744-4dad301ab871" providerId="ADAL" clId="{E28AF81F-42E2-4155-BE60-00F79056D2BB}" dt="2026-06-24T07:45:02.457" v="446" actId="20577"/>
          <ac:spMkLst>
            <pc:docMk/>
            <pc:sldMk cId="3527244617" sldId="318"/>
            <ac:spMk id="22" creationId="{64A1941B-F477-2B5F-4564-1F8DE2F06DA8}"/>
          </ac:spMkLst>
        </pc:spChg>
        <pc:spChg chg="mod">
          <ac:chgData name="Mmathapelo Mongwe" userId="18731c1b-9e62-43ad-8744-4dad301ab871" providerId="ADAL" clId="{E28AF81F-42E2-4155-BE60-00F79056D2BB}" dt="2026-06-24T07:48:05.851" v="480" actId="14100"/>
          <ac:spMkLst>
            <pc:docMk/>
            <pc:sldMk cId="3527244617" sldId="318"/>
            <ac:spMk id="23" creationId="{645CF578-7299-3C46-FF4D-5DA1374BDDD1}"/>
          </ac:spMkLst>
        </pc:spChg>
        <pc:spChg chg="mod">
          <ac:chgData name="Mmathapelo Mongwe" userId="18731c1b-9e62-43ad-8744-4dad301ab871" providerId="ADAL" clId="{E28AF81F-42E2-4155-BE60-00F79056D2BB}" dt="2026-06-24T07:47:43.103" v="474" actId="1076"/>
          <ac:spMkLst>
            <pc:docMk/>
            <pc:sldMk cId="3527244617" sldId="318"/>
            <ac:spMk id="24" creationId="{37254591-0F24-851E-E67F-E959BE8FB7FA}"/>
          </ac:spMkLst>
        </pc:spChg>
        <pc:spChg chg="mod">
          <ac:chgData name="Mmathapelo Mongwe" userId="18731c1b-9e62-43ad-8744-4dad301ab871" providerId="ADAL" clId="{E28AF81F-42E2-4155-BE60-00F79056D2BB}" dt="2026-06-24T07:49:22.420" v="489" actId="1076"/>
          <ac:spMkLst>
            <pc:docMk/>
            <pc:sldMk cId="3527244617" sldId="318"/>
            <ac:spMk id="26" creationId="{5401E930-F922-26B1-5115-CDC95C7C1B7E}"/>
          </ac:spMkLst>
        </pc:spChg>
        <pc:spChg chg="mod">
          <ac:chgData name="Mmathapelo Mongwe" userId="18731c1b-9e62-43ad-8744-4dad301ab871" providerId="ADAL" clId="{E28AF81F-42E2-4155-BE60-00F79056D2BB}" dt="2026-06-24T07:49:42.726" v="490"/>
          <ac:spMkLst>
            <pc:docMk/>
            <pc:sldMk cId="3527244617" sldId="318"/>
            <ac:spMk id="27" creationId="{E20A31D6-A907-13BF-7A53-440371879B52}"/>
          </ac:spMkLst>
        </pc:spChg>
      </pc:sldChg>
      <pc:sldChg chg="modSp add mod">
        <pc:chgData name="Mmathapelo Mongwe" userId="18731c1b-9e62-43ad-8744-4dad301ab871" providerId="ADAL" clId="{E28AF81F-42E2-4155-BE60-00F79056D2BB}" dt="2026-06-24T12:13:08.187" v="904" actId="20577"/>
        <pc:sldMkLst>
          <pc:docMk/>
          <pc:sldMk cId="3967354007" sldId="319"/>
        </pc:sldMkLst>
        <pc:spChg chg="mod">
          <ac:chgData name="Mmathapelo Mongwe" userId="18731c1b-9e62-43ad-8744-4dad301ab871" providerId="ADAL" clId="{E28AF81F-42E2-4155-BE60-00F79056D2BB}" dt="2026-06-24T12:13:08.187" v="904" actId="20577"/>
          <ac:spMkLst>
            <pc:docMk/>
            <pc:sldMk cId="3967354007" sldId="319"/>
            <ac:spMk id="4" creationId="{97C445F1-608F-980E-3F9D-D7BD5432AE74}"/>
          </ac:spMkLst>
        </pc:spChg>
        <pc:spChg chg="mod">
          <ac:chgData name="Mmathapelo Mongwe" userId="18731c1b-9e62-43ad-8744-4dad301ab871" providerId="ADAL" clId="{E28AF81F-42E2-4155-BE60-00F79056D2BB}" dt="2026-06-24T07:53:55.423" v="511" actId="14100"/>
          <ac:spMkLst>
            <pc:docMk/>
            <pc:sldMk cId="3967354007" sldId="319"/>
            <ac:spMk id="13" creationId="{80845B18-ADB5-C4C8-680B-034BB95F894E}"/>
          </ac:spMkLst>
        </pc:spChg>
        <pc:spChg chg="mod">
          <ac:chgData name="Mmathapelo Mongwe" userId="18731c1b-9e62-43ad-8744-4dad301ab871" providerId="ADAL" clId="{E28AF81F-42E2-4155-BE60-00F79056D2BB}" dt="2026-06-24T07:53:27.540" v="503" actId="14100"/>
          <ac:spMkLst>
            <pc:docMk/>
            <pc:sldMk cId="3967354007" sldId="319"/>
            <ac:spMk id="14" creationId="{D553116F-C614-1EDF-6DE0-0FBBB7E5A3A8}"/>
          </ac:spMkLst>
        </pc:spChg>
        <pc:spChg chg="mod">
          <ac:chgData name="Mmathapelo Mongwe" userId="18731c1b-9e62-43ad-8744-4dad301ab871" providerId="ADAL" clId="{E28AF81F-42E2-4155-BE60-00F79056D2BB}" dt="2026-06-24T07:50:14.011" v="493"/>
          <ac:spMkLst>
            <pc:docMk/>
            <pc:sldMk cId="3967354007" sldId="319"/>
            <ac:spMk id="16" creationId="{7895FFAD-E5C7-734A-1F09-8EF8E3AEFC62}"/>
          </ac:spMkLst>
        </pc:spChg>
        <pc:spChg chg="mod">
          <ac:chgData name="Mmathapelo Mongwe" userId="18731c1b-9e62-43ad-8744-4dad301ab871" providerId="ADAL" clId="{E28AF81F-42E2-4155-BE60-00F79056D2BB}" dt="2026-06-24T07:53:54.531" v="510" actId="1076"/>
          <ac:spMkLst>
            <pc:docMk/>
            <pc:sldMk cId="3967354007" sldId="319"/>
            <ac:spMk id="17" creationId="{71513EF6-1FDA-E14F-0A7E-FCB5ED1739F4}"/>
          </ac:spMkLst>
        </pc:spChg>
        <pc:spChg chg="mod">
          <ac:chgData name="Mmathapelo Mongwe" userId="18731c1b-9e62-43ad-8744-4dad301ab871" providerId="ADAL" clId="{E28AF81F-42E2-4155-BE60-00F79056D2BB}" dt="2026-06-24T11:41:03.319" v="526" actId="1076"/>
          <ac:spMkLst>
            <pc:docMk/>
            <pc:sldMk cId="3967354007" sldId="319"/>
            <ac:spMk id="23" creationId="{46A75CDA-01FD-65F6-575A-C40B40D4B20E}"/>
          </ac:spMkLst>
        </pc:spChg>
        <pc:spChg chg="mod">
          <ac:chgData name="Mmathapelo Mongwe" userId="18731c1b-9e62-43ad-8744-4dad301ab871" providerId="ADAL" clId="{E28AF81F-42E2-4155-BE60-00F79056D2BB}" dt="2026-06-24T11:40:37.894" v="520"/>
          <ac:spMkLst>
            <pc:docMk/>
            <pc:sldMk cId="3967354007" sldId="319"/>
            <ac:spMk id="26" creationId="{4B0F9020-D007-58B3-AF78-C650A77EF590}"/>
          </ac:spMkLst>
        </pc:spChg>
        <pc:spChg chg="mod">
          <ac:chgData name="Mmathapelo Mongwe" userId="18731c1b-9e62-43ad-8744-4dad301ab871" providerId="ADAL" clId="{E28AF81F-42E2-4155-BE60-00F79056D2BB}" dt="2026-06-24T11:40:57.251" v="524" actId="1076"/>
          <ac:spMkLst>
            <pc:docMk/>
            <pc:sldMk cId="3967354007" sldId="319"/>
            <ac:spMk id="27" creationId="{B0B9F29D-1D4B-3585-9E1E-5B48A9A72C86}"/>
          </ac:spMkLst>
        </pc:spChg>
      </pc:sldChg>
      <pc:sldChg chg="modSp add mod">
        <pc:chgData name="Mmathapelo Mongwe" userId="18731c1b-9e62-43ad-8744-4dad301ab871" providerId="ADAL" clId="{E28AF81F-42E2-4155-BE60-00F79056D2BB}" dt="2026-06-24T11:44:25.116" v="546" actId="1076"/>
        <pc:sldMkLst>
          <pc:docMk/>
          <pc:sldMk cId="408767620" sldId="320"/>
        </pc:sldMkLst>
        <pc:spChg chg="mod">
          <ac:chgData name="Mmathapelo Mongwe" userId="18731c1b-9e62-43ad-8744-4dad301ab871" providerId="ADAL" clId="{E28AF81F-42E2-4155-BE60-00F79056D2BB}" dt="2026-06-24T11:43:02.446" v="536" actId="14100"/>
          <ac:spMkLst>
            <pc:docMk/>
            <pc:sldMk cId="408767620" sldId="320"/>
            <ac:spMk id="13" creationId="{35E1061A-5EA3-0D83-2483-7934F9A38589}"/>
          </ac:spMkLst>
        </pc:spChg>
        <pc:spChg chg="mod">
          <ac:chgData name="Mmathapelo Mongwe" userId="18731c1b-9e62-43ad-8744-4dad301ab871" providerId="ADAL" clId="{E28AF81F-42E2-4155-BE60-00F79056D2BB}" dt="2026-06-24T11:42:46.468" v="531" actId="1076"/>
          <ac:spMkLst>
            <pc:docMk/>
            <pc:sldMk cId="408767620" sldId="320"/>
            <ac:spMk id="14" creationId="{95BA185D-7446-89B8-7693-ECC87DF40A31}"/>
          </ac:spMkLst>
        </pc:spChg>
        <pc:spChg chg="mod">
          <ac:chgData name="Mmathapelo Mongwe" userId="18731c1b-9e62-43ad-8744-4dad301ab871" providerId="ADAL" clId="{E28AF81F-42E2-4155-BE60-00F79056D2BB}" dt="2026-06-24T11:42:56.129" v="533" actId="1076"/>
          <ac:spMkLst>
            <pc:docMk/>
            <pc:sldMk cId="408767620" sldId="320"/>
            <ac:spMk id="16" creationId="{3027B931-6B1F-36DB-55E4-D4BFD0E003CE}"/>
          </ac:spMkLst>
        </pc:spChg>
        <pc:spChg chg="mod">
          <ac:chgData name="Mmathapelo Mongwe" userId="18731c1b-9e62-43ad-8744-4dad301ab871" providerId="ADAL" clId="{E28AF81F-42E2-4155-BE60-00F79056D2BB}" dt="2026-06-24T11:43:29.971" v="538" actId="1076"/>
          <ac:spMkLst>
            <pc:docMk/>
            <pc:sldMk cId="408767620" sldId="320"/>
            <ac:spMk id="17" creationId="{AF314EDF-62DC-EDC2-BBBB-0E0A8A88E641}"/>
          </ac:spMkLst>
        </pc:spChg>
        <pc:spChg chg="mod">
          <ac:chgData name="Mmathapelo Mongwe" userId="18731c1b-9e62-43ad-8744-4dad301ab871" providerId="ADAL" clId="{E28AF81F-42E2-4155-BE60-00F79056D2BB}" dt="2026-06-24T11:43:34.068" v="539" actId="1076"/>
          <ac:spMkLst>
            <pc:docMk/>
            <pc:sldMk cId="408767620" sldId="320"/>
            <ac:spMk id="23" creationId="{C507A8B6-1DB2-B526-30B4-285115C40084}"/>
          </ac:spMkLst>
        </pc:spChg>
        <pc:spChg chg="mod">
          <ac:chgData name="Mmathapelo Mongwe" userId="18731c1b-9e62-43ad-8744-4dad301ab871" providerId="ADAL" clId="{E28AF81F-42E2-4155-BE60-00F79056D2BB}" dt="2026-06-24T11:44:25.116" v="546" actId="1076"/>
          <ac:spMkLst>
            <pc:docMk/>
            <pc:sldMk cId="408767620" sldId="320"/>
            <ac:spMk id="27" creationId="{85DA9087-20F2-3855-F621-E2B3E35F4FEB}"/>
          </ac:spMkLst>
        </pc:spChg>
      </pc:sldChg>
      <pc:sldChg chg="addSp delSp modSp add mod">
        <pc:chgData name="Mmathapelo Mongwe" userId="18731c1b-9e62-43ad-8744-4dad301ab871" providerId="ADAL" clId="{E28AF81F-42E2-4155-BE60-00F79056D2BB}" dt="2026-06-24T11:52:05.133" v="666" actId="20577"/>
        <pc:sldMkLst>
          <pc:docMk/>
          <pc:sldMk cId="781755683" sldId="321"/>
        </pc:sldMkLst>
        <pc:spChg chg="mod">
          <ac:chgData name="Mmathapelo Mongwe" userId="18731c1b-9e62-43ad-8744-4dad301ab871" providerId="ADAL" clId="{E28AF81F-42E2-4155-BE60-00F79056D2BB}" dt="2026-06-24T11:44:59.940" v="571" actId="20577"/>
          <ac:spMkLst>
            <pc:docMk/>
            <pc:sldMk cId="781755683" sldId="321"/>
            <ac:spMk id="4" creationId="{86CCF59B-A3CD-688D-E2F4-87BE72D9313E}"/>
          </ac:spMkLst>
        </pc:spChg>
        <pc:spChg chg="mod">
          <ac:chgData name="Mmathapelo Mongwe" userId="18731c1b-9e62-43ad-8744-4dad301ab871" providerId="ADAL" clId="{E28AF81F-42E2-4155-BE60-00F79056D2BB}" dt="2026-06-24T11:52:05.133" v="666" actId="20577"/>
          <ac:spMkLst>
            <pc:docMk/>
            <pc:sldMk cId="781755683" sldId="321"/>
            <ac:spMk id="13" creationId="{021D8576-A799-1963-4857-DDFBC34E1D1F}"/>
          </ac:spMkLst>
        </pc:spChg>
        <pc:spChg chg="add del mod">
          <ac:chgData name="Mmathapelo Mongwe" userId="18731c1b-9e62-43ad-8744-4dad301ab871" providerId="ADAL" clId="{E28AF81F-42E2-4155-BE60-00F79056D2BB}" dt="2026-06-24T11:48:58.722" v="596" actId="1076"/>
          <ac:spMkLst>
            <pc:docMk/>
            <pc:sldMk cId="781755683" sldId="321"/>
            <ac:spMk id="14" creationId="{57C9CC83-0C88-665C-CDCE-C6919DB447D3}"/>
          </ac:spMkLst>
        </pc:spChg>
        <pc:spChg chg="mod">
          <ac:chgData name="Mmathapelo Mongwe" userId="18731c1b-9e62-43ad-8744-4dad301ab871" providerId="ADAL" clId="{E28AF81F-42E2-4155-BE60-00F79056D2BB}" dt="2026-06-24T11:47:07.898" v="576" actId="14100"/>
          <ac:spMkLst>
            <pc:docMk/>
            <pc:sldMk cId="781755683" sldId="321"/>
            <ac:spMk id="16" creationId="{7FC0C7F1-D641-6F61-458D-8CEBB6CCFF21}"/>
          </ac:spMkLst>
        </pc:spChg>
        <pc:spChg chg="mod">
          <ac:chgData name="Mmathapelo Mongwe" userId="18731c1b-9e62-43ad-8744-4dad301ab871" providerId="ADAL" clId="{E28AF81F-42E2-4155-BE60-00F79056D2BB}" dt="2026-06-24T11:47:28.568" v="580" actId="5793"/>
          <ac:spMkLst>
            <pc:docMk/>
            <pc:sldMk cId="781755683" sldId="321"/>
            <ac:spMk id="17" creationId="{DFA49DBE-2524-95F1-FB17-545D54EF467C}"/>
          </ac:spMkLst>
        </pc:spChg>
        <pc:spChg chg="mod">
          <ac:chgData name="Mmathapelo Mongwe" userId="18731c1b-9e62-43ad-8744-4dad301ab871" providerId="ADAL" clId="{E28AF81F-42E2-4155-BE60-00F79056D2BB}" dt="2026-06-24T11:51:44.815" v="663" actId="14100"/>
          <ac:spMkLst>
            <pc:docMk/>
            <pc:sldMk cId="781755683" sldId="321"/>
            <ac:spMk id="23" creationId="{66F09DC8-4D55-78DC-C1C3-FCD7B49C588A}"/>
          </ac:spMkLst>
        </pc:spChg>
        <pc:spChg chg="mod">
          <ac:chgData name="Mmathapelo Mongwe" userId="18731c1b-9e62-43ad-8744-4dad301ab871" providerId="ADAL" clId="{E28AF81F-42E2-4155-BE60-00F79056D2BB}" dt="2026-06-24T11:50:20.818" v="649" actId="14100"/>
          <ac:spMkLst>
            <pc:docMk/>
            <pc:sldMk cId="781755683" sldId="321"/>
            <ac:spMk id="26" creationId="{59B0C7D1-1323-37CB-ED6C-B37DFCAEDBE3}"/>
          </ac:spMkLst>
        </pc:spChg>
        <pc:spChg chg="mod">
          <ac:chgData name="Mmathapelo Mongwe" userId="18731c1b-9e62-43ad-8744-4dad301ab871" providerId="ADAL" clId="{E28AF81F-42E2-4155-BE60-00F79056D2BB}" dt="2026-06-24T11:51:28.261" v="660" actId="14100"/>
          <ac:spMkLst>
            <pc:docMk/>
            <pc:sldMk cId="781755683" sldId="321"/>
            <ac:spMk id="27" creationId="{665748F3-4DEB-80A6-3F15-B78E974AF79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3D04CA-4285-4284-A7E5-3DCD48F53057}" type="datetimeFigureOut">
              <a:rPr lang="en-ZA" smtClean="0"/>
              <a:t>2026/06/24</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31106B-2C50-4EAD-99A9-66BB052CE524}" type="slidenum">
              <a:rPr lang="en-ZA" smtClean="0"/>
              <a:t>‹#›</a:t>
            </a:fld>
            <a:endParaRPr lang="en-ZA"/>
          </a:p>
        </p:txBody>
      </p:sp>
    </p:spTree>
    <p:extLst>
      <p:ext uri="{BB962C8B-B14F-4D97-AF65-F5344CB8AC3E}">
        <p14:creationId xmlns:p14="http://schemas.microsoft.com/office/powerpoint/2010/main" val="904275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AA50B-C1F8-FB5F-2090-5EC2142B48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E9254D-8EE5-7818-1117-07A3A40E81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D26CCE-BF89-E540-7876-0C31B8DFA9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A516E1-300A-92D4-0F02-54F1E445A0C1}"/>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8841056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93C35-D9F9-A8D8-74F2-07E843B2A9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CDCC94-79A8-B108-E11E-19A96C3A8F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5EF860-DB3D-CFFB-0D24-5683494C96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4D3D18-6A05-FB9C-6815-475C3A9CA9D6}"/>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4330676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56834-6158-1160-6D94-AFAE0F5D8C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987AF9-FA49-6C2A-624C-4F4506B0FF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F03DF7-E5E1-0242-2A11-A72E04D68E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289606-81D1-E269-AB19-C31234584F88}"/>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8367684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1CA2D-DE78-05BB-01DB-27FD257B86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2A15A6-A154-BE7B-B404-88C39EE172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3EEF30-5E32-F4C7-FB43-A69F444D83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CF996D-CC5D-226C-CEF5-91721D45B1FA}"/>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6748234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B83B1-B15C-6A0A-AF11-5A858D6C83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5729C0-EFE4-99CC-5361-E566E1BA06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05C586-54FD-65F6-89E0-385432EFDB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A86DFF-51B9-84D3-DEAE-6D6D209CBC63}"/>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298791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2CD0C-AA13-DAA5-2822-532A3849AE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3045CF-6A0D-31DF-D57D-D4A2992918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7C47E0-AC06-125E-DC55-CC972AD758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3E6DA0-E8D4-0FE7-5581-A3701CB98B6F}"/>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938073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4ADBC-6F9E-EE3C-EEA6-890B6864CF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E12C64-525F-0619-2125-AAC0F392A3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C40FD3-16E6-21F0-860D-7FDAEE13A1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EFD405-C01D-2385-0003-81B9324DCD77}"/>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6233255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AE3ED-82B0-5FF0-392B-DE2AE5B31B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499A1E-087F-1EDB-3C33-5D7E1DEB20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0B842F-376E-F228-FF3E-540A96864E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592A9D-53E9-AB58-5208-20F6272BE38A}"/>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4889422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53949-AC8C-646F-B565-85A8D1231E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20080B-BE46-BF38-1523-005BE50335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1CD4CB-1BEE-9B39-C793-81899B0B36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6B4B8F-3B93-205D-1756-A79C7D3A4EB9}"/>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2152440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D7761-2E9A-2112-B926-AA3253DD61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DE4E1E-8A35-7986-8266-EE1CCE32F2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36DA72-2981-0CE2-353A-68AE43CA55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2C4082-7CF7-651B-4EC6-21ED836934FB}"/>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8001806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8C2F7-FE6D-59B6-A79E-344427B4C7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FD0DA1-3016-11EF-BC64-800DD315CA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16183F-6EDE-5CE1-FC03-B2782B676A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600987-C8AB-761F-8BC2-12DA82B7AE50}"/>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043707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6184A-09A4-B86A-AA9D-2EC50E0E7A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2A7646-7900-F3A9-B402-ED03154AEC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F717D7-3EF6-C6B0-E1F1-5851B274FE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1A9C47-F52F-682A-0E14-755242BDF2D0}"/>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29909071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50DED-A29E-B2E0-41E3-3FCAB0BE6E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7930A4-3C98-DCFC-C3E9-016C8E712A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5B1489-2F5F-14A0-D69A-EC69A35832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A26C65-3499-8781-C1FF-378837595F32}"/>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41707013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7C95F-E918-98A0-EBC1-0B9332E59E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23BFD6-76B9-4309-3BA1-4C6C91F3AF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6E65FC-0B3A-D4AE-0187-2674753D1D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3C50BF-E911-6A07-89D7-371210476FDC}"/>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23536194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19781-F8CD-69C4-530C-CA694E7164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6C8B1A-F8E7-906E-02EC-AA5852CE4A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A007D0-0E11-B315-0AEE-22993A0863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C25E14-E0E6-C583-B252-75F27CD57CF8}"/>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33787727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2E63A-099E-71F0-1CC8-3EB5C34C47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5FECB2-EAF5-A6B3-3F8E-CB7278EE10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63EAA3-9B44-8663-15A1-D77ACDEFFC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D8B95D-8E34-B151-398B-650833B22FD8}"/>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25860721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949BB-8895-D988-AB1E-913F7F6D64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A4C095-7E3F-C9CD-21D4-A18A6BE8D7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64AF9-0985-E0B0-90C6-0A4BB4CE96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EEBF4A-38A8-0C8B-818D-7FCFDF4B8FC7}"/>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4068116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1A6A1-6FF8-EE01-0930-2BA0072EA1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496D5D-3B86-545E-2CDB-05D4F2D5F1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7C78D-D8E4-F908-E32C-E3C2C8C72B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804D3F-6020-181D-A9AC-582F28A2C5D8}"/>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26270211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A3216-40F2-F114-1163-3BD2C9C6FE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162D9B-0F8F-C455-D1D0-287EC45486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C682D5-2471-BCF3-A47E-84D23AFB1C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6E3391-4910-3691-1E9C-A5B389559AA2}"/>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69617767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EE7E6-8BA1-FDBC-55C9-6F772F3CF1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DE8F31-6027-9D6D-29D1-BDD004B218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971BF7-84DD-ACF3-5848-CEDBA82285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321850-9F38-B90D-CC40-EC677D98E742}"/>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6919939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4BB21-291A-2E10-9D69-8874A4449F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701A47-C7D7-0624-B9C0-DF4C16F8E5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7A3B0B-4B53-C7CF-9D68-2ED32C8B1E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7AF226-51F7-DE1A-6CE8-0E018CD7FAA0}"/>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37718160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A87AB-0463-EEB7-512B-85EFA7BE37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756CE2-73B8-7DFE-9FA6-7B3180D56D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B38CA6-7763-A3A2-3470-BD155FF3EB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A8DE5E-725F-1C64-AFFB-8C0F4DBC7601}"/>
              </a:ext>
            </a:extLst>
          </p:cNvPr>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23701489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7A526-15BD-D381-E2B8-5ABA239BCE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CD9201-9429-985B-7614-E88367F417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BDF741-71FA-CE9C-7EAE-BC9F90E902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88C489-590D-11F0-D28D-017E1456B00D}"/>
              </a:ext>
            </a:extLst>
          </p:cNvPr>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334043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1C441-101F-C995-D5D8-1865A6F9E4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0A9076-5901-C434-54A0-789632AF6E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DB3855-AE99-3C8F-703B-7A2CE20CE2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C071A4-CA20-AFAE-419F-F7A2A05AB361}"/>
              </a:ext>
            </a:extLst>
          </p:cNvPr>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255134765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41A98-7F93-9B81-502B-BF132FE04B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29B9E2-7897-1538-E30F-0D1C3ED018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C7AA7C-29B1-25C2-30FF-A7A01190EA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F71909-EB18-F5D6-2668-1B9F2E824542}"/>
              </a:ext>
            </a:extLst>
          </p:cNvPr>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361382986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AB484-4AFC-FA97-8007-9DC75069AD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3DA5AB-16B9-70A0-0981-D5DE96FCE0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8EEC2F-8BC3-173E-DCA8-6B6C6F26F9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8084CF-31E7-BB70-4445-964D406B25B3}"/>
              </a:ext>
            </a:extLst>
          </p:cNvPr>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230933583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FCA4B-79EA-D9AC-7A04-4F2D7E89F7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2D8950-02B4-543E-6521-8ECD0202BD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A1ECBC-8888-2F35-D243-CECB1C2FD9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482674-ACD7-644F-5278-BA61E8703B01}"/>
              </a:ext>
            </a:extLst>
          </p:cNvPr>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57095159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6060B-A681-41FB-A108-2CF86B167D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35A4FD-AB7F-90D0-7077-23EC0F37DA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89B92A-F509-217E-E896-878D026003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72082B-0035-698D-DF06-1D4962266874}"/>
              </a:ext>
            </a:extLst>
          </p:cNvPr>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34529462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ED7B0-5336-EFCF-5BA6-B56D404874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927B2E-706F-E13E-9AFB-B9CB5BDF5D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D2CD67-25A7-90E6-B662-970AA3E805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491106-D2D2-05BF-FCA3-DF7D5210A685}"/>
              </a:ext>
            </a:extLst>
          </p:cNvPr>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43665218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C0294-76ED-49D1-DBCE-39D187D03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A50BFD-BFC0-A765-881A-52BCC87734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20FB14-2456-E9D9-D3A6-1487AC31E3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A4073B-32F5-D9D5-97E7-E89FF0E58599}"/>
              </a:ext>
            </a:extLst>
          </p:cNvPr>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8187355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959D9-1791-6C2B-93EE-AF2EEE7286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D4AB80-7A03-028E-3E0A-BE2A1FBDC5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112C41-54D4-1C16-127B-B42BE9AF9C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225F75-C2C3-67C5-36FF-4DBF76D51CFB}"/>
              </a:ext>
            </a:extLst>
          </p:cNvPr>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8697098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C0DE3-FB34-17A1-0237-7D27BEAEE6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97CE0E-AE10-4347-8F9E-BDF9BBACCA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35EF99-08DE-061E-2474-A7BFEEC32A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512606-26C0-5857-D2D7-C3CE84FF5344}"/>
              </a:ext>
            </a:extLst>
          </p:cNvPr>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404898599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58A8D-6E3F-37AD-CFB9-39B2A0A02B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702212-A25B-B2A8-04CA-49DAA19BBE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D54D2A-D6FA-8311-84C9-2368A81993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44699EC-024A-FEB2-024A-5524D3EA6E24}"/>
              </a:ext>
            </a:extLst>
          </p:cNvPr>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71785244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FE6F5-15E3-16F0-61BC-A6433A2FA7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26C3F6-9ADD-DE5A-FEF4-21B0E88B85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89C1DA-3A43-B652-E31C-53CA784F0F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C5C1CF-24E7-F145-975C-4BB2B3C782FF}"/>
              </a:ext>
            </a:extLst>
          </p:cNvPr>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70924769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EE342-FD4C-6EA8-82AB-99D7E3B363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C30D8-87A5-FBF9-A47A-A174908A65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3E0117-25CF-DB00-556E-CB72781092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48B8F7-ABA1-3D8A-C538-10EB8901F27A}"/>
              </a:ext>
            </a:extLst>
          </p:cNvPr>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28443396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3B596F9-5707-46A5-8A68-4BEA380BFF85}"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3488975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3B596F9-5707-46A5-8A68-4BEA380BFF85}"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3900973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3B596F9-5707-46A5-8A68-4BEA380BFF85}"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2672582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3B596F9-5707-46A5-8A68-4BEA380BFF85}" type="datetimeFigureOut">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815907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3B596F9-5707-46A5-8A68-4BEA380BFF85}" type="datetimeFigureOut">
              <a:rPr lang="en-US" smtClean="0"/>
              <a:t>6/24/2026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27104791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3B596F9-5707-46A5-8A68-4BEA380BFF85}" type="datetimeFigureOut">
              <a:rPr lang="en-US" smtClean="0"/>
              <a:t>6/24/2026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826416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B596F9-5707-46A5-8A68-4BEA380BFF85}" type="datetimeFigureOut">
              <a:rPr lang="en-US" smtClean="0"/>
              <a:t>6/24/2026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3574846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3B596F9-5707-46A5-8A68-4BEA380BFF85}" type="datetimeFigureOut">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6477840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3B596F9-5707-46A5-8A68-4BEA380BFF85}" type="datetimeFigureOut">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28381475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3B596F9-5707-46A5-8A68-4BEA380BFF85}"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605231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3B596F9-5707-46A5-8A68-4BEA380BFF85}"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18751591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95601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B596F9-5707-46A5-8A68-4BEA380BFF85}" type="datetimeFigureOut">
              <a:rPr lang="en-US" smtClean="0"/>
              <a:t>6/24/2026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3E498B-40D9-43BB-A4C0-6EA5CC57FDCC}" type="slidenum">
              <a:rPr lang="en-US" smtClean="0"/>
              <a:t>‹#›</a:t>
            </a:fld>
            <a:endParaRPr lang="en-US"/>
          </a:p>
        </p:txBody>
      </p:sp>
    </p:spTree>
    <p:extLst>
      <p:ext uri="{BB962C8B-B14F-4D97-AF65-F5344CB8AC3E}">
        <p14:creationId xmlns:p14="http://schemas.microsoft.com/office/powerpoint/2010/main" val="6555622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3.sv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3.sv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3.sv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svg"/></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svg"/></Relationships>
</file>

<file path=ppt/slides/_rels/slide3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9.xml"/><Relationship Id="rId1" Type="http://schemas.openxmlformats.org/officeDocument/2006/relationships/slideLayout" Target="../slideLayouts/slideLayout12.xml"/><Relationship Id="rId4" Type="http://schemas.openxmlformats.org/officeDocument/2006/relationships/image" Target="../media/image38.png"/></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90" y="-1"/>
            <a:ext cx="12319744" cy="6880359"/>
          </a:xfrm>
          <a:prstGeom prst="rect">
            <a:avLst/>
          </a:prstGeom>
        </p:spPr>
      </p:pic>
      <p:sp>
        <p:nvSpPr>
          <p:cNvPr id="2" name="Text 2">
            <a:extLst>
              <a:ext uri="{FF2B5EF4-FFF2-40B4-BE49-F238E27FC236}">
                <a16:creationId xmlns:a16="http://schemas.microsoft.com/office/drawing/2014/main" id="{EC0F8BC5-DDCC-4E96-479C-483747A17780}"/>
              </a:ext>
            </a:extLst>
          </p:cNvPr>
          <p:cNvSpPr/>
          <p:nvPr/>
        </p:nvSpPr>
        <p:spPr>
          <a:xfrm>
            <a:off x="457200" y="1234440"/>
            <a:ext cx="8229600" cy="1554480"/>
          </a:xfrm>
          <a:prstGeom prst="rect">
            <a:avLst/>
          </a:prstGeom>
          <a:noFill/>
          <a:ln/>
        </p:spPr>
        <p:txBody>
          <a:bodyPr wrap="square" rtlCol="0" anchor="ctr"/>
          <a:lstStyle/>
          <a:p>
            <a:pPr marL="0" indent="0" algn="ctr">
              <a:buNone/>
            </a:pPr>
            <a:r>
              <a:rPr lang="en-US" sz="4000" b="1" dirty="0">
                <a:solidFill>
                  <a:schemeClr val="accent1">
                    <a:lumMod val="50000"/>
                  </a:schemeClr>
                </a:solidFill>
                <a:latin typeface="Calibri" pitchFamily="34" charset="0"/>
                <a:ea typeface="Calibri" pitchFamily="34" charset="-122"/>
                <a:cs typeface="Calibri" pitchFamily="34" charset="-120"/>
              </a:rPr>
              <a:t>29</a:t>
            </a:r>
            <a:r>
              <a:rPr lang="en-US" sz="4000" b="1" baseline="30000" dirty="0">
                <a:solidFill>
                  <a:schemeClr val="accent1">
                    <a:lumMod val="50000"/>
                  </a:schemeClr>
                </a:solidFill>
                <a:latin typeface="Calibri" pitchFamily="34" charset="0"/>
                <a:ea typeface="Calibri" pitchFamily="34" charset="-122"/>
                <a:cs typeface="Calibri" pitchFamily="34" charset="-120"/>
              </a:rPr>
              <a:t>th</a:t>
            </a:r>
            <a:r>
              <a:rPr lang="en-US" sz="4000" b="1" dirty="0">
                <a:solidFill>
                  <a:schemeClr val="accent1">
                    <a:lumMod val="50000"/>
                  </a:schemeClr>
                </a:solidFill>
                <a:latin typeface="Calibri" pitchFamily="34" charset="0"/>
                <a:ea typeface="Calibri" pitchFamily="34" charset="-122"/>
                <a:cs typeface="Calibri" pitchFamily="34" charset="-120"/>
              </a:rPr>
              <a:t> ANNUAL GENERAL</a:t>
            </a:r>
          </a:p>
          <a:p>
            <a:pPr marL="0" indent="0" algn="ctr">
              <a:buNone/>
            </a:pPr>
            <a:r>
              <a:rPr lang="en-US" sz="4000" b="1" dirty="0">
                <a:solidFill>
                  <a:schemeClr val="accent1">
                    <a:lumMod val="50000"/>
                  </a:schemeClr>
                </a:solidFill>
                <a:latin typeface="Calibri" pitchFamily="34" charset="0"/>
                <a:ea typeface="Calibri" pitchFamily="34" charset="-122"/>
                <a:cs typeface="Calibri" pitchFamily="34" charset="-120"/>
              </a:rPr>
              <a:t>MEETING</a:t>
            </a:r>
            <a:endParaRPr lang="en-US" sz="4000" dirty="0">
              <a:solidFill>
                <a:schemeClr val="accent1">
                  <a:lumMod val="50000"/>
                </a:schemeClr>
              </a:solidFill>
            </a:endParaRPr>
          </a:p>
        </p:txBody>
      </p:sp>
      <p:sp>
        <p:nvSpPr>
          <p:cNvPr id="4" name="Text 4">
            <a:extLst>
              <a:ext uri="{FF2B5EF4-FFF2-40B4-BE49-F238E27FC236}">
                <a16:creationId xmlns:a16="http://schemas.microsoft.com/office/drawing/2014/main" id="{0A0A6E28-CDC7-D0EA-4E56-94123E236D8E}"/>
              </a:ext>
            </a:extLst>
          </p:cNvPr>
          <p:cNvSpPr/>
          <p:nvPr/>
        </p:nvSpPr>
        <p:spPr>
          <a:xfrm>
            <a:off x="1087363" y="2788920"/>
            <a:ext cx="6494850" cy="685800"/>
          </a:xfrm>
          <a:prstGeom prst="rect">
            <a:avLst/>
          </a:prstGeom>
          <a:noFill/>
          <a:ln/>
        </p:spPr>
        <p:txBody>
          <a:bodyPr wrap="square" rtlCol="0" anchor="ctr"/>
          <a:lstStyle/>
          <a:p>
            <a:pPr marL="0" indent="0" algn="ctr">
              <a:buNone/>
            </a:pPr>
            <a:r>
              <a:rPr lang="en-US" sz="2000" b="1" dirty="0">
                <a:solidFill>
                  <a:srgbClr val="00B050"/>
                </a:solidFill>
                <a:latin typeface="Arial" panose="020B0604020202020204" pitchFamily="34" charset="0"/>
                <a:ea typeface="Calibri" pitchFamily="34" charset="-122"/>
                <a:cs typeface="Arial" panose="020B0604020202020204" pitchFamily="34" charset="0"/>
              </a:rPr>
              <a:t>ANNUAL REPORT PRESENTATION</a:t>
            </a:r>
            <a:endParaRPr lang="en-US" sz="2000" b="1" dirty="0">
              <a:solidFill>
                <a:srgbClr val="00B05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988926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3" name="Text 1"/>
          <p:cNvSpPr/>
          <p:nvPr/>
        </p:nvSpPr>
        <p:spPr>
          <a:xfrm>
            <a:off x="487680" y="89408"/>
            <a:ext cx="11216640" cy="670560"/>
          </a:xfrm>
          <a:prstGeom prst="rect">
            <a:avLst/>
          </a:prstGeom>
          <a:noFill/>
          <a:ln/>
        </p:spPr>
        <p:txBody>
          <a:bodyPr wrap="square" lIns="0" tIns="0" rIns="0" bIns="0" rtlCol="0" anchor="ctr"/>
          <a:lstStyle/>
          <a:p>
            <a:r>
              <a:rPr lang="en-US" sz="2667" b="1" dirty="0">
                <a:solidFill>
                  <a:schemeClr val="bg1"/>
                </a:solidFill>
                <a:latin typeface="Arial" panose="020B0604020202020204" pitchFamily="34" charset="0"/>
                <a:ea typeface="Calibri" pitchFamily="34" charset="-122"/>
                <a:cs typeface="Arial" panose="020B0604020202020204" pitchFamily="34" charset="0"/>
              </a:rPr>
              <a:t>PRESENTATION OVERVIEW</a:t>
            </a:r>
            <a:endParaRPr lang="en-US" sz="2667" dirty="0">
              <a:solidFill>
                <a:schemeClr val="bg1"/>
              </a:solidFill>
              <a:latin typeface="Arial" panose="020B0604020202020204" pitchFamily="34" charset="0"/>
              <a:cs typeface="Arial" panose="020B0604020202020204" pitchFamily="34" charset="0"/>
            </a:endParaRPr>
          </a:p>
        </p:txBody>
      </p:sp>
      <p:sp>
        <p:nvSpPr>
          <p:cNvPr id="5" name="Shape 3"/>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6" name="Shape 4"/>
          <p:cNvSpPr/>
          <p:nvPr/>
        </p:nvSpPr>
        <p:spPr>
          <a:xfrm>
            <a:off x="304800" y="1524000"/>
            <a:ext cx="5547360" cy="950976"/>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7" name="Shape 5"/>
          <p:cNvSpPr/>
          <p:nvPr/>
        </p:nvSpPr>
        <p:spPr>
          <a:xfrm>
            <a:off x="304800" y="1524000"/>
            <a:ext cx="670560" cy="950976"/>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8" name="Text 6"/>
          <p:cNvSpPr/>
          <p:nvPr/>
        </p:nvSpPr>
        <p:spPr>
          <a:xfrm>
            <a:off x="304800" y="1524000"/>
            <a:ext cx="670560" cy="950976"/>
          </a:xfrm>
          <a:prstGeom prst="rect">
            <a:avLst/>
          </a:prstGeom>
          <a:noFill/>
          <a:ln/>
        </p:spPr>
        <p:txBody>
          <a:bodyPr wrap="square" lIns="0" tIns="0" rIns="0" bIns="0" rtlCol="0" anchor="ctr"/>
          <a:lstStyle/>
          <a:p>
            <a:pPr algn="ctr"/>
            <a:r>
              <a:rPr lang="en-US" sz="1600" b="1" dirty="0">
                <a:latin typeface="Arial" panose="020B0604020202020204" pitchFamily="34" charset="0"/>
                <a:ea typeface="Calibri" pitchFamily="34" charset="-122"/>
                <a:cs typeface="Arial" panose="020B0604020202020204" pitchFamily="34" charset="0"/>
              </a:rPr>
              <a:t>01</a:t>
            </a:r>
            <a:endParaRPr lang="en-US" sz="1600" dirty="0">
              <a:latin typeface="Arial" panose="020B0604020202020204" pitchFamily="34" charset="0"/>
              <a:cs typeface="Arial" panose="020B0604020202020204" pitchFamily="34" charset="0"/>
            </a:endParaRPr>
          </a:p>
        </p:txBody>
      </p:sp>
      <p:sp>
        <p:nvSpPr>
          <p:cNvPr id="9" name="Text 7"/>
          <p:cNvSpPr/>
          <p:nvPr/>
        </p:nvSpPr>
        <p:spPr>
          <a:xfrm>
            <a:off x="1074420" y="1755648"/>
            <a:ext cx="4632960" cy="426720"/>
          </a:xfrm>
          <a:prstGeom prst="rect">
            <a:avLst/>
          </a:prstGeom>
          <a:noFill/>
          <a:ln/>
        </p:spPr>
        <p:txBody>
          <a:bodyPr wrap="square" lIns="0" tIns="0" rIns="0" bIns="0" rtlCol="0" anchor="ctr"/>
          <a:lstStyle/>
          <a:p>
            <a:r>
              <a:rPr lang="en-US" sz="1600" b="1" dirty="0">
                <a:latin typeface="Arial" panose="020B0604020202020204" pitchFamily="34" charset="0"/>
                <a:ea typeface="Calibri" pitchFamily="34" charset="-122"/>
                <a:cs typeface="Arial" panose="020B0604020202020204" pitchFamily="34" charset="0"/>
              </a:rPr>
              <a:t>Our Legislative Mandate</a:t>
            </a:r>
            <a:endParaRPr lang="en-US" sz="1600" dirty="0">
              <a:latin typeface="Arial" panose="020B0604020202020204" pitchFamily="34" charset="0"/>
              <a:cs typeface="Arial" panose="020B0604020202020204" pitchFamily="34" charset="0"/>
            </a:endParaRPr>
          </a:p>
        </p:txBody>
      </p:sp>
      <p:sp>
        <p:nvSpPr>
          <p:cNvPr id="11" name="Shape 9"/>
          <p:cNvSpPr/>
          <p:nvPr/>
        </p:nvSpPr>
        <p:spPr>
          <a:xfrm>
            <a:off x="6096000" y="1524000"/>
            <a:ext cx="5547360" cy="950976"/>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12" name="Shape 10"/>
          <p:cNvSpPr/>
          <p:nvPr/>
        </p:nvSpPr>
        <p:spPr>
          <a:xfrm>
            <a:off x="6096000" y="1524000"/>
            <a:ext cx="670560" cy="950976"/>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3" name="Text 11"/>
          <p:cNvSpPr/>
          <p:nvPr/>
        </p:nvSpPr>
        <p:spPr>
          <a:xfrm>
            <a:off x="6096000" y="1524000"/>
            <a:ext cx="670560" cy="950976"/>
          </a:xfrm>
          <a:prstGeom prst="rect">
            <a:avLst/>
          </a:prstGeom>
          <a:noFill/>
          <a:ln/>
        </p:spPr>
        <p:txBody>
          <a:bodyPr wrap="square" lIns="0" tIns="0" rIns="0" bIns="0" rtlCol="0" anchor="ctr"/>
          <a:lstStyle/>
          <a:p>
            <a:pPr algn="ctr"/>
            <a:r>
              <a:rPr lang="en-US" sz="1600" b="1" dirty="0">
                <a:latin typeface="Arial" panose="020B0604020202020204" pitchFamily="34" charset="0"/>
                <a:ea typeface="Calibri" pitchFamily="34" charset="-122"/>
                <a:cs typeface="Arial" panose="020B0604020202020204" pitchFamily="34" charset="0"/>
              </a:rPr>
              <a:t>02</a:t>
            </a:r>
            <a:endParaRPr lang="en-US" sz="1600" dirty="0">
              <a:latin typeface="Arial" panose="020B0604020202020204" pitchFamily="34" charset="0"/>
              <a:cs typeface="Arial" panose="020B0604020202020204" pitchFamily="34" charset="0"/>
            </a:endParaRPr>
          </a:p>
        </p:txBody>
      </p:sp>
      <p:sp>
        <p:nvSpPr>
          <p:cNvPr id="14" name="Text 12"/>
          <p:cNvSpPr/>
          <p:nvPr/>
        </p:nvSpPr>
        <p:spPr>
          <a:xfrm>
            <a:off x="6888480" y="1757172"/>
            <a:ext cx="4632960" cy="426720"/>
          </a:xfrm>
          <a:prstGeom prst="rect">
            <a:avLst/>
          </a:prstGeom>
          <a:noFill/>
          <a:ln/>
        </p:spPr>
        <p:txBody>
          <a:bodyPr wrap="square" lIns="0" tIns="0" rIns="0" bIns="0" rtlCol="0" anchor="ctr"/>
          <a:lstStyle/>
          <a:p>
            <a:r>
              <a:rPr lang="en-US" sz="1600" b="1" dirty="0">
                <a:latin typeface="Arial" panose="020B0604020202020204" pitchFamily="34" charset="0"/>
                <a:ea typeface="Calibri" pitchFamily="34" charset="-122"/>
                <a:cs typeface="Arial" panose="020B0604020202020204" pitchFamily="34" charset="0"/>
              </a:rPr>
              <a:t>Our Vision, Mission + Values</a:t>
            </a:r>
            <a:endParaRPr lang="en-US" sz="1600" dirty="0">
              <a:latin typeface="Arial" panose="020B0604020202020204" pitchFamily="34" charset="0"/>
              <a:cs typeface="Arial" panose="020B0604020202020204" pitchFamily="34" charset="0"/>
            </a:endParaRPr>
          </a:p>
        </p:txBody>
      </p:sp>
      <p:sp>
        <p:nvSpPr>
          <p:cNvPr id="16" name="Shape 14"/>
          <p:cNvSpPr/>
          <p:nvPr/>
        </p:nvSpPr>
        <p:spPr>
          <a:xfrm>
            <a:off x="304800" y="2743200"/>
            <a:ext cx="5547360" cy="950976"/>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17" name="Shape 15"/>
          <p:cNvSpPr/>
          <p:nvPr/>
        </p:nvSpPr>
        <p:spPr>
          <a:xfrm>
            <a:off x="304800" y="2743200"/>
            <a:ext cx="670560" cy="950976"/>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8" name="Text 16"/>
          <p:cNvSpPr/>
          <p:nvPr/>
        </p:nvSpPr>
        <p:spPr>
          <a:xfrm>
            <a:off x="304800" y="2743200"/>
            <a:ext cx="670560" cy="950976"/>
          </a:xfrm>
          <a:prstGeom prst="rect">
            <a:avLst/>
          </a:prstGeom>
          <a:noFill/>
          <a:ln/>
        </p:spPr>
        <p:txBody>
          <a:bodyPr wrap="square" lIns="0" tIns="0" rIns="0" bIns="0" rtlCol="0" anchor="ctr"/>
          <a:lstStyle/>
          <a:p>
            <a:pPr algn="ctr"/>
            <a:r>
              <a:rPr lang="en-US" sz="1600" b="1" dirty="0">
                <a:latin typeface="Arial" panose="020B0604020202020204" pitchFamily="34" charset="0"/>
                <a:ea typeface="Calibri" pitchFamily="34" charset="-122"/>
                <a:cs typeface="Arial" panose="020B0604020202020204" pitchFamily="34" charset="0"/>
              </a:rPr>
              <a:t>03</a:t>
            </a:r>
            <a:endParaRPr lang="en-US" sz="1600" dirty="0">
              <a:latin typeface="Arial" panose="020B0604020202020204" pitchFamily="34" charset="0"/>
              <a:cs typeface="Arial" panose="020B0604020202020204" pitchFamily="34" charset="0"/>
            </a:endParaRPr>
          </a:p>
        </p:txBody>
      </p:sp>
      <p:sp>
        <p:nvSpPr>
          <p:cNvPr id="19" name="Text 17"/>
          <p:cNvSpPr/>
          <p:nvPr/>
        </p:nvSpPr>
        <p:spPr>
          <a:xfrm>
            <a:off x="1089660" y="3020568"/>
            <a:ext cx="4632960" cy="426720"/>
          </a:xfrm>
          <a:prstGeom prst="rect">
            <a:avLst/>
          </a:prstGeom>
          <a:noFill/>
          <a:ln/>
        </p:spPr>
        <p:txBody>
          <a:bodyPr wrap="square" lIns="0" tIns="0" rIns="0" bIns="0" rtlCol="0" anchor="ctr"/>
          <a:lstStyle/>
          <a:p>
            <a:r>
              <a:rPr lang="en-US" sz="1600" b="1" dirty="0">
                <a:latin typeface="Arial" panose="020B0604020202020204" pitchFamily="34" charset="0"/>
                <a:ea typeface="Calibri" pitchFamily="34" charset="-122"/>
                <a:cs typeface="Arial" panose="020B0604020202020204" pitchFamily="34" charset="0"/>
              </a:rPr>
              <a:t>Our Strategy</a:t>
            </a:r>
            <a:endParaRPr lang="en-US" sz="1600" dirty="0">
              <a:latin typeface="Arial" panose="020B0604020202020204" pitchFamily="34" charset="0"/>
              <a:cs typeface="Arial" panose="020B0604020202020204" pitchFamily="34" charset="0"/>
            </a:endParaRPr>
          </a:p>
        </p:txBody>
      </p:sp>
      <p:sp>
        <p:nvSpPr>
          <p:cNvPr id="21" name="Shape 19"/>
          <p:cNvSpPr/>
          <p:nvPr/>
        </p:nvSpPr>
        <p:spPr>
          <a:xfrm>
            <a:off x="6096000" y="2743200"/>
            <a:ext cx="5547360" cy="950976"/>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22" name="Shape 20"/>
          <p:cNvSpPr/>
          <p:nvPr/>
        </p:nvSpPr>
        <p:spPr>
          <a:xfrm>
            <a:off x="6096000" y="2743200"/>
            <a:ext cx="670560" cy="950976"/>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23" name="Text 21"/>
          <p:cNvSpPr/>
          <p:nvPr/>
        </p:nvSpPr>
        <p:spPr>
          <a:xfrm>
            <a:off x="6096000" y="2743200"/>
            <a:ext cx="670560" cy="950976"/>
          </a:xfrm>
          <a:prstGeom prst="rect">
            <a:avLst/>
          </a:prstGeom>
          <a:noFill/>
          <a:ln/>
        </p:spPr>
        <p:txBody>
          <a:bodyPr wrap="square" lIns="0" tIns="0" rIns="0" bIns="0" rtlCol="0" anchor="ctr"/>
          <a:lstStyle/>
          <a:p>
            <a:pPr algn="ctr"/>
            <a:r>
              <a:rPr lang="en-US" sz="1600" b="1" dirty="0">
                <a:latin typeface="Arial" panose="020B0604020202020204" pitchFamily="34" charset="0"/>
                <a:ea typeface="Calibri" pitchFamily="34" charset="-122"/>
                <a:cs typeface="Arial" panose="020B0604020202020204" pitchFamily="34" charset="0"/>
              </a:rPr>
              <a:t>04</a:t>
            </a:r>
            <a:endParaRPr lang="en-US" sz="1600" dirty="0">
              <a:latin typeface="Arial" panose="020B0604020202020204" pitchFamily="34" charset="0"/>
              <a:cs typeface="Arial" panose="020B0604020202020204" pitchFamily="34" charset="0"/>
            </a:endParaRPr>
          </a:p>
        </p:txBody>
      </p:sp>
      <p:sp>
        <p:nvSpPr>
          <p:cNvPr id="24" name="Text 22"/>
          <p:cNvSpPr/>
          <p:nvPr/>
        </p:nvSpPr>
        <p:spPr>
          <a:xfrm>
            <a:off x="6888480" y="2997708"/>
            <a:ext cx="4632960" cy="426720"/>
          </a:xfrm>
          <a:prstGeom prst="rect">
            <a:avLst/>
          </a:prstGeom>
          <a:noFill/>
          <a:ln/>
        </p:spPr>
        <p:txBody>
          <a:bodyPr wrap="square" lIns="0" tIns="0" rIns="0" bIns="0" rtlCol="0" anchor="ctr"/>
          <a:lstStyle/>
          <a:p>
            <a:r>
              <a:rPr lang="en-US" sz="1600" b="1" dirty="0">
                <a:latin typeface="Arial" panose="020B0604020202020204" pitchFamily="34" charset="0"/>
                <a:ea typeface="Calibri" pitchFamily="34" charset="-122"/>
                <a:cs typeface="Arial" panose="020B0604020202020204" pitchFamily="34" charset="0"/>
              </a:rPr>
              <a:t>Our Organization at a Glance </a:t>
            </a:r>
            <a:endParaRPr lang="en-US" sz="1600" dirty="0">
              <a:latin typeface="Arial" panose="020B0604020202020204" pitchFamily="34" charset="0"/>
              <a:cs typeface="Arial" panose="020B0604020202020204" pitchFamily="34" charset="0"/>
            </a:endParaRPr>
          </a:p>
        </p:txBody>
      </p:sp>
      <p:sp>
        <p:nvSpPr>
          <p:cNvPr id="26" name="Shape 24"/>
          <p:cNvSpPr/>
          <p:nvPr/>
        </p:nvSpPr>
        <p:spPr>
          <a:xfrm>
            <a:off x="304800" y="3962400"/>
            <a:ext cx="5547360" cy="950976"/>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27" name="Shape 25"/>
          <p:cNvSpPr/>
          <p:nvPr/>
        </p:nvSpPr>
        <p:spPr>
          <a:xfrm>
            <a:off x="304800" y="3962400"/>
            <a:ext cx="670560" cy="950976"/>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28" name="Text 26"/>
          <p:cNvSpPr/>
          <p:nvPr/>
        </p:nvSpPr>
        <p:spPr>
          <a:xfrm>
            <a:off x="304800" y="3962400"/>
            <a:ext cx="670560" cy="950976"/>
          </a:xfrm>
          <a:prstGeom prst="rect">
            <a:avLst/>
          </a:prstGeom>
          <a:noFill/>
          <a:ln/>
        </p:spPr>
        <p:txBody>
          <a:bodyPr wrap="square" lIns="0" tIns="0" rIns="0" bIns="0" rtlCol="0" anchor="ctr"/>
          <a:lstStyle/>
          <a:p>
            <a:pPr algn="ctr"/>
            <a:r>
              <a:rPr lang="en-US" sz="1600" b="1" dirty="0">
                <a:latin typeface="Arial" panose="020B0604020202020204" pitchFamily="34" charset="0"/>
                <a:ea typeface="Calibri" pitchFamily="34" charset="-122"/>
                <a:cs typeface="Arial" panose="020B0604020202020204" pitchFamily="34" charset="0"/>
              </a:rPr>
              <a:t>05</a:t>
            </a:r>
            <a:endParaRPr lang="en-US" sz="1600" dirty="0">
              <a:latin typeface="Arial" panose="020B0604020202020204" pitchFamily="34" charset="0"/>
              <a:cs typeface="Arial" panose="020B0604020202020204" pitchFamily="34" charset="0"/>
            </a:endParaRPr>
          </a:p>
        </p:txBody>
      </p:sp>
      <p:sp>
        <p:nvSpPr>
          <p:cNvPr id="29" name="Text 27"/>
          <p:cNvSpPr/>
          <p:nvPr/>
        </p:nvSpPr>
        <p:spPr>
          <a:xfrm>
            <a:off x="1097280" y="4224528"/>
            <a:ext cx="4632960" cy="426720"/>
          </a:xfrm>
          <a:prstGeom prst="rect">
            <a:avLst/>
          </a:prstGeom>
          <a:noFill/>
          <a:ln/>
        </p:spPr>
        <p:txBody>
          <a:bodyPr wrap="square" lIns="0" tIns="0" rIns="0" bIns="0" rtlCol="0" anchor="ctr"/>
          <a:lstStyle/>
          <a:p>
            <a:r>
              <a:rPr lang="en-US" sz="1600" b="1" dirty="0">
                <a:latin typeface="Arial" panose="020B0604020202020204" pitchFamily="34" charset="0"/>
                <a:ea typeface="Calibri" pitchFamily="34" charset="-122"/>
                <a:cs typeface="Arial" panose="020B0604020202020204" pitchFamily="34" charset="0"/>
              </a:rPr>
              <a:t>Unit Report</a:t>
            </a:r>
            <a:endParaRPr lang="en-US" sz="1600" dirty="0">
              <a:latin typeface="Arial" panose="020B0604020202020204" pitchFamily="34" charset="0"/>
              <a:cs typeface="Arial" panose="020B0604020202020204" pitchFamily="34" charset="0"/>
            </a:endParaRPr>
          </a:p>
        </p:txBody>
      </p:sp>
      <p:sp>
        <p:nvSpPr>
          <p:cNvPr id="31" name="Shape 29"/>
          <p:cNvSpPr/>
          <p:nvPr/>
        </p:nvSpPr>
        <p:spPr>
          <a:xfrm>
            <a:off x="6096000" y="3962400"/>
            <a:ext cx="5547360" cy="950976"/>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32" name="Shape 30"/>
          <p:cNvSpPr/>
          <p:nvPr/>
        </p:nvSpPr>
        <p:spPr>
          <a:xfrm>
            <a:off x="6096000" y="3962400"/>
            <a:ext cx="670560" cy="950976"/>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33" name="Text 31"/>
          <p:cNvSpPr/>
          <p:nvPr/>
        </p:nvSpPr>
        <p:spPr>
          <a:xfrm>
            <a:off x="6096000" y="3962400"/>
            <a:ext cx="670560" cy="950976"/>
          </a:xfrm>
          <a:prstGeom prst="rect">
            <a:avLst/>
          </a:prstGeom>
          <a:noFill/>
          <a:ln/>
        </p:spPr>
        <p:txBody>
          <a:bodyPr wrap="square" lIns="0" tIns="0" rIns="0" bIns="0" rtlCol="0" anchor="ctr"/>
          <a:lstStyle/>
          <a:p>
            <a:pPr algn="ctr"/>
            <a:r>
              <a:rPr lang="en-US" sz="1600" b="1" dirty="0">
                <a:latin typeface="Arial" panose="020B0604020202020204" pitchFamily="34" charset="0"/>
                <a:ea typeface="Calibri" pitchFamily="34" charset="-122"/>
                <a:cs typeface="Arial" panose="020B0604020202020204" pitchFamily="34" charset="0"/>
              </a:rPr>
              <a:t>06</a:t>
            </a:r>
            <a:endParaRPr lang="en-US" sz="1600" dirty="0">
              <a:latin typeface="Arial" panose="020B0604020202020204" pitchFamily="34" charset="0"/>
              <a:cs typeface="Arial" panose="020B0604020202020204" pitchFamily="34" charset="0"/>
            </a:endParaRPr>
          </a:p>
        </p:txBody>
      </p:sp>
      <p:sp>
        <p:nvSpPr>
          <p:cNvPr id="34" name="Text 32"/>
          <p:cNvSpPr/>
          <p:nvPr/>
        </p:nvSpPr>
        <p:spPr>
          <a:xfrm>
            <a:off x="6888480" y="4227576"/>
            <a:ext cx="4632960" cy="426720"/>
          </a:xfrm>
          <a:prstGeom prst="rect">
            <a:avLst/>
          </a:prstGeom>
          <a:noFill/>
          <a:ln/>
        </p:spPr>
        <p:txBody>
          <a:bodyPr wrap="square" lIns="0" tIns="0" rIns="0" bIns="0" rtlCol="0" anchor="ctr"/>
          <a:lstStyle/>
          <a:p>
            <a:r>
              <a:rPr lang="en-US" sz="1600" b="1" dirty="0">
                <a:latin typeface="Arial" panose="020B0604020202020204" pitchFamily="34" charset="0"/>
                <a:ea typeface="Calibri" pitchFamily="34" charset="-122"/>
                <a:cs typeface="Arial" panose="020B0604020202020204" pitchFamily="34" charset="0"/>
              </a:rPr>
              <a:t>The Year Ahead</a:t>
            </a:r>
            <a:endParaRPr lang="en-US" sz="1600" dirty="0">
              <a:latin typeface="Arial" panose="020B0604020202020204" pitchFamily="34" charset="0"/>
              <a:cs typeface="Arial" panose="020B0604020202020204" pitchFamily="34" charset="0"/>
            </a:endParaRPr>
          </a:p>
        </p:txBody>
      </p:sp>
      <p:sp>
        <p:nvSpPr>
          <p:cNvPr id="36" name="Shape 34"/>
          <p:cNvSpPr/>
          <p:nvPr/>
        </p:nvSpPr>
        <p:spPr>
          <a:xfrm>
            <a:off x="304800" y="5181600"/>
            <a:ext cx="5547360" cy="950976"/>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37" name="Shape 35"/>
          <p:cNvSpPr/>
          <p:nvPr/>
        </p:nvSpPr>
        <p:spPr>
          <a:xfrm>
            <a:off x="304800" y="5181600"/>
            <a:ext cx="670560" cy="950976"/>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38" name="Text 36"/>
          <p:cNvSpPr/>
          <p:nvPr/>
        </p:nvSpPr>
        <p:spPr>
          <a:xfrm>
            <a:off x="304800" y="5181600"/>
            <a:ext cx="670560" cy="950976"/>
          </a:xfrm>
          <a:prstGeom prst="rect">
            <a:avLst/>
          </a:prstGeom>
          <a:noFill/>
          <a:ln/>
        </p:spPr>
        <p:txBody>
          <a:bodyPr wrap="square" lIns="0" tIns="0" rIns="0" bIns="0" rtlCol="0" anchor="ctr"/>
          <a:lstStyle/>
          <a:p>
            <a:pPr algn="ctr"/>
            <a:r>
              <a:rPr lang="en-US" sz="1600" b="1" dirty="0">
                <a:latin typeface="Arial" panose="020B0604020202020204" pitchFamily="34" charset="0"/>
                <a:ea typeface="Calibri" pitchFamily="34" charset="-122"/>
                <a:cs typeface="Arial" panose="020B0604020202020204" pitchFamily="34" charset="0"/>
              </a:rPr>
              <a:t>07</a:t>
            </a:r>
            <a:endParaRPr lang="en-US" sz="1600" dirty="0">
              <a:latin typeface="Arial" panose="020B0604020202020204" pitchFamily="34" charset="0"/>
              <a:cs typeface="Arial" panose="020B0604020202020204" pitchFamily="34" charset="0"/>
            </a:endParaRPr>
          </a:p>
        </p:txBody>
      </p:sp>
      <p:sp>
        <p:nvSpPr>
          <p:cNvPr id="39" name="Text 37"/>
          <p:cNvSpPr/>
          <p:nvPr/>
        </p:nvSpPr>
        <p:spPr>
          <a:xfrm>
            <a:off x="1089660" y="5443728"/>
            <a:ext cx="4632960" cy="426720"/>
          </a:xfrm>
          <a:prstGeom prst="rect">
            <a:avLst/>
          </a:prstGeom>
          <a:noFill/>
          <a:ln/>
        </p:spPr>
        <p:txBody>
          <a:bodyPr wrap="square" lIns="0" tIns="0" rIns="0" bIns="0" rtlCol="0" anchor="ctr"/>
          <a:lstStyle/>
          <a:p>
            <a:r>
              <a:rPr lang="en-US" sz="1600" b="1" dirty="0">
                <a:latin typeface="Arial" panose="020B0604020202020204" pitchFamily="34" charset="0"/>
                <a:ea typeface="Calibri" pitchFamily="34" charset="-122"/>
                <a:cs typeface="Arial" panose="020B0604020202020204" pitchFamily="34" charset="0"/>
              </a:rPr>
              <a:t>Acknowledgements</a:t>
            </a:r>
            <a:endParaRPr lang="en-US" sz="1600" dirty="0">
              <a:latin typeface="Arial" panose="020B0604020202020204" pitchFamily="34" charset="0"/>
              <a:cs typeface="Arial" panose="020B0604020202020204" pitchFamily="34" charset="0"/>
            </a:endParaRPr>
          </a:p>
        </p:txBody>
      </p:sp>
      <p:sp>
        <p:nvSpPr>
          <p:cNvPr id="42" name="Text 31">
            <a:extLst>
              <a:ext uri="{FF2B5EF4-FFF2-40B4-BE49-F238E27FC236}">
                <a16:creationId xmlns:a16="http://schemas.microsoft.com/office/drawing/2014/main" id="{BF4A71AE-041E-1C0C-9892-2433B2CE462D}"/>
              </a:ext>
            </a:extLst>
          </p:cNvPr>
          <p:cNvSpPr/>
          <p:nvPr/>
        </p:nvSpPr>
        <p:spPr>
          <a:xfrm>
            <a:off x="6106160" y="5147056"/>
            <a:ext cx="670560" cy="950976"/>
          </a:xfrm>
          <a:prstGeom prst="rect">
            <a:avLst/>
          </a:prstGeom>
          <a:noFill/>
          <a:ln/>
        </p:spPr>
        <p:txBody>
          <a:bodyPr wrap="square" lIns="0" tIns="0" rIns="0" bIns="0" rtlCol="0" anchor="ctr"/>
          <a:lstStyle/>
          <a:p>
            <a:pPr algn="ctr"/>
            <a:endParaRPr lang="en-US" sz="1600" dirty="0">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3" name="Text 1"/>
          <p:cNvSpPr/>
          <p:nvPr/>
        </p:nvSpPr>
        <p:spPr>
          <a:xfrm>
            <a:off x="487680" y="121920"/>
            <a:ext cx="11216640" cy="670560"/>
          </a:xfrm>
          <a:prstGeom prst="rect">
            <a:avLst/>
          </a:prstGeom>
          <a:noFill/>
          <a:ln/>
        </p:spPr>
        <p:txBody>
          <a:bodyPr wrap="square" lIns="0" tIns="0" rIns="0" bIns="0" rtlCol="0" anchor="ctr"/>
          <a:lstStyle/>
          <a:p>
            <a:r>
              <a:rPr lang="en-ZA" sz="2800" b="1" dirty="0">
                <a:solidFill>
                  <a:schemeClr val="bg1"/>
                </a:solidFill>
                <a:latin typeface="Arial" panose="020B0604020202020204" pitchFamily="34" charset="0"/>
                <a:cs typeface="Arial" panose="020B0604020202020204" pitchFamily="34" charset="0"/>
              </a:rPr>
              <a:t>OUR LEGISLATIVE MANDATE</a:t>
            </a:r>
            <a:endParaRPr lang="en-US" sz="2667" dirty="0">
              <a:solidFill>
                <a:schemeClr val="bg1"/>
              </a:solidFill>
              <a:latin typeface="Arial" panose="020B0604020202020204" pitchFamily="34" charset="0"/>
              <a:cs typeface="Arial" panose="020B0604020202020204" pitchFamily="34" charset="0"/>
            </a:endParaRPr>
          </a:p>
        </p:txBody>
      </p:sp>
      <p:sp>
        <p:nvSpPr>
          <p:cNvPr id="4" name="Text 2"/>
          <p:cNvSpPr/>
          <p:nvPr/>
        </p:nvSpPr>
        <p:spPr>
          <a:xfrm>
            <a:off x="487680" y="755904"/>
            <a:ext cx="11216640" cy="487680"/>
          </a:xfrm>
          <a:prstGeom prst="rect">
            <a:avLst/>
          </a:prstGeom>
          <a:noFill/>
          <a:ln/>
        </p:spPr>
        <p:txBody>
          <a:bodyPr wrap="square" lIns="0" tIns="0" rIns="0" bIns="0" rtlCol="0" anchor="ctr"/>
          <a:lstStyle/>
          <a:p>
            <a:pPr lvl="0">
              <a:lnSpc>
                <a:spcPct val="150000"/>
              </a:lnSpc>
              <a:defRPr/>
            </a:pPr>
            <a:r>
              <a:rPr lang="en-ZA" sz="1600" kern="0" dirty="0">
                <a:solidFill>
                  <a:prstClr val="white"/>
                </a:solidFill>
                <a:latin typeface="Arial" panose="020B0604020202020204" pitchFamily="34" charset="0"/>
                <a:cs typeface="Arial" panose="020B0604020202020204" pitchFamily="34" charset="0"/>
              </a:rPr>
              <a:t>As per Section 37 of the LRA , the PSCBC’s mandate is to deal with matters that: </a:t>
            </a:r>
          </a:p>
        </p:txBody>
      </p:sp>
      <p:sp>
        <p:nvSpPr>
          <p:cNvPr id="5" name="Shape 3"/>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6" name="Shape 4"/>
          <p:cNvSpPr/>
          <p:nvPr/>
        </p:nvSpPr>
        <p:spPr>
          <a:xfrm>
            <a:off x="365760" y="1524000"/>
            <a:ext cx="11338560" cy="4693920"/>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7" name="Shape 5"/>
          <p:cNvSpPr/>
          <p:nvPr/>
        </p:nvSpPr>
        <p:spPr>
          <a:xfrm>
            <a:off x="365760" y="1524000"/>
            <a:ext cx="85344" cy="4693920"/>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8" name="Text 6"/>
          <p:cNvSpPr/>
          <p:nvPr/>
        </p:nvSpPr>
        <p:spPr>
          <a:xfrm>
            <a:off x="609600" y="1645920"/>
            <a:ext cx="6461760" cy="487680"/>
          </a:xfrm>
          <a:prstGeom prst="rect">
            <a:avLst/>
          </a:prstGeom>
          <a:noFill/>
          <a:ln/>
        </p:spPr>
        <p:txBody>
          <a:bodyPr wrap="square" lIns="0" tIns="0" rIns="0" bIns="0" rtlCol="0" anchor="ctr"/>
          <a:lstStyle/>
          <a:p>
            <a:r>
              <a:rPr lang="en-US" sz="1600" b="1" dirty="0">
                <a:solidFill>
                  <a:srgbClr val="1A3A5C"/>
                </a:solidFill>
                <a:latin typeface="Arial" panose="020B0604020202020204" pitchFamily="34" charset="0"/>
                <a:ea typeface="Calibri" pitchFamily="34" charset="-122"/>
                <a:cs typeface="Arial" panose="020B0604020202020204" pitchFamily="34" charset="0"/>
              </a:rPr>
              <a:t>The Challenge Facing Public Servants</a:t>
            </a:r>
            <a:endParaRPr lang="en-US" sz="1600" dirty="0">
              <a:latin typeface="Arial" panose="020B0604020202020204" pitchFamily="34" charset="0"/>
              <a:cs typeface="Arial" panose="020B0604020202020204" pitchFamily="34" charset="0"/>
            </a:endParaRPr>
          </a:p>
        </p:txBody>
      </p:sp>
      <p:sp>
        <p:nvSpPr>
          <p:cNvPr id="9" name="Text 7"/>
          <p:cNvSpPr/>
          <p:nvPr/>
        </p:nvSpPr>
        <p:spPr>
          <a:xfrm>
            <a:off x="487680" y="1645920"/>
            <a:ext cx="6461760" cy="3779520"/>
          </a:xfrm>
          <a:prstGeom prst="rect">
            <a:avLst/>
          </a:prstGeom>
          <a:noFill/>
          <a:ln/>
        </p:spPr>
        <p:txBody>
          <a:bodyPr wrap="square" rtlCol="0" anchor="ctr"/>
          <a:lstStyle/>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Are regulated by uniform rules, norms and standards that apply across the Public Service; </a:t>
            </a:r>
          </a:p>
          <a:p>
            <a:pPr marL="285750" indent="-285750">
              <a:buFont typeface="Arial" panose="020B0604020202020204" pitchFamily="34" charset="0"/>
              <a:buChar char="•"/>
            </a:pPr>
            <a:endParaRPr lang="en-GB"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Apply to terms and conditions that apply to two or more Sectors; and</a:t>
            </a:r>
          </a:p>
          <a:p>
            <a:pPr marL="285750" indent="-285750">
              <a:buFont typeface="Arial" panose="020B0604020202020204" pitchFamily="34" charset="0"/>
              <a:buChar char="•"/>
            </a:pPr>
            <a:endParaRPr lang="en-GB"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Are assigned to the State as Employer in respect of the Public Service and that are not assigned to the State as Employer in any other Sector.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D3363-3182-0CD3-9F2F-ADCE17C8567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E6592F3-34C3-7381-FA8D-CF0E330182EF}"/>
              </a:ext>
            </a:extLst>
          </p:cNvPr>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5E58D093-9062-6BE0-0124-CCE3AA909BA0}"/>
              </a:ext>
            </a:extLst>
          </p:cNvPr>
          <p:cNvSpPr/>
          <p:nvPr/>
        </p:nvSpPr>
        <p:spPr>
          <a:xfrm>
            <a:off x="335280" y="521823"/>
            <a:ext cx="11216640" cy="670560"/>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4" name="Text 2">
            <a:extLst>
              <a:ext uri="{FF2B5EF4-FFF2-40B4-BE49-F238E27FC236}">
                <a16:creationId xmlns:a16="http://schemas.microsoft.com/office/drawing/2014/main" id="{1A864B66-6FD1-F077-E8D0-18D41C38F39C}"/>
              </a:ext>
            </a:extLst>
          </p:cNvPr>
          <p:cNvSpPr/>
          <p:nvPr/>
        </p:nvSpPr>
        <p:spPr>
          <a:xfrm>
            <a:off x="341376" y="142876"/>
            <a:ext cx="11216640" cy="487680"/>
          </a:xfrm>
          <a:prstGeom prst="rect">
            <a:avLst/>
          </a:prstGeom>
          <a:noFill/>
          <a:ln/>
        </p:spPr>
        <p:txBody>
          <a:bodyPr wrap="square" lIns="0" tIns="0" rIns="0" bIns="0" rtlCol="0" anchor="ctr"/>
          <a:lstStyle/>
          <a:p>
            <a:r>
              <a:rPr lang="en-US" sz="2400" b="1" dirty="0">
                <a:solidFill>
                  <a:schemeClr val="bg1"/>
                </a:solidFill>
                <a:latin typeface="Arial" panose="020B0604020202020204" pitchFamily="34" charset="0"/>
                <a:cs typeface="Arial" panose="020B0604020202020204" pitchFamily="34" charset="0"/>
              </a:rPr>
              <a:t>Our Vision, Mission &amp; Values </a:t>
            </a:r>
          </a:p>
        </p:txBody>
      </p:sp>
      <p:sp>
        <p:nvSpPr>
          <p:cNvPr id="5" name="Shape 3">
            <a:extLst>
              <a:ext uri="{FF2B5EF4-FFF2-40B4-BE49-F238E27FC236}">
                <a16:creationId xmlns:a16="http://schemas.microsoft.com/office/drawing/2014/main" id="{E4553C63-7F32-93D4-1349-740EBD26779B}"/>
              </a:ext>
            </a:extLst>
          </p:cNvPr>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3" name="Shape 11">
            <a:extLst>
              <a:ext uri="{FF2B5EF4-FFF2-40B4-BE49-F238E27FC236}">
                <a16:creationId xmlns:a16="http://schemas.microsoft.com/office/drawing/2014/main" id="{B8A1055E-FF27-EA65-73EC-CD91C5075313}"/>
              </a:ext>
            </a:extLst>
          </p:cNvPr>
          <p:cNvSpPr/>
          <p:nvPr/>
        </p:nvSpPr>
        <p:spPr>
          <a:xfrm>
            <a:off x="335279" y="3373216"/>
            <a:ext cx="3136849" cy="2255520"/>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14" name="Shape 12">
            <a:extLst>
              <a:ext uri="{FF2B5EF4-FFF2-40B4-BE49-F238E27FC236}">
                <a16:creationId xmlns:a16="http://schemas.microsoft.com/office/drawing/2014/main" id="{129B1985-2BB6-BF99-A53B-CE06C93B8955}"/>
              </a:ext>
            </a:extLst>
          </p:cNvPr>
          <p:cNvSpPr/>
          <p:nvPr/>
        </p:nvSpPr>
        <p:spPr>
          <a:xfrm>
            <a:off x="365759" y="2051684"/>
            <a:ext cx="3098103" cy="1386460"/>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6" name="Text 14">
            <a:extLst>
              <a:ext uri="{FF2B5EF4-FFF2-40B4-BE49-F238E27FC236}">
                <a16:creationId xmlns:a16="http://schemas.microsoft.com/office/drawing/2014/main" id="{5047F8FB-79D6-C86C-6E1F-EFA772EE2BBB}"/>
              </a:ext>
            </a:extLst>
          </p:cNvPr>
          <p:cNvSpPr/>
          <p:nvPr/>
        </p:nvSpPr>
        <p:spPr>
          <a:xfrm>
            <a:off x="1085087" y="2481562"/>
            <a:ext cx="1832773" cy="487680"/>
          </a:xfrm>
          <a:prstGeom prst="rect">
            <a:avLst/>
          </a:prstGeom>
          <a:noFill/>
          <a:ln/>
        </p:spPr>
        <p:txBody>
          <a:bodyPr wrap="square" lIns="0" tIns="0" rIns="0" bIns="0" rtlCol="0" anchor="ctr"/>
          <a:lstStyle/>
          <a:p>
            <a:r>
              <a:rPr lang="en-US" sz="1600" b="1" dirty="0">
                <a:solidFill>
                  <a:srgbClr val="FFFFFF"/>
                </a:solidFill>
                <a:latin typeface="Arial" panose="020B0604020202020204" pitchFamily="34" charset="0"/>
                <a:ea typeface="Calibri" pitchFamily="34" charset="-122"/>
                <a:cs typeface="Arial" panose="020B0604020202020204" pitchFamily="34" charset="0"/>
              </a:rPr>
              <a:t>OUR VISION</a:t>
            </a:r>
          </a:p>
        </p:txBody>
      </p:sp>
      <p:sp>
        <p:nvSpPr>
          <p:cNvPr id="17" name="Text 15">
            <a:extLst>
              <a:ext uri="{FF2B5EF4-FFF2-40B4-BE49-F238E27FC236}">
                <a16:creationId xmlns:a16="http://schemas.microsoft.com/office/drawing/2014/main" id="{5C12AC37-74DC-C53B-19A5-76F5674F979E}"/>
              </a:ext>
            </a:extLst>
          </p:cNvPr>
          <p:cNvSpPr/>
          <p:nvPr/>
        </p:nvSpPr>
        <p:spPr>
          <a:xfrm>
            <a:off x="393770" y="3570296"/>
            <a:ext cx="3098102" cy="2084343"/>
          </a:xfrm>
          <a:prstGeom prst="rect">
            <a:avLst/>
          </a:prstGeom>
          <a:noFill/>
          <a:ln/>
        </p:spPr>
        <p:txBody>
          <a:bodyPr wrap="square" rtlCol="0" anchor="ctr"/>
          <a:lstStyle/>
          <a:p>
            <a:r>
              <a:rPr lang="en-GB" sz="1600" dirty="0">
                <a:solidFill>
                  <a:schemeClr val="tx1">
                    <a:lumMod val="85000"/>
                    <a:lumOff val="15000"/>
                  </a:schemeClr>
                </a:solidFill>
                <a:latin typeface="Arial" panose="020B0604020202020204" pitchFamily="34" charset="0"/>
                <a:cs typeface="Arial" panose="020B0604020202020204" pitchFamily="34" charset="0"/>
              </a:rPr>
              <a:t>A credible, inclusive, and future-ready bargaining council that promotes social dialogue, good governance, workforce well-being, and sustainable outcomes for </a:t>
            </a:r>
          </a:p>
          <a:p>
            <a:r>
              <a:rPr lang="en-GB" sz="1600" dirty="0">
                <a:solidFill>
                  <a:schemeClr val="tx1">
                    <a:lumMod val="85000"/>
                    <a:lumOff val="15000"/>
                  </a:schemeClr>
                </a:solidFill>
                <a:latin typeface="Arial" panose="020B0604020202020204" pitchFamily="34" charset="0"/>
                <a:cs typeface="Arial" panose="020B0604020202020204" pitchFamily="34" charset="0"/>
              </a:rPr>
              <a:t>public servants</a:t>
            </a:r>
            <a:endParaRPr lang="en-ZA" sz="1600" dirty="0">
              <a:solidFill>
                <a:schemeClr val="tx1">
                  <a:lumMod val="85000"/>
                  <a:lumOff val="15000"/>
                </a:schemeClr>
              </a:solidFill>
              <a:latin typeface="Arial" panose="020B0604020202020204" pitchFamily="34" charset="0"/>
              <a:cs typeface="Arial" panose="020B0604020202020204" pitchFamily="34" charset="0"/>
            </a:endParaRPr>
          </a:p>
        </p:txBody>
      </p:sp>
      <p:sp>
        <p:nvSpPr>
          <p:cNvPr id="18" name="Shape 16">
            <a:extLst>
              <a:ext uri="{FF2B5EF4-FFF2-40B4-BE49-F238E27FC236}">
                <a16:creationId xmlns:a16="http://schemas.microsoft.com/office/drawing/2014/main" id="{A3C47D10-B39C-BAB8-8800-D2A3EDA9D572}"/>
              </a:ext>
            </a:extLst>
          </p:cNvPr>
          <p:cNvSpPr/>
          <p:nvPr/>
        </p:nvSpPr>
        <p:spPr>
          <a:xfrm>
            <a:off x="3791728" y="3399119"/>
            <a:ext cx="3476405" cy="2255520"/>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19" name="Shape 17">
            <a:extLst>
              <a:ext uri="{FF2B5EF4-FFF2-40B4-BE49-F238E27FC236}">
                <a16:creationId xmlns:a16="http://schemas.microsoft.com/office/drawing/2014/main" id="{7ED160EF-835B-4675-8D79-74756214CAAC}"/>
              </a:ext>
            </a:extLst>
          </p:cNvPr>
          <p:cNvSpPr/>
          <p:nvPr/>
        </p:nvSpPr>
        <p:spPr>
          <a:xfrm>
            <a:off x="3799994" y="2041655"/>
            <a:ext cx="3476403" cy="1370785"/>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21" name="Text 19">
            <a:extLst>
              <a:ext uri="{FF2B5EF4-FFF2-40B4-BE49-F238E27FC236}">
                <a16:creationId xmlns:a16="http://schemas.microsoft.com/office/drawing/2014/main" id="{40D13CFE-B22B-ED4A-B398-BA4D972D7877}"/>
              </a:ext>
            </a:extLst>
          </p:cNvPr>
          <p:cNvSpPr/>
          <p:nvPr/>
        </p:nvSpPr>
        <p:spPr>
          <a:xfrm>
            <a:off x="3725691" y="2106978"/>
            <a:ext cx="3476404" cy="1386460"/>
          </a:xfrm>
          <a:prstGeom prst="rect">
            <a:avLst/>
          </a:prstGeom>
          <a:noFill/>
          <a:ln/>
        </p:spPr>
        <p:txBody>
          <a:bodyPr wrap="square" lIns="0" tIns="0" rIns="0" bIns="0" rtlCol="0" anchor="ctr"/>
          <a:lstStyle/>
          <a:p>
            <a:pPr algn="ctr"/>
            <a:r>
              <a:rPr lang="en-US" sz="1600" b="1" dirty="0">
                <a:solidFill>
                  <a:srgbClr val="FFFFFF"/>
                </a:solidFill>
                <a:latin typeface="Arial" panose="020B0604020202020204" pitchFamily="34" charset="0"/>
                <a:ea typeface="Calibri" pitchFamily="34" charset="-122"/>
                <a:cs typeface="Arial" panose="020B0604020202020204" pitchFamily="34" charset="0"/>
              </a:rPr>
              <a:t>OUR MISSION</a:t>
            </a:r>
          </a:p>
        </p:txBody>
      </p:sp>
      <p:sp>
        <p:nvSpPr>
          <p:cNvPr id="22" name="Text 20">
            <a:extLst>
              <a:ext uri="{FF2B5EF4-FFF2-40B4-BE49-F238E27FC236}">
                <a16:creationId xmlns:a16="http://schemas.microsoft.com/office/drawing/2014/main" id="{E2F9FE48-8A21-1426-A8A5-B493173B4380}"/>
              </a:ext>
            </a:extLst>
          </p:cNvPr>
          <p:cNvSpPr/>
          <p:nvPr/>
        </p:nvSpPr>
        <p:spPr>
          <a:xfrm>
            <a:off x="3983062" y="3705296"/>
            <a:ext cx="3219033" cy="1718153"/>
          </a:xfrm>
          <a:prstGeom prst="rect">
            <a:avLst/>
          </a:prstGeom>
          <a:noFill/>
          <a:ln/>
        </p:spPr>
        <p:txBody>
          <a:bodyPr wrap="square" rtlCol="0" anchor="ctr"/>
          <a:lstStyle/>
          <a:p>
            <a:r>
              <a:rPr lang="en-GB" sz="1600" dirty="0">
                <a:latin typeface="Arial" panose="020B0604020202020204" pitchFamily="34" charset="0"/>
                <a:cs typeface="Arial" panose="020B0604020202020204" pitchFamily="34" charset="0"/>
              </a:rPr>
              <a:t>To provide a stable and trusted platform for collective bargaining and dispute management in the public service by strengthening sustainable outcomes through </a:t>
            </a:r>
          </a:p>
          <a:p>
            <a:r>
              <a:rPr lang="en-GB" sz="1600" dirty="0">
                <a:latin typeface="Arial" panose="020B0604020202020204" pitchFamily="34" charset="0"/>
                <a:cs typeface="Arial" panose="020B0604020202020204" pitchFamily="34" charset="0"/>
              </a:rPr>
              <a:t>meaningful social dialogue.</a:t>
            </a:r>
            <a:endParaRPr lang="en-ZA" sz="1600" dirty="0">
              <a:latin typeface="Arial" panose="020B0604020202020204" pitchFamily="34" charset="0"/>
              <a:cs typeface="Arial" panose="020B0604020202020204" pitchFamily="34" charset="0"/>
            </a:endParaRPr>
          </a:p>
        </p:txBody>
      </p:sp>
      <p:sp>
        <p:nvSpPr>
          <p:cNvPr id="23" name="Shape 21">
            <a:extLst>
              <a:ext uri="{FF2B5EF4-FFF2-40B4-BE49-F238E27FC236}">
                <a16:creationId xmlns:a16="http://schemas.microsoft.com/office/drawing/2014/main" id="{6D4BD52F-5556-5921-CD99-1F69EF463372}"/>
              </a:ext>
            </a:extLst>
          </p:cNvPr>
          <p:cNvSpPr/>
          <p:nvPr/>
        </p:nvSpPr>
        <p:spPr>
          <a:xfrm>
            <a:off x="7852031" y="3357074"/>
            <a:ext cx="3588588" cy="2339611"/>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24" name="Shape 22">
            <a:extLst>
              <a:ext uri="{FF2B5EF4-FFF2-40B4-BE49-F238E27FC236}">
                <a16:creationId xmlns:a16="http://schemas.microsoft.com/office/drawing/2014/main" id="{459DF6EF-4C48-5A25-FD90-2B27857911C7}"/>
              </a:ext>
            </a:extLst>
          </p:cNvPr>
          <p:cNvSpPr/>
          <p:nvPr/>
        </p:nvSpPr>
        <p:spPr>
          <a:xfrm>
            <a:off x="7849960" y="1970749"/>
            <a:ext cx="3588587" cy="1370786"/>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26" name="Text 24">
            <a:extLst>
              <a:ext uri="{FF2B5EF4-FFF2-40B4-BE49-F238E27FC236}">
                <a16:creationId xmlns:a16="http://schemas.microsoft.com/office/drawing/2014/main" id="{6043413F-481A-B319-9A11-59EB7A6357A7}"/>
              </a:ext>
            </a:extLst>
          </p:cNvPr>
          <p:cNvSpPr/>
          <p:nvPr/>
        </p:nvSpPr>
        <p:spPr>
          <a:xfrm>
            <a:off x="8527651" y="2481562"/>
            <a:ext cx="2048256" cy="487680"/>
          </a:xfrm>
          <a:prstGeom prst="rect">
            <a:avLst/>
          </a:prstGeom>
          <a:noFill/>
          <a:ln/>
        </p:spPr>
        <p:txBody>
          <a:bodyPr wrap="square" lIns="0" tIns="0" rIns="0" bIns="0" rtlCol="0" anchor="ctr"/>
          <a:lstStyle/>
          <a:p>
            <a:r>
              <a:rPr lang="en-ZA" sz="1600" b="1" dirty="0">
                <a:solidFill>
                  <a:schemeClr val="accent5">
                    <a:lumMod val="50000"/>
                  </a:schemeClr>
                </a:solidFill>
                <a:latin typeface="Arial" panose="020B0604020202020204" pitchFamily="34" charset="0"/>
                <a:cs typeface="Arial" panose="020B0604020202020204" pitchFamily="34" charset="0"/>
              </a:rPr>
              <a:t>OUR CORE VALUES</a:t>
            </a:r>
          </a:p>
        </p:txBody>
      </p:sp>
      <p:sp>
        <p:nvSpPr>
          <p:cNvPr id="27" name="Text 25">
            <a:extLst>
              <a:ext uri="{FF2B5EF4-FFF2-40B4-BE49-F238E27FC236}">
                <a16:creationId xmlns:a16="http://schemas.microsoft.com/office/drawing/2014/main" id="{49D00168-A493-57C9-9BA6-8208C26A343B}"/>
              </a:ext>
            </a:extLst>
          </p:cNvPr>
          <p:cNvSpPr/>
          <p:nvPr/>
        </p:nvSpPr>
        <p:spPr>
          <a:xfrm>
            <a:off x="8527651" y="3552725"/>
            <a:ext cx="2438400" cy="1896501"/>
          </a:xfrm>
          <a:prstGeom prst="rect">
            <a:avLst/>
          </a:prstGeom>
          <a:noFill/>
          <a:ln/>
        </p:spPr>
        <p:txBody>
          <a:bodyPr wrap="square" rtlCol="0" anchor="ctr"/>
          <a:lstStyle/>
          <a:p>
            <a:pPr marL="285750" indent="-285750">
              <a:lnSpc>
                <a:spcPct val="150000"/>
              </a:lnSpc>
              <a:buFont typeface="Arial" panose="020B0604020202020204" pitchFamily="34" charset="0"/>
              <a:buChar char="•"/>
            </a:pPr>
            <a:r>
              <a:rPr lang="en-GB" sz="1600" dirty="0">
                <a:latin typeface="Arial" panose="020B0604020202020204" pitchFamily="34" charset="0"/>
                <a:cs typeface="Arial" panose="020B0604020202020204" pitchFamily="34" charset="0"/>
              </a:rPr>
              <a:t>Inclusivity </a:t>
            </a:r>
          </a:p>
          <a:p>
            <a:pPr marL="285750" indent="-285750">
              <a:lnSpc>
                <a:spcPct val="150000"/>
              </a:lnSpc>
              <a:buFont typeface="Arial" panose="020B0604020202020204" pitchFamily="34" charset="0"/>
              <a:buChar char="•"/>
            </a:pPr>
            <a:r>
              <a:rPr lang="en-GB" sz="1600" dirty="0">
                <a:latin typeface="Arial" panose="020B0604020202020204" pitchFamily="34" charset="0"/>
                <a:cs typeface="Arial" panose="020B0604020202020204" pitchFamily="34" charset="0"/>
              </a:rPr>
              <a:t>Integrity </a:t>
            </a:r>
          </a:p>
          <a:p>
            <a:pPr marL="285750" indent="-285750">
              <a:lnSpc>
                <a:spcPct val="150000"/>
              </a:lnSpc>
              <a:buFont typeface="Arial" panose="020B0604020202020204" pitchFamily="34" charset="0"/>
              <a:buChar char="•"/>
            </a:pPr>
            <a:r>
              <a:rPr lang="en-GB" sz="1600" dirty="0">
                <a:latin typeface="Arial" panose="020B0604020202020204" pitchFamily="34" charset="0"/>
                <a:cs typeface="Arial" panose="020B0604020202020204" pitchFamily="34" charset="0"/>
              </a:rPr>
              <a:t>Fairness </a:t>
            </a:r>
          </a:p>
          <a:p>
            <a:pPr marL="285750" indent="-285750">
              <a:lnSpc>
                <a:spcPct val="150000"/>
              </a:lnSpc>
              <a:buFont typeface="Arial" panose="020B0604020202020204" pitchFamily="34" charset="0"/>
              <a:buChar char="•"/>
            </a:pPr>
            <a:r>
              <a:rPr lang="en-GB" sz="1600" dirty="0">
                <a:latin typeface="Arial" panose="020B0604020202020204" pitchFamily="34" charset="0"/>
                <a:cs typeface="Arial" panose="020B0604020202020204" pitchFamily="34" charset="0"/>
              </a:rPr>
              <a:t>Excellence </a:t>
            </a:r>
          </a:p>
          <a:p>
            <a:pPr marL="285750" indent="-285750">
              <a:lnSpc>
                <a:spcPct val="150000"/>
              </a:lnSpc>
              <a:buFont typeface="Arial" panose="020B0604020202020204" pitchFamily="34" charset="0"/>
              <a:buChar char="•"/>
            </a:pPr>
            <a:r>
              <a:rPr lang="en-GB" sz="1600" dirty="0">
                <a:latin typeface="Arial" panose="020B0604020202020204" pitchFamily="34" charset="0"/>
                <a:cs typeface="Arial" panose="020B0604020202020204" pitchFamily="34" charset="0"/>
              </a:rPr>
              <a:t>Collaboration </a:t>
            </a:r>
          </a:p>
        </p:txBody>
      </p:sp>
    </p:spTree>
    <p:extLst>
      <p:ext uri="{BB962C8B-B14F-4D97-AF65-F5344CB8AC3E}">
        <p14:creationId xmlns:p14="http://schemas.microsoft.com/office/powerpoint/2010/main" val="9803261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3" name="Text 1"/>
          <p:cNvSpPr/>
          <p:nvPr/>
        </p:nvSpPr>
        <p:spPr>
          <a:xfrm>
            <a:off x="365760" y="518160"/>
            <a:ext cx="11216640" cy="670560"/>
          </a:xfrm>
          <a:prstGeom prst="rect">
            <a:avLst/>
          </a:prstGeom>
          <a:noFill/>
          <a:ln/>
        </p:spPr>
        <p:txBody>
          <a:bodyPr wrap="square" lIns="0" tIns="0" rIns="0" bIns="0" rtlCol="0" anchor="ctr"/>
          <a:lstStyle/>
          <a:p>
            <a:r>
              <a:rPr lang="en-US" sz="1600" dirty="0">
                <a:solidFill>
                  <a:schemeClr val="bg1"/>
                </a:solidFill>
                <a:latin typeface="Arial"/>
              </a:rPr>
              <a:t>STRATEGIC OBJECTIVES </a:t>
            </a:r>
            <a:endParaRPr lang="en-ZA" sz="1600" dirty="0">
              <a:solidFill>
                <a:schemeClr val="bg1"/>
              </a:solidFill>
              <a:latin typeface="Arial"/>
            </a:endParaRPr>
          </a:p>
          <a:p>
            <a:endParaRPr lang="en-US" sz="1600" dirty="0">
              <a:latin typeface="Arial" panose="020B0604020202020204" pitchFamily="34" charset="0"/>
              <a:cs typeface="Arial" panose="020B0604020202020204" pitchFamily="34" charset="0"/>
            </a:endParaRPr>
          </a:p>
        </p:txBody>
      </p:sp>
      <p:sp>
        <p:nvSpPr>
          <p:cNvPr id="4" name="Text 2"/>
          <p:cNvSpPr/>
          <p:nvPr/>
        </p:nvSpPr>
        <p:spPr>
          <a:xfrm>
            <a:off x="365760" y="152400"/>
            <a:ext cx="11216640" cy="487680"/>
          </a:xfrm>
          <a:prstGeom prst="rect">
            <a:avLst/>
          </a:prstGeom>
          <a:noFill/>
          <a:ln/>
        </p:spPr>
        <p:txBody>
          <a:bodyPr wrap="square" lIns="0" tIns="0" rIns="0" bIns="0" rtlCol="0" anchor="ctr"/>
          <a:lstStyle/>
          <a:p>
            <a:r>
              <a:rPr lang="en-GB" sz="2400" b="1" dirty="0">
                <a:solidFill>
                  <a:schemeClr val="bg1"/>
                </a:solidFill>
                <a:latin typeface="Arial" panose="020B0604020202020204" pitchFamily="34" charset="0"/>
                <a:cs typeface="Arial" panose="020B0604020202020204" pitchFamily="34" charset="0"/>
              </a:rPr>
              <a:t>Our Current Strategy is based on 4 Strategic Objectives </a:t>
            </a:r>
            <a:endParaRPr lang="en-US" sz="2400" b="1" dirty="0">
              <a:solidFill>
                <a:schemeClr val="bg1"/>
              </a:solidFill>
              <a:latin typeface="Arial" panose="020B0604020202020204" pitchFamily="34" charset="0"/>
              <a:cs typeface="Arial" panose="020B0604020202020204" pitchFamily="34" charset="0"/>
            </a:endParaRPr>
          </a:p>
        </p:txBody>
      </p:sp>
      <p:sp>
        <p:nvSpPr>
          <p:cNvPr id="5" name="Shape 3"/>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6" name="Shape 4"/>
          <p:cNvSpPr/>
          <p:nvPr/>
        </p:nvSpPr>
        <p:spPr>
          <a:xfrm>
            <a:off x="320057" y="1497161"/>
            <a:ext cx="2072640" cy="4693920"/>
          </a:xfrm>
          <a:prstGeom prst="rect">
            <a:avLst/>
          </a:prstGeom>
          <a:solidFill>
            <a:srgbClr val="1A3A5C"/>
          </a:solidFill>
          <a:ln w="12700">
            <a:solidFill>
              <a:srgbClr val="1A3A5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10" name="Shape 8"/>
          <p:cNvSpPr/>
          <p:nvPr/>
        </p:nvSpPr>
        <p:spPr>
          <a:xfrm>
            <a:off x="2682240" y="1524000"/>
            <a:ext cx="85344" cy="1402080"/>
          </a:xfrm>
          <a:prstGeom prst="rect">
            <a:avLst/>
          </a:prstGeom>
          <a:solidFill>
            <a:srgbClr val="006E7F"/>
          </a:solidFill>
          <a:ln w="12700">
            <a:solidFill>
              <a:srgbClr val="006E7F"/>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14" name="Shape 12"/>
          <p:cNvSpPr/>
          <p:nvPr/>
        </p:nvSpPr>
        <p:spPr>
          <a:xfrm>
            <a:off x="2682240" y="3048000"/>
            <a:ext cx="85344" cy="896407"/>
          </a:xfrm>
          <a:prstGeom prst="rect">
            <a:avLst/>
          </a:prstGeom>
          <a:solidFill>
            <a:srgbClr val="C9A03C"/>
          </a:solidFill>
          <a:ln w="12700">
            <a:solidFill>
              <a:srgbClr val="C9A03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18" name="Shape 16"/>
          <p:cNvSpPr/>
          <p:nvPr/>
        </p:nvSpPr>
        <p:spPr>
          <a:xfrm>
            <a:off x="2682240" y="4226347"/>
            <a:ext cx="85344" cy="858807"/>
          </a:xfrm>
          <a:prstGeom prst="rect">
            <a:avLst/>
          </a:prstGeom>
          <a:solidFill>
            <a:srgbClr val="1A3A5C"/>
          </a:solidFill>
          <a:ln w="12700">
            <a:solidFill>
              <a:srgbClr val="1A3A5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22" name="Rounded Rectangle 4">
            <a:extLst>
              <a:ext uri="{FF2B5EF4-FFF2-40B4-BE49-F238E27FC236}">
                <a16:creationId xmlns:a16="http://schemas.microsoft.com/office/drawing/2014/main" id="{3F6F92FA-A8D7-FA6E-52B3-685F1186F596}"/>
              </a:ext>
            </a:extLst>
          </p:cNvPr>
          <p:cNvSpPr txBox="1"/>
          <p:nvPr/>
        </p:nvSpPr>
        <p:spPr>
          <a:xfrm>
            <a:off x="2767584" y="1578057"/>
            <a:ext cx="8068039" cy="1386123"/>
          </a:xfrm>
          <a:prstGeom prst="rect">
            <a:avLst/>
          </a:prstGeom>
          <a:solidFill>
            <a:schemeClr val="bg1"/>
          </a:solidFill>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Clr>
                <a:srgbClr val="FFFFFF"/>
              </a:buClr>
              <a:buSzPct val="100000"/>
              <a:buFontTx/>
              <a:buNone/>
            </a:pPr>
            <a:r>
              <a:rPr kumimoji="0" lang="en-US" b="0" i="0" u="none" strike="noStrike" kern="1200" cap="none" spc="0" normalizeH="0" baseline="0" noProof="0" dirty="0">
                <a:ln/>
                <a:solidFill>
                  <a:schemeClr val="accent5">
                    <a:lumMod val="50000"/>
                  </a:schemeClr>
                </a:solidFill>
                <a:effectLst/>
                <a:uLnTx/>
                <a:uFillTx/>
                <a:latin typeface="Arial"/>
                <a:ea typeface="+mn-ea"/>
                <a:cs typeface="+mn-cs"/>
              </a:rPr>
              <a:t>Review structures and strengthen collective bargaining processes in the Public Service</a:t>
            </a:r>
            <a:endParaRPr lang="en-ZA" b="0" kern="1200" dirty="0">
              <a:solidFill>
                <a:schemeClr val="accent5">
                  <a:lumMod val="50000"/>
                </a:schemeClr>
              </a:solidFill>
            </a:endParaRPr>
          </a:p>
        </p:txBody>
      </p:sp>
      <p:sp>
        <p:nvSpPr>
          <p:cNvPr id="25" name="Rounded Rectangle 4">
            <a:extLst>
              <a:ext uri="{FF2B5EF4-FFF2-40B4-BE49-F238E27FC236}">
                <a16:creationId xmlns:a16="http://schemas.microsoft.com/office/drawing/2014/main" id="{1995C8D6-760F-AD03-4447-F7271013A304}"/>
              </a:ext>
            </a:extLst>
          </p:cNvPr>
          <p:cNvSpPr txBox="1"/>
          <p:nvPr/>
        </p:nvSpPr>
        <p:spPr>
          <a:xfrm>
            <a:off x="2767584" y="3055481"/>
            <a:ext cx="8311345" cy="1011346"/>
          </a:xfrm>
          <a:prstGeom prst="rect">
            <a:avLst/>
          </a:prstGeom>
          <a:solidFill>
            <a:schemeClr val="bg1"/>
          </a:solidFill>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Clr>
                <a:srgbClr val="FFFFFF"/>
              </a:buClr>
              <a:buSzPct val="100000"/>
              <a:buFontTx/>
              <a:buNone/>
            </a:pPr>
            <a:r>
              <a:rPr kumimoji="0" lang="en-US" b="0" i="0" u="none" strike="noStrike" kern="1200" cap="none" spc="0" normalizeH="0" baseline="0" noProof="0" dirty="0">
                <a:ln/>
                <a:solidFill>
                  <a:schemeClr val="accent5">
                    <a:lumMod val="50000"/>
                  </a:schemeClr>
                </a:solidFill>
                <a:effectLst/>
                <a:uLnTx/>
                <a:uFillTx/>
                <a:latin typeface="Arial"/>
                <a:ea typeface="+mn-ea"/>
                <a:cs typeface="+mn-cs"/>
              </a:rPr>
              <a:t>Monitor, evaluate &amp; ensure compliance with collective agreements </a:t>
            </a:r>
            <a:endParaRPr lang="en-ZA" b="0" kern="1200" dirty="0">
              <a:solidFill>
                <a:schemeClr val="accent5">
                  <a:lumMod val="50000"/>
                </a:schemeClr>
              </a:solidFill>
            </a:endParaRPr>
          </a:p>
        </p:txBody>
      </p:sp>
      <p:grpSp>
        <p:nvGrpSpPr>
          <p:cNvPr id="26" name="Group 25">
            <a:extLst>
              <a:ext uri="{FF2B5EF4-FFF2-40B4-BE49-F238E27FC236}">
                <a16:creationId xmlns:a16="http://schemas.microsoft.com/office/drawing/2014/main" id="{9E153669-1435-A0D9-DA7F-902B7CE62E0B}"/>
              </a:ext>
            </a:extLst>
          </p:cNvPr>
          <p:cNvGrpSpPr/>
          <p:nvPr/>
        </p:nvGrpSpPr>
        <p:grpSpPr>
          <a:xfrm>
            <a:off x="2767584" y="4226347"/>
            <a:ext cx="9381127" cy="893746"/>
            <a:chOff x="2082335" y="2600644"/>
            <a:chExt cx="10101072" cy="790497"/>
          </a:xfrm>
          <a:solidFill>
            <a:schemeClr val="bg1"/>
          </a:solidFill>
        </p:grpSpPr>
        <p:sp>
          <p:nvSpPr>
            <p:cNvPr id="27" name="Rounded Rectangle 26">
              <a:extLst>
                <a:ext uri="{FF2B5EF4-FFF2-40B4-BE49-F238E27FC236}">
                  <a16:creationId xmlns:a16="http://schemas.microsoft.com/office/drawing/2014/main" id="{650FC3FE-1E25-34AD-88B9-AB320C0BAE5E}"/>
                </a:ext>
              </a:extLst>
            </p:cNvPr>
            <p:cNvSpPr/>
            <p:nvPr/>
          </p:nvSpPr>
          <p:spPr>
            <a:xfrm>
              <a:off x="2082335" y="2600644"/>
              <a:ext cx="10101072" cy="790497"/>
            </a:xfrm>
            <a:prstGeom prst="roundRect">
              <a:avLst>
                <a:gd name="adj" fmla="val 10000"/>
              </a:avLst>
            </a:prstGeom>
            <a:grpFill/>
          </p:spPr>
          <p:style>
            <a:lnRef idx="0">
              <a:schemeClr val="lt1">
                <a:hueOff val="0"/>
                <a:satOff val="0"/>
                <a:lumOff val="0"/>
                <a:alphaOff val="0"/>
              </a:schemeClr>
            </a:lnRef>
            <a:fillRef idx="3">
              <a:scrgbClr r="0" g="0" b="0"/>
            </a:fillRef>
            <a:effectRef idx="3">
              <a:schemeClr val="accent5">
                <a:shade val="50000"/>
                <a:hueOff val="402493"/>
                <a:satOff val="-9802"/>
                <a:lumOff val="42896"/>
                <a:alphaOff val="0"/>
              </a:schemeClr>
            </a:effectRef>
            <a:fontRef idx="minor">
              <a:schemeClr val="lt1"/>
            </a:fontRef>
          </p:style>
          <p:txBody>
            <a:bodyPr/>
            <a:lstStyle/>
            <a:p>
              <a:endParaRPr lang="en-US" dirty="0"/>
            </a:p>
          </p:txBody>
        </p:sp>
        <p:sp>
          <p:nvSpPr>
            <p:cNvPr id="28" name="Rounded Rectangle 4">
              <a:extLst>
                <a:ext uri="{FF2B5EF4-FFF2-40B4-BE49-F238E27FC236}">
                  <a16:creationId xmlns:a16="http://schemas.microsoft.com/office/drawing/2014/main" id="{C57DD993-DD0B-B447-0986-96F8E50C45F2}"/>
                </a:ext>
              </a:extLst>
            </p:cNvPr>
            <p:cNvSpPr txBox="1"/>
            <p:nvPr/>
          </p:nvSpPr>
          <p:spPr>
            <a:xfrm>
              <a:off x="2161582" y="2672351"/>
              <a:ext cx="8152849" cy="689053"/>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Clr>
                  <a:srgbClr val="FFFFFF"/>
                </a:buClr>
                <a:buSzPct val="100000"/>
                <a:buFontTx/>
                <a:buNone/>
              </a:pPr>
              <a:r>
                <a:rPr kumimoji="0" lang="en-US" b="0" i="0" u="none" strike="noStrike" kern="1200" cap="none" spc="0" normalizeH="0" baseline="0" noProof="0" dirty="0">
                  <a:ln/>
                  <a:solidFill>
                    <a:schemeClr val="accent5">
                      <a:lumMod val="50000"/>
                    </a:schemeClr>
                  </a:solidFill>
                  <a:effectLst/>
                  <a:uLnTx/>
                  <a:uFillTx/>
                  <a:latin typeface="Arial"/>
                  <a:ea typeface="+mn-ea"/>
                  <a:cs typeface="+mn-cs"/>
                </a:rPr>
                <a:t>Develop &amp; implement a dispute prevention strategy that will encompass  capacity building of stakeholders &amp; enhance the dispute resolution procedure </a:t>
              </a:r>
              <a:endParaRPr lang="en-ZA" b="0" kern="1200" dirty="0">
                <a:solidFill>
                  <a:schemeClr val="accent5">
                    <a:lumMod val="50000"/>
                  </a:schemeClr>
                </a:solidFill>
              </a:endParaRPr>
            </a:p>
          </p:txBody>
        </p:sp>
      </p:grpSp>
      <p:grpSp>
        <p:nvGrpSpPr>
          <p:cNvPr id="29" name="Group 28">
            <a:extLst>
              <a:ext uri="{FF2B5EF4-FFF2-40B4-BE49-F238E27FC236}">
                <a16:creationId xmlns:a16="http://schemas.microsoft.com/office/drawing/2014/main" id="{F60DF4CE-483E-1C02-DC63-515BE3324D32}"/>
              </a:ext>
            </a:extLst>
          </p:cNvPr>
          <p:cNvGrpSpPr/>
          <p:nvPr/>
        </p:nvGrpSpPr>
        <p:grpSpPr>
          <a:xfrm>
            <a:off x="2760262" y="5340243"/>
            <a:ext cx="9395770" cy="896407"/>
            <a:chOff x="0" y="3337442"/>
            <a:chExt cx="10515600" cy="1011346"/>
          </a:xfrm>
          <a:solidFill>
            <a:schemeClr val="bg1"/>
          </a:solidFill>
        </p:grpSpPr>
        <p:sp>
          <p:nvSpPr>
            <p:cNvPr id="30" name="Rounded Rectangle 29">
              <a:extLst>
                <a:ext uri="{FF2B5EF4-FFF2-40B4-BE49-F238E27FC236}">
                  <a16:creationId xmlns:a16="http://schemas.microsoft.com/office/drawing/2014/main" id="{37949E78-FC5C-EF52-178F-0201057C5946}"/>
                </a:ext>
              </a:extLst>
            </p:cNvPr>
            <p:cNvSpPr/>
            <p:nvPr/>
          </p:nvSpPr>
          <p:spPr>
            <a:xfrm>
              <a:off x="0" y="3337442"/>
              <a:ext cx="10515600" cy="1011346"/>
            </a:xfrm>
            <a:prstGeom prst="roundRect">
              <a:avLst>
                <a:gd name="adj" fmla="val 10000"/>
              </a:avLst>
            </a:prstGeom>
            <a:grpFill/>
          </p:spPr>
          <p:style>
            <a:lnRef idx="0">
              <a:schemeClr val="lt1">
                <a:hueOff val="0"/>
                <a:satOff val="0"/>
                <a:lumOff val="0"/>
                <a:alphaOff val="0"/>
              </a:schemeClr>
            </a:lnRef>
            <a:fillRef idx="3">
              <a:scrgbClr r="0" g="0" b="0"/>
            </a:fillRef>
            <a:effectRef idx="3">
              <a:schemeClr val="accent5">
                <a:shade val="50000"/>
                <a:hueOff val="201247"/>
                <a:satOff val="-4901"/>
                <a:lumOff val="21448"/>
                <a:alphaOff val="0"/>
              </a:schemeClr>
            </a:effectRef>
            <a:fontRef idx="minor">
              <a:schemeClr val="lt1"/>
            </a:fontRef>
          </p:style>
          <p:txBody>
            <a:bodyPr/>
            <a:lstStyle/>
            <a:p>
              <a:endParaRPr lang="en-US" dirty="0"/>
            </a:p>
          </p:txBody>
        </p:sp>
        <p:sp>
          <p:nvSpPr>
            <p:cNvPr id="31" name="Rounded Rectangle 4">
              <a:extLst>
                <a:ext uri="{FF2B5EF4-FFF2-40B4-BE49-F238E27FC236}">
                  <a16:creationId xmlns:a16="http://schemas.microsoft.com/office/drawing/2014/main" id="{8B12077A-9B0A-32AD-C06E-395AA102FBBC}"/>
                </a:ext>
              </a:extLst>
            </p:cNvPr>
            <p:cNvSpPr txBox="1"/>
            <p:nvPr/>
          </p:nvSpPr>
          <p:spPr>
            <a:xfrm>
              <a:off x="2204254" y="3337442"/>
              <a:ext cx="8311345" cy="1011346"/>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Clr>
                  <a:srgbClr val="FFFFFF"/>
                </a:buClr>
                <a:buSzPct val="100000"/>
                <a:buFontTx/>
                <a:buNone/>
              </a:pPr>
              <a:endParaRPr lang="en-ZA" sz="2100" b="0" kern="1200" dirty="0">
                <a:solidFill>
                  <a:schemeClr val="bg1"/>
                </a:solidFill>
              </a:endParaRPr>
            </a:p>
          </p:txBody>
        </p:sp>
      </p:grpSp>
      <p:sp>
        <p:nvSpPr>
          <p:cNvPr id="11" name="Shape 12">
            <a:extLst>
              <a:ext uri="{FF2B5EF4-FFF2-40B4-BE49-F238E27FC236}">
                <a16:creationId xmlns:a16="http://schemas.microsoft.com/office/drawing/2014/main" id="{5FD8E875-198E-E4C9-D5BF-193D739A3F09}"/>
              </a:ext>
            </a:extLst>
          </p:cNvPr>
          <p:cNvSpPr/>
          <p:nvPr/>
        </p:nvSpPr>
        <p:spPr>
          <a:xfrm>
            <a:off x="2682240" y="5367094"/>
            <a:ext cx="85344" cy="896407"/>
          </a:xfrm>
          <a:prstGeom prst="rect">
            <a:avLst/>
          </a:prstGeom>
          <a:solidFill>
            <a:srgbClr val="C9A03C"/>
          </a:solidFill>
          <a:ln w="12700">
            <a:solidFill>
              <a:srgbClr val="C9A03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23103EDF-9C2D-4F1B-88DD-1A30FC6F9CFE}"/>
              </a:ext>
            </a:extLst>
          </p:cNvPr>
          <p:cNvSpPr txBox="1"/>
          <p:nvPr/>
        </p:nvSpPr>
        <p:spPr>
          <a:xfrm>
            <a:off x="2890463" y="5485178"/>
            <a:ext cx="6411074" cy="646331"/>
          </a:xfrm>
          <a:prstGeom prst="rect">
            <a:avLst/>
          </a:prstGeom>
          <a:noFill/>
        </p:spPr>
        <p:txBody>
          <a:bodyPr wrap="square">
            <a:spAutoFit/>
          </a:bodyPr>
          <a:lstStyle/>
          <a:p>
            <a:r>
              <a:rPr lang="en-GB" dirty="0">
                <a:ln/>
                <a:solidFill>
                  <a:schemeClr val="accent5">
                    <a:lumMod val="50000"/>
                  </a:schemeClr>
                </a:solidFill>
                <a:latin typeface="Arial"/>
              </a:rPr>
              <a:t>Develop &amp; implement a research strategy within the organisation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3" name="Text 1"/>
          <p:cNvSpPr/>
          <p:nvPr/>
        </p:nvSpPr>
        <p:spPr>
          <a:xfrm>
            <a:off x="487680" y="121920"/>
            <a:ext cx="11216640" cy="670560"/>
          </a:xfrm>
          <a:prstGeom prst="rect">
            <a:avLst/>
          </a:prstGeom>
          <a:noFill/>
          <a:ln/>
        </p:spPr>
        <p:txBody>
          <a:bodyPr wrap="square" lIns="0" tIns="0" rIns="0" bIns="0" rtlCol="0" anchor="ctr"/>
          <a:lstStyle/>
          <a:p>
            <a:r>
              <a:rPr lang="en-ZA" sz="2800" b="1" dirty="0">
                <a:solidFill>
                  <a:schemeClr val="bg1"/>
                </a:solidFill>
                <a:latin typeface="Arial" panose="020B0604020202020204" pitchFamily="34" charset="0"/>
                <a:cs typeface="Arial" panose="020B0604020202020204" pitchFamily="34" charset="0"/>
              </a:rPr>
              <a:t>COLLECTIVE BARGAINING</a:t>
            </a:r>
          </a:p>
        </p:txBody>
      </p:sp>
      <p:sp>
        <p:nvSpPr>
          <p:cNvPr id="4" name="Text 2"/>
          <p:cNvSpPr/>
          <p:nvPr/>
        </p:nvSpPr>
        <p:spPr>
          <a:xfrm>
            <a:off x="487680" y="755904"/>
            <a:ext cx="11216640" cy="487680"/>
          </a:xfrm>
          <a:prstGeom prst="rect">
            <a:avLst/>
          </a:prstGeom>
          <a:noFill/>
          <a:ln/>
        </p:spPr>
        <p:txBody>
          <a:bodyPr wrap="square" lIns="0" tIns="0" rIns="0" bIns="0" rtlCol="0" anchor="ctr"/>
          <a:lstStyle/>
          <a:p>
            <a:endParaRPr lang="en-US" sz="1600" dirty="0">
              <a:solidFill>
                <a:schemeClr val="bg1"/>
              </a:solidFill>
              <a:latin typeface="Arial" panose="020B0604020202020204" pitchFamily="34" charset="0"/>
              <a:cs typeface="Arial" panose="020B0604020202020204" pitchFamily="34" charset="0"/>
            </a:endParaRPr>
          </a:p>
        </p:txBody>
      </p:sp>
      <p:sp>
        <p:nvSpPr>
          <p:cNvPr id="5" name="Shape 3"/>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2" name="Shape 10"/>
          <p:cNvSpPr/>
          <p:nvPr/>
        </p:nvSpPr>
        <p:spPr>
          <a:xfrm>
            <a:off x="365760" y="2560320"/>
            <a:ext cx="11460480" cy="3596640"/>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13" name="Shape 11"/>
          <p:cNvSpPr/>
          <p:nvPr/>
        </p:nvSpPr>
        <p:spPr>
          <a:xfrm>
            <a:off x="365760" y="2560320"/>
            <a:ext cx="11460480" cy="512064"/>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4" name="Text 12"/>
          <p:cNvSpPr/>
          <p:nvPr/>
        </p:nvSpPr>
        <p:spPr>
          <a:xfrm>
            <a:off x="4328160" y="2560320"/>
            <a:ext cx="3413760" cy="512064"/>
          </a:xfrm>
          <a:prstGeom prst="rect">
            <a:avLst/>
          </a:prstGeom>
          <a:noFill/>
          <a:ln/>
        </p:spPr>
        <p:txBody>
          <a:bodyPr wrap="square" lIns="0" tIns="0" rIns="0" bIns="0" rtlCol="0" anchor="ctr"/>
          <a:lstStyle/>
          <a:p>
            <a:pPr algn="ctr"/>
            <a:r>
              <a:rPr lang="en-US" sz="1600" b="1" dirty="0">
                <a:solidFill>
                  <a:srgbClr val="FFFFFF"/>
                </a:solidFill>
                <a:latin typeface="Arial" panose="020B0604020202020204" pitchFamily="34" charset="0"/>
                <a:ea typeface="Calibri" pitchFamily="34" charset="-122"/>
                <a:cs typeface="Arial" panose="020B0604020202020204" pitchFamily="34" charset="0"/>
              </a:rPr>
              <a:t>MANDATE</a:t>
            </a:r>
            <a:endParaRPr lang="en-US" sz="1600" dirty="0">
              <a:latin typeface="Arial" panose="020B0604020202020204" pitchFamily="34" charset="0"/>
              <a:cs typeface="Arial" panose="020B0604020202020204" pitchFamily="34" charset="0"/>
            </a:endParaRPr>
          </a:p>
        </p:txBody>
      </p:sp>
      <p:sp>
        <p:nvSpPr>
          <p:cNvPr id="15" name="Text 13"/>
          <p:cNvSpPr/>
          <p:nvPr/>
        </p:nvSpPr>
        <p:spPr>
          <a:xfrm>
            <a:off x="365760" y="3169920"/>
            <a:ext cx="11460480" cy="2865120"/>
          </a:xfrm>
          <a:prstGeom prst="rect">
            <a:avLst/>
          </a:prstGeom>
          <a:noFill/>
          <a:ln/>
        </p:spPr>
        <p:txBody>
          <a:bodyPr wrap="square" rtlCol="0" anchor="ctr"/>
          <a:lstStyle/>
          <a:p>
            <a:r>
              <a:rPr lang="en-ZA" dirty="0">
                <a:latin typeface="Arial" panose="020B0604020202020204" pitchFamily="34" charset="0"/>
                <a:cs typeface="Arial" panose="020B0604020202020204" pitchFamily="34" charset="0"/>
              </a:rPr>
              <a:t>To </a:t>
            </a:r>
            <a:r>
              <a:rPr lang="en-GB" kern="0" dirty="0">
                <a:latin typeface="Arial" panose="020B0604020202020204" pitchFamily="34" charset="0"/>
                <a:ea typeface="Times New Roman" panose="02020603050405020304" pitchFamily="18" charset="0"/>
                <a:cs typeface="Arial" panose="020B0604020202020204" pitchFamily="34" charset="0"/>
              </a:rPr>
              <a:t>provide effective and efficient platforms through which the structures of PSCBC (Council, Executive Committee and Provincial Co-ordinating Chambers) can bargain and conclude agreements on matters of mutual interest within the public service</a:t>
            </a:r>
            <a:r>
              <a:rPr lang="en-GB" sz="1600" kern="0" dirty="0">
                <a:latin typeface="Arial" panose="020B0604020202020204" pitchFamily="34" charset="0"/>
                <a:ea typeface="Times New Roman" panose="02020603050405020304" pitchFamily="18" charset="0"/>
                <a:cs typeface="Arial" panose="020B0604020202020204" pitchFamily="34" charset="0"/>
              </a:rPr>
              <a:t>.</a:t>
            </a:r>
          </a:p>
        </p:txBody>
      </p:sp>
      <p:pic>
        <p:nvPicPr>
          <p:cNvPr id="20" name="Graphic 19" descr="Badge Tick with solid fill">
            <a:extLst>
              <a:ext uri="{FF2B5EF4-FFF2-40B4-BE49-F238E27FC236}">
                <a16:creationId xmlns:a16="http://schemas.microsoft.com/office/drawing/2014/main" id="{9D84C5AC-96DB-D0EB-8469-82DE9FC3A0E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5760" y="2485139"/>
            <a:ext cx="654072" cy="662425"/>
          </a:xfrm>
          <a:prstGeom prst="rect">
            <a:avLst/>
          </a:prstGeom>
        </p:spPr>
      </p:pic>
      <p:pic>
        <p:nvPicPr>
          <p:cNvPr id="21" name="Graphic 20" descr="Handshake with solid fill">
            <a:extLst>
              <a:ext uri="{FF2B5EF4-FFF2-40B4-BE49-F238E27FC236}">
                <a16:creationId xmlns:a16="http://schemas.microsoft.com/office/drawing/2014/main" id="{8C781F3E-49F2-F4BA-0AEA-D016E09762F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316153" y="121920"/>
            <a:ext cx="532493" cy="612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3" name="Text 1"/>
          <p:cNvSpPr/>
          <p:nvPr/>
        </p:nvSpPr>
        <p:spPr>
          <a:xfrm>
            <a:off x="487680" y="121920"/>
            <a:ext cx="11216640" cy="670560"/>
          </a:xfrm>
          <a:prstGeom prst="rect">
            <a:avLst/>
          </a:prstGeom>
          <a:noFill/>
          <a:ln/>
        </p:spPr>
        <p:txBody>
          <a:bodyPr wrap="square" lIns="0" tIns="0" rIns="0" bIns="0" rtlCol="0" anchor="ctr"/>
          <a:lstStyle/>
          <a:p>
            <a:r>
              <a:rPr lang="en-ZA" sz="2800" b="1" dirty="0">
                <a:solidFill>
                  <a:schemeClr val="bg1"/>
                </a:solidFill>
                <a:latin typeface="Arial" panose="020B0604020202020204" pitchFamily="34" charset="0"/>
                <a:cs typeface="Arial" panose="020B0604020202020204" pitchFamily="34" charset="0"/>
              </a:rPr>
              <a:t>Council &amp; EXCO Meetings </a:t>
            </a:r>
            <a:endParaRPr lang="en-US" sz="2667" dirty="0">
              <a:solidFill>
                <a:schemeClr val="bg1"/>
              </a:solidFill>
              <a:latin typeface="Arial" panose="020B0604020202020204" pitchFamily="34" charset="0"/>
              <a:cs typeface="Arial" panose="020B0604020202020204" pitchFamily="34" charset="0"/>
            </a:endParaRPr>
          </a:p>
        </p:txBody>
      </p:sp>
      <p:sp>
        <p:nvSpPr>
          <p:cNvPr id="4" name="Text 2"/>
          <p:cNvSpPr/>
          <p:nvPr/>
        </p:nvSpPr>
        <p:spPr>
          <a:xfrm>
            <a:off x="487680" y="755904"/>
            <a:ext cx="11216640" cy="487680"/>
          </a:xfrm>
          <a:prstGeom prst="rect">
            <a:avLst/>
          </a:prstGeom>
          <a:noFill/>
          <a:ln/>
        </p:spPr>
        <p:txBody>
          <a:bodyPr wrap="square" lIns="0" tIns="0" rIns="0" bIns="0" rtlCol="0" anchor="ctr"/>
          <a:lstStyle/>
          <a:p>
            <a:endParaRPr lang="en-US" sz="1600" dirty="0">
              <a:solidFill>
                <a:schemeClr val="bg1"/>
              </a:solidFill>
              <a:latin typeface="Arial" panose="020B0604020202020204" pitchFamily="34" charset="0"/>
              <a:cs typeface="Arial" panose="020B0604020202020204" pitchFamily="34" charset="0"/>
            </a:endParaRPr>
          </a:p>
        </p:txBody>
      </p:sp>
      <p:sp>
        <p:nvSpPr>
          <p:cNvPr id="5" name="Shape 3"/>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pic>
        <p:nvPicPr>
          <p:cNvPr id="26" name="Picture 25" descr="Chart 1, Chart element">
            <a:extLst>
              <a:ext uri="{FF2B5EF4-FFF2-40B4-BE49-F238E27FC236}">
                <a16:creationId xmlns:a16="http://schemas.microsoft.com/office/drawing/2014/main" id="{28EF466B-6C13-C0D7-6836-775CDA92A015}"/>
              </a:ext>
            </a:extLst>
          </p:cNvPr>
          <p:cNvPicPr>
            <a:picLocks noChangeAspect="1"/>
          </p:cNvPicPr>
          <p:nvPr/>
        </p:nvPicPr>
        <p:blipFill>
          <a:blip r:embed="rId3"/>
          <a:stretch>
            <a:fillRect/>
          </a:stretch>
        </p:blipFill>
        <p:spPr>
          <a:xfrm>
            <a:off x="1937657" y="1667813"/>
            <a:ext cx="8761618" cy="493215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3" name="Text 1"/>
          <p:cNvSpPr/>
          <p:nvPr/>
        </p:nvSpPr>
        <p:spPr>
          <a:xfrm>
            <a:off x="487680" y="121920"/>
            <a:ext cx="11216640" cy="670560"/>
          </a:xfrm>
          <a:prstGeom prst="rect">
            <a:avLst/>
          </a:prstGeom>
          <a:noFill/>
          <a:ln/>
        </p:spPr>
        <p:txBody>
          <a:bodyPr wrap="square" lIns="0" tIns="0" rIns="0" bIns="0" rtlCol="0" anchor="ctr"/>
          <a:lstStyle/>
          <a:p>
            <a:r>
              <a:rPr lang="en-US" sz="2800" b="1" dirty="0">
                <a:solidFill>
                  <a:schemeClr val="bg1"/>
                </a:solidFill>
                <a:latin typeface="Arial" panose="020B0604020202020204" pitchFamily="34" charset="0"/>
                <a:cs typeface="Arial" panose="020B0604020202020204" pitchFamily="34" charset="0"/>
              </a:rPr>
              <a:t>Signed Resolutions</a:t>
            </a:r>
            <a:endParaRPr lang="en-US" sz="2667" b="1" dirty="0">
              <a:solidFill>
                <a:schemeClr val="bg1"/>
              </a:solidFill>
              <a:latin typeface="Arial" panose="020B0604020202020204" pitchFamily="34" charset="0"/>
              <a:cs typeface="Arial" panose="020B0604020202020204" pitchFamily="34" charset="0"/>
            </a:endParaRPr>
          </a:p>
        </p:txBody>
      </p:sp>
      <p:sp>
        <p:nvSpPr>
          <p:cNvPr id="5" name="Shape 3"/>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0" name="Shape 8"/>
          <p:cNvSpPr/>
          <p:nvPr/>
        </p:nvSpPr>
        <p:spPr>
          <a:xfrm>
            <a:off x="670560" y="3194304"/>
            <a:ext cx="85344" cy="1280160"/>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4" name="Shape 12"/>
          <p:cNvSpPr/>
          <p:nvPr/>
        </p:nvSpPr>
        <p:spPr>
          <a:xfrm>
            <a:off x="670560" y="4596384"/>
            <a:ext cx="85344" cy="128016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graphicFrame>
        <p:nvGraphicFramePr>
          <p:cNvPr id="4" name="Content Placeholder 7">
            <a:extLst>
              <a:ext uri="{FF2B5EF4-FFF2-40B4-BE49-F238E27FC236}">
                <a16:creationId xmlns:a16="http://schemas.microsoft.com/office/drawing/2014/main" id="{19952BEC-E003-D06E-CDC5-EFC2598D6021}"/>
              </a:ext>
            </a:extLst>
          </p:cNvPr>
          <p:cNvGraphicFramePr>
            <a:graphicFrameLocks/>
          </p:cNvGraphicFramePr>
          <p:nvPr>
            <p:extLst>
              <p:ext uri="{D42A27DB-BD31-4B8C-83A1-F6EECF244321}">
                <p14:modId xmlns:p14="http://schemas.microsoft.com/office/powerpoint/2010/main" val="3827748308"/>
              </p:ext>
            </p:extLst>
          </p:nvPr>
        </p:nvGraphicFramePr>
        <p:xfrm>
          <a:off x="1306286" y="1554480"/>
          <a:ext cx="10036630" cy="5181600"/>
        </p:xfrm>
        <a:graphic>
          <a:graphicData uri="http://schemas.openxmlformats.org/drawingml/2006/table">
            <a:tbl>
              <a:tblPr/>
              <a:tblGrid>
                <a:gridCol w="1464716">
                  <a:extLst>
                    <a:ext uri="{9D8B030D-6E8A-4147-A177-3AD203B41FA5}">
                      <a16:colId xmlns:a16="http://schemas.microsoft.com/office/drawing/2014/main" val="59948819"/>
                    </a:ext>
                  </a:extLst>
                </a:gridCol>
                <a:gridCol w="2446740">
                  <a:extLst>
                    <a:ext uri="{9D8B030D-6E8A-4147-A177-3AD203B41FA5}">
                      <a16:colId xmlns:a16="http://schemas.microsoft.com/office/drawing/2014/main" val="792264578"/>
                    </a:ext>
                  </a:extLst>
                </a:gridCol>
                <a:gridCol w="3062587">
                  <a:extLst>
                    <a:ext uri="{9D8B030D-6E8A-4147-A177-3AD203B41FA5}">
                      <a16:colId xmlns:a16="http://schemas.microsoft.com/office/drawing/2014/main" val="3762122349"/>
                    </a:ext>
                  </a:extLst>
                </a:gridCol>
                <a:gridCol w="3062587">
                  <a:extLst>
                    <a:ext uri="{9D8B030D-6E8A-4147-A177-3AD203B41FA5}">
                      <a16:colId xmlns:a16="http://schemas.microsoft.com/office/drawing/2014/main" val="119365534"/>
                    </a:ext>
                  </a:extLst>
                </a:gridCol>
              </a:tblGrid>
              <a:tr h="850005">
                <a:tc>
                  <a:txBody>
                    <a:bodyPr/>
                    <a:lstStyle/>
                    <a:p>
                      <a:pPr algn="l" rtl="0" fontAlgn="base">
                        <a:lnSpc>
                          <a:spcPts val="1466"/>
                        </a:lnSpc>
                        <a:buNone/>
                      </a:pPr>
                      <a:r>
                        <a:rPr lang="en-ZA" sz="1600" b="1" i="0" dirty="0">
                          <a:solidFill>
                            <a:schemeClr val="bg1"/>
                          </a:solidFill>
                          <a:effectLst/>
                          <a:latin typeface="Arial" panose="020B0604020202020204" pitchFamily="34" charset="0"/>
                        </a:rPr>
                        <a:t>Resolution  </a:t>
                      </a:r>
                      <a:r>
                        <a:rPr lang="en-ZA" sz="1600" b="0" i="0" dirty="0">
                          <a:solidFill>
                            <a:schemeClr val="bg1"/>
                          </a:solidFill>
                          <a:effectLst/>
                          <a:latin typeface="Arial" panose="020B0604020202020204" pitchFamily="34" charset="0"/>
                        </a:rPr>
                        <a:t> </a:t>
                      </a:r>
                      <a:endParaRPr lang="en-ZA" sz="1600" b="0" i="0" dirty="0">
                        <a:solidFill>
                          <a:schemeClr val="bg1"/>
                        </a:solidFill>
                        <a:effectLst/>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50000"/>
                      </a:schemeClr>
                    </a:solidFill>
                  </a:tcPr>
                </a:tc>
                <a:tc>
                  <a:txBody>
                    <a:bodyPr/>
                    <a:lstStyle/>
                    <a:p>
                      <a:pPr algn="l" rtl="0" fontAlgn="base">
                        <a:lnSpc>
                          <a:spcPts val="1466"/>
                        </a:lnSpc>
                        <a:buNone/>
                      </a:pPr>
                      <a:r>
                        <a:rPr lang="en-ZA" sz="1600" b="1" i="0" dirty="0">
                          <a:solidFill>
                            <a:schemeClr val="bg1"/>
                          </a:solidFill>
                          <a:effectLst/>
                          <a:latin typeface="Arial" panose="020B0604020202020204" pitchFamily="34" charset="0"/>
                        </a:rPr>
                        <a:t>Purpose </a:t>
                      </a:r>
                      <a:r>
                        <a:rPr lang="en-ZA" sz="1600" b="0" i="0" dirty="0">
                          <a:solidFill>
                            <a:schemeClr val="bg1"/>
                          </a:solidFill>
                          <a:effectLst/>
                          <a:latin typeface="Arial" panose="020B0604020202020204" pitchFamily="34" charset="0"/>
                        </a:rPr>
                        <a:t> </a:t>
                      </a:r>
                      <a:endParaRPr lang="en-ZA" sz="1600" b="0" i="0" dirty="0">
                        <a:solidFill>
                          <a:schemeClr val="bg1"/>
                        </a:solidFill>
                        <a:effectLst/>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50000"/>
                      </a:schemeClr>
                    </a:solidFill>
                  </a:tcPr>
                </a:tc>
                <a:tc>
                  <a:txBody>
                    <a:bodyPr/>
                    <a:lstStyle/>
                    <a:p>
                      <a:pPr algn="l" rtl="0" fontAlgn="base">
                        <a:lnSpc>
                          <a:spcPts val="1466"/>
                        </a:lnSpc>
                        <a:buNone/>
                      </a:pPr>
                      <a:r>
                        <a:rPr lang="en-ZA" sz="1600" b="1" i="0" dirty="0">
                          <a:solidFill>
                            <a:schemeClr val="bg1"/>
                          </a:solidFill>
                          <a:effectLst/>
                          <a:latin typeface="Arial" panose="020B0604020202020204" pitchFamily="34" charset="0"/>
                        </a:rPr>
                        <a:t>Objective </a:t>
                      </a:r>
                      <a:r>
                        <a:rPr lang="en-ZA" sz="1600" b="0" i="0" dirty="0">
                          <a:solidFill>
                            <a:schemeClr val="bg1"/>
                          </a:solidFill>
                          <a:effectLst/>
                          <a:latin typeface="Arial" panose="020B0604020202020204" pitchFamily="34" charset="0"/>
                        </a:rPr>
                        <a:t> </a:t>
                      </a:r>
                      <a:endParaRPr lang="en-ZA" sz="1600" b="0" i="0" dirty="0">
                        <a:solidFill>
                          <a:schemeClr val="bg1"/>
                        </a:solidFill>
                        <a:effectLst/>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50000"/>
                      </a:schemeClr>
                    </a:solidFill>
                  </a:tcPr>
                </a:tc>
                <a:tc>
                  <a:txBody>
                    <a:bodyPr/>
                    <a:lstStyle/>
                    <a:p>
                      <a:pPr algn="l" rtl="0" fontAlgn="base">
                        <a:lnSpc>
                          <a:spcPts val="1466"/>
                        </a:lnSpc>
                        <a:buNone/>
                      </a:pPr>
                      <a:r>
                        <a:rPr lang="en-ZA" sz="1100" b="1" i="0" dirty="0">
                          <a:solidFill>
                            <a:schemeClr val="bg1"/>
                          </a:solidFill>
                          <a:effectLst/>
                          <a:latin typeface="Arial" panose="020B0604020202020204" pitchFamily="34" charset="0"/>
                        </a:rPr>
                        <a:t>Result </a:t>
                      </a:r>
                      <a:r>
                        <a:rPr lang="en-ZA" sz="1100" b="0" i="0" dirty="0">
                          <a:solidFill>
                            <a:schemeClr val="bg1"/>
                          </a:solidFill>
                          <a:effectLst/>
                          <a:latin typeface="Arial" panose="020B0604020202020204" pitchFamily="34" charset="0"/>
                        </a:rPr>
                        <a:t> </a:t>
                      </a:r>
                      <a:endParaRPr lang="en-ZA" b="0" i="0" dirty="0">
                        <a:solidFill>
                          <a:schemeClr val="bg1"/>
                        </a:solidFill>
                        <a:effectLst/>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50000"/>
                      </a:schemeClr>
                    </a:solidFill>
                  </a:tcPr>
                </a:tc>
                <a:extLst>
                  <a:ext uri="{0D108BD9-81ED-4DB2-BD59-A6C34878D82A}">
                    <a16:rowId xmlns:a16="http://schemas.microsoft.com/office/drawing/2014/main" val="685930882"/>
                  </a:ext>
                </a:extLst>
              </a:tr>
              <a:tr h="4331595">
                <a:tc>
                  <a:txBody>
                    <a:bodyPr/>
                    <a:lstStyle/>
                    <a:p>
                      <a:pPr algn="l" rtl="0" fontAlgn="base">
                        <a:lnSpc>
                          <a:spcPts val="1466"/>
                        </a:lnSpc>
                        <a:buNone/>
                      </a:pPr>
                      <a:r>
                        <a:rPr lang="en-ZA" sz="1600" b="0" i="0" dirty="0">
                          <a:effectLst/>
                          <a:latin typeface="Arial" panose="020B0604020202020204" pitchFamily="34" charset="0"/>
                        </a:rPr>
                        <a:t>1 of 2026  </a:t>
                      </a:r>
                      <a:endParaRPr lang="en-ZA" sz="1600" b="0" i="0" dirty="0">
                        <a:effectLst/>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ase">
                        <a:lnSpc>
                          <a:spcPts val="1466"/>
                        </a:lnSpc>
                        <a:buNone/>
                      </a:pPr>
                      <a:r>
                        <a:rPr lang="en-ZA" sz="1600" b="0" i="0" dirty="0">
                          <a:effectLst/>
                          <a:latin typeface="Arial" panose="020B0604020202020204" pitchFamily="34" charset="0"/>
                        </a:rPr>
                        <a:t>Agreement on the Increase of Levies  </a:t>
                      </a:r>
                      <a:endParaRPr lang="en-ZA" sz="1600" b="0" i="0" dirty="0">
                        <a:effectLst/>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ase">
                        <a:lnSpc>
                          <a:spcPts val="1466"/>
                        </a:lnSpc>
                        <a:buNone/>
                      </a:pPr>
                      <a:r>
                        <a:rPr lang="en-ZA" sz="1600" b="0" i="0" dirty="0">
                          <a:effectLst/>
                          <a:latin typeface="Arial" panose="020B0604020202020204" pitchFamily="34" charset="0"/>
                        </a:rPr>
                        <a:t>To ensure that the levy fund can maintain the functions of collective bargaining, dispute resolutions, dispute prevention and the operations of the PSCBC </a:t>
                      </a:r>
                      <a:endParaRPr lang="en-ZA" sz="1600" b="0" i="0" dirty="0">
                        <a:effectLst/>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ase">
                        <a:lnSpc>
                          <a:spcPts val="1466"/>
                        </a:lnSpc>
                        <a:buNone/>
                      </a:pPr>
                      <a:r>
                        <a:rPr lang="en-ZA" sz="1600" b="0" i="0" dirty="0">
                          <a:effectLst/>
                          <a:latin typeface="Arial" panose="020B0604020202020204" pitchFamily="34" charset="0"/>
                        </a:rPr>
                        <a:t>The agreement obtained an 88.37% majority status on 04 March 2026, and was signed by:  </a:t>
                      </a:r>
                      <a:endParaRPr lang="en-ZA" sz="1600" b="0" i="0" dirty="0">
                        <a:effectLst/>
                      </a:endParaRPr>
                    </a:p>
                    <a:p>
                      <a:pPr algn="l" rtl="0" fontAlgn="base">
                        <a:lnSpc>
                          <a:spcPts val="1466"/>
                        </a:lnSpc>
                        <a:buNone/>
                      </a:pPr>
                      <a:r>
                        <a:rPr lang="en-ZA" sz="1600" b="0" i="0" dirty="0">
                          <a:effectLst/>
                          <a:latin typeface="Arial" panose="020B0604020202020204" pitchFamily="34" charset="0"/>
                        </a:rPr>
                        <a:t> </a:t>
                      </a:r>
                      <a:endParaRPr lang="en-ZA" sz="1600" b="0" i="0" dirty="0">
                        <a:effectLst/>
                      </a:endParaRPr>
                    </a:p>
                    <a:p>
                      <a:pPr algn="l" rtl="0" fontAlgn="base">
                        <a:lnSpc>
                          <a:spcPts val="1466"/>
                        </a:lnSpc>
                        <a:buNone/>
                      </a:pPr>
                      <a:r>
                        <a:rPr lang="en-ZA" sz="1600" b="0" i="0" dirty="0">
                          <a:effectLst/>
                          <a:latin typeface="Arial" panose="020B0604020202020204" pitchFamily="34" charset="0"/>
                        </a:rPr>
                        <a:t> Employer, DENOSA, HOSPERSA, NAPTOSA, NEHAWU, PSA, SADTU and SAPU </a:t>
                      </a:r>
                      <a:endParaRPr lang="en-ZA" sz="1600" b="0" i="0" dirty="0">
                        <a:effectLst/>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0460468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965008"/>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3" name="Text 1"/>
          <p:cNvSpPr/>
          <p:nvPr/>
        </p:nvSpPr>
        <p:spPr>
          <a:xfrm>
            <a:off x="487680" y="121920"/>
            <a:ext cx="11216640" cy="670560"/>
          </a:xfrm>
          <a:prstGeom prst="rect">
            <a:avLst/>
          </a:prstGeom>
          <a:noFill/>
          <a:ln/>
        </p:spPr>
        <p:txBody>
          <a:bodyPr wrap="square" lIns="0" tIns="0" rIns="0" bIns="0" rtlCol="0" anchor="ctr"/>
          <a:lstStyle/>
          <a:p>
            <a:r>
              <a:rPr lang="en-US" sz="2800" b="1" dirty="0">
                <a:solidFill>
                  <a:schemeClr val="bg1"/>
                </a:solidFill>
                <a:latin typeface="Arial" panose="020B0604020202020204" pitchFamily="34" charset="0"/>
                <a:cs typeface="Arial" panose="020B0604020202020204" pitchFamily="34" charset="0"/>
              </a:rPr>
              <a:t>Committees/ Task Teams</a:t>
            </a:r>
            <a:endParaRPr lang="en-US" sz="2667" dirty="0">
              <a:solidFill>
                <a:schemeClr val="bg1"/>
              </a:solidFill>
              <a:latin typeface="Arial" panose="020B0604020202020204" pitchFamily="34" charset="0"/>
              <a:cs typeface="Arial" panose="020B0604020202020204" pitchFamily="34" charset="0"/>
            </a:endParaRPr>
          </a:p>
        </p:txBody>
      </p:sp>
      <p:sp>
        <p:nvSpPr>
          <p:cNvPr id="5" name="Shape 3"/>
          <p:cNvSpPr/>
          <p:nvPr/>
        </p:nvSpPr>
        <p:spPr>
          <a:xfrm>
            <a:off x="0" y="959832"/>
            <a:ext cx="12192000" cy="6096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9" name="Shape 7"/>
          <p:cNvSpPr/>
          <p:nvPr/>
        </p:nvSpPr>
        <p:spPr>
          <a:xfrm>
            <a:off x="365760" y="2535936"/>
            <a:ext cx="85344" cy="792480"/>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graphicFrame>
        <p:nvGraphicFramePr>
          <p:cNvPr id="34" name="Content Placeholder 3">
            <a:extLst>
              <a:ext uri="{FF2B5EF4-FFF2-40B4-BE49-F238E27FC236}">
                <a16:creationId xmlns:a16="http://schemas.microsoft.com/office/drawing/2014/main" id="{F838EAC9-B67A-B7A1-D3A8-A0E3DD8715F4}"/>
              </a:ext>
            </a:extLst>
          </p:cNvPr>
          <p:cNvGraphicFramePr>
            <a:graphicFrameLocks/>
          </p:cNvGraphicFramePr>
          <p:nvPr>
            <p:extLst>
              <p:ext uri="{D42A27DB-BD31-4B8C-83A1-F6EECF244321}">
                <p14:modId xmlns:p14="http://schemas.microsoft.com/office/powerpoint/2010/main" val="1867811619"/>
              </p:ext>
            </p:extLst>
          </p:nvPr>
        </p:nvGraphicFramePr>
        <p:xfrm>
          <a:off x="90577" y="1132360"/>
          <a:ext cx="12010846" cy="5621722"/>
        </p:xfrm>
        <a:graphic>
          <a:graphicData uri="http://schemas.openxmlformats.org/drawingml/2006/table">
            <a:tbl>
              <a:tblPr firstRow="1" firstCol="1" bandRow="1">
                <a:tableStyleId>{5C22544A-7EE6-4342-B048-85BDC9FD1C3A}</a:tableStyleId>
              </a:tblPr>
              <a:tblGrid>
                <a:gridCol w="2112142">
                  <a:extLst>
                    <a:ext uri="{9D8B030D-6E8A-4147-A177-3AD203B41FA5}">
                      <a16:colId xmlns:a16="http://schemas.microsoft.com/office/drawing/2014/main" val="1918188176"/>
                    </a:ext>
                  </a:extLst>
                </a:gridCol>
                <a:gridCol w="2632141">
                  <a:extLst>
                    <a:ext uri="{9D8B030D-6E8A-4147-A177-3AD203B41FA5}">
                      <a16:colId xmlns:a16="http://schemas.microsoft.com/office/drawing/2014/main" val="1956193970"/>
                    </a:ext>
                  </a:extLst>
                </a:gridCol>
                <a:gridCol w="1803231">
                  <a:extLst>
                    <a:ext uri="{9D8B030D-6E8A-4147-A177-3AD203B41FA5}">
                      <a16:colId xmlns:a16="http://schemas.microsoft.com/office/drawing/2014/main" val="2512217825"/>
                    </a:ext>
                  </a:extLst>
                </a:gridCol>
                <a:gridCol w="2529321">
                  <a:extLst>
                    <a:ext uri="{9D8B030D-6E8A-4147-A177-3AD203B41FA5}">
                      <a16:colId xmlns:a16="http://schemas.microsoft.com/office/drawing/2014/main" val="1847147852"/>
                    </a:ext>
                  </a:extLst>
                </a:gridCol>
                <a:gridCol w="2934011">
                  <a:extLst>
                    <a:ext uri="{9D8B030D-6E8A-4147-A177-3AD203B41FA5}">
                      <a16:colId xmlns:a16="http://schemas.microsoft.com/office/drawing/2014/main" val="2295363460"/>
                    </a:ext>
                  </a:extLst>
                </a:gridCol>
              </a:tblGrid>
              <a:tr h="580625">
                <a:tc>
                  <a:txBody>
                    <a:bodyPr/>
                    <a:lstStyle/>
                    <a:p>
                      <a:pPr marL="1270">
                        <a:lnSpc>
                          <a:spcPct val="115000"/>
                        </a:lnSpc>
                        <a:spcAft>
                          <a:spcPts val="800"/>
                        </a:spcAft>
                        <a:buNone/>
                      </a:pPr>
                      <a:r>
                        <a:rPr lang="en-ZA" sz="1600" kern="100" dirty="0">
                          <a:effectLst/>
                          <a:latin typeface="Arial" panose="020B0604020202020204" pitchFamily="34" charset="0"/>
                          <a:cs typeface="Arial" panose="020B0604020202020204" pitchFamily="34" charset="0"/>
                        </a:rPr>
                        <a:t>Committee </a:t>
                      </a:r>
                      <a:endParaRPr lang="en-ZA" sz="1600" kern="100" dirty="0">
                        <a:effectLst/>
                        <a:latin typeface="Arial" panose="020B0604020202020204" pitchFamily="34" charset="0"/>
                        <a:ea typeface="Calibri" panose="020F0502020204030204" pitchFamily="34" charset="0"/>
                        <a:cs typeface="Arial" panose="020B0604020202020204" pitchFamily="34" charset="0"/>
                      </a:endParaRPr>
                    </a:p>
                  </a:txBody>
                  <a:tcPr marL="14926" marR="9716" marT="4928" marB="0">
                    <a:solidFill>
                      <a:schemeClr val="accent5">
                        <a:lumMod val="50000"/>
                      </a:schemeClr>
                    </a:solidFill>
                  </a:tcPr>
                </a:tc>
                <a:tc>
                  <a:txBody>
                    <a:bodyPr/>
                    <a:lstStyle/>
                    <a:p>
                      <a:pPr marL="1270">
                        <a:lnSpc>
                          <a:spcPct val="115000"/>
                        </a:lnSpc>
                        <a:spcAft>
                          <a:spcPts val="800"/>
                        </a:spcAft>
                        <a:buNone/>
                      </a:pPr>
                      <a:r>
                        <a:rPr lang="en-ZA" sz="1600" kern="100" dirty="0">
                          <a:effectLst/>
                          <a:latin typeface="Arial" panose="020B0604020202020204" pitchFamily="34" charset="0"/>
                          <a:cs typeface="Arial" panose="020B0604020202020204" pitchFamily="34" charset="0"/>
                        </a:rPr>
                        <a:t>Establishment/</a:t>
                      </a:r>
                    </a:p>
                    <a:p>
                      <a:pPr marL="1270">
                        <a:lnSpc>
                          <a:spcPct val="115000"/>
                        </a:lnSpc>
                        <a:spcAft>
                          <a:spcPts val="800"/>
                        </a:spcAft>
                        <a:buNone/>
                      </a:pPr>
                      <a:r>
                        <a:rPr lang="en-ZA" sz="1600" kern="100" dirty="0">
                          <a:effectLst/>
                          <a:latin typeface="Arial" panose="020B0604020202020204" pitchFamily="34" charset="0"/>
                          <a:cs typeface="Arial" panose="020B0604020202020204" pitchFamily="34" charset="0"/>
                        </a:rPr>
                        <a:t>Legislative mandate </a:t>
                      </a:r>
                      <a:endParaRPr lang="en-ZA" sz="1600" kern="100" dirty="0">
                        <a:effectLst/>
                        <a:latin typeface="Arial" panose="020B0604020202020204" pitchFamily="34" charset="0"/>
                        <a:ea typeface="Calibri" panose="020F0502020204030204" pitchFamily="34" charset="0"/>
                        <a:cs typeface="Arial" panose="020B0604020202020204" pitchFamily="34" charset="0"/>
                      </a:endParaRPr>
                    </a:p>
                  </a:txBody>
                  <a:tcPr marL="14926" marR="9716" marT="4928" marB="0">
                    <a:solidFill>
                      <a:schemeClr val="accent5">
                        <a:lumMod val="50000"/>
                      </a:schemeClr>
                    </a:solidFill>
                  </a:tcPr>
                </a:tc>
                <a:tc>
                  <a:txBody>
                    <a:bodyPr/>
                    <a:lstStyle/>
                    <a:p>
                      <a:pPr marL="1270">
                        <a:lnSpc>
                          <a:spcPct val="115000"/>
                        </a:lnSpc>
                        <a:spcAft>
                          <a:spcPts val="800"/>
                        </a:spcAft>
                        <a:buNone/>
                      </a:pPr>
                      <a:r>
                        <a:rPr lang="en-ZA" sz="1600" kern="100" dirty="0">
                          <a:effectLst/>
                          <a:latin typeface="Arial" panose="020B0604020202020204" pitchFamily="34" charset="0"/>
                          <a:cs typeface="Arial" panose="020B0604020202020204" pitchFamily="34" charset="0"/>
                        </a:rPr>
                        <a:t>Key Focus Areas </a:t>
                      </a:r>
                      <a:endParaRPr lang="en-ZA" sz="1600" kern="100" dirty="0">
                        <a:effectLst/>
                        <a:latin typeface="Arial" panose="020B0604020202020204" pitchFamily="34" charset="0"/>
                        <a:ea typeface="Calibri" panose="020F0502020204030204" pitchFamily="34" charset="0"/>
                        <a:cs typeface="Arial" panose="020B0604020202020204" pitchFamily="34" charset="0"/>
                      </a:endParaRPr>
                    </a:p>
                  </a:txBody>
                  <a:tcPr marL="14926" marR="9716" marT="4928" marB="0">
                    <a:solidFill>
                      <a:schemeClr val="accent5">
                        <a:lumMod val="50000"/>
                      </a:schemeClr>
                    </a:solidFill>
                  </a:tcPr>
                </a:tc>
                <a:tc>
                  <a:txBody>
                    <a:bodyPr/>
                    <a:lstStyle/>
                    <a:p>
                      <a:pPr>
                        <a:lnSpc>
                          <a:spcPct val="115000"/>
                        </a:lnSpc>
                        <a:spcAft>
                          <a:spcPts val="800"/>
                        </a:spcAft>
                        <a:buNone/>
                      </a:pPr>
                      <a:r>
                        <a:rPr lang="en-ZA" sz="1600" kern="100" dirty="0">
                          <a:effectLst/>
                          <a:latin typeface="Arial" panose="020B0604020202020204" pitchFamily="34" charset="0"/>
                          <a:cs typeface="Arial" panose="020B0604020202020204" pitchFamily="34" charset="0"/>
                        </a:rPr>
                        <a:t>Key Highlights </a:t>
                      </a:r>
                      <a:endParaRPr lang="en-ZA" sz="1600" kern="100" dirty="0">
                        <a:effectLst/>
                        <a:latin typeface="Arial" panose="020B0604020202020204" pitchFamily="34" charset="0"/>
                        <a:ea typeface="Calibri" panose="020F0502020204030204" pitchFamily="34" charset="0"/>
                        <a:cs typeface="Arial" panose="020B0604020202020204" pitchFamily="34" charset="0"/>
                      </a:endParaRPr>
                    </a:p>
                  </a:txBody>
                  <a:tcPr marL="14926" marR="9716" marT="4928" marB="0">
                    <a:solidFill>
                      <a:schemeClr val="accent5">
                        <a:lumMod val="50000"/>
                      </a:schemeClr>
                    </a:solidFill>
                  </a:tcPr>
                </a:tc>
                <a:tc>
                  <a:txBody>
                    <a:bodyPr/>
                    <a:lstStyle/>
                    <a:p>
                      <a:pPr marL="1270">
                        <a:lnSpc>
                          <a:spcPct val="115000"/>
                        </a:lnSpc>
                        <a:spcAft>
                          <a:spcPts val="800"/>
                        </a:spcAft>
                        <a:buNone/>
                      </a:pPr>
                      <a:r>
                        <a:rPr lang="en-ZA" sz="1600" kern="100" dirty="0">
                          <a:effectLst/>
                          <a:latin typeface="Arial" panose="020B0604020202020204" pitchFamily="34" charset="0"/>
                          <a:cs typeface="Arial" panose="020B0604020202020204" pitchFamily="34" charset="0"/>
                        </a:rPr>
                        <a:t>Status as at 31 March 2025</a:t>
                      </a:r>
                      <a:endParaRPr lang="en-ZA" sz="1600" kern="100" dirty="0">
                        <a:effectLst/>
                        <a:latin typeface="Arial" panose="020B0604020202020204" pitchFamily="34" charset="0"/>
                        <a:ea typeface="Calibri" panose="020F0502020204030204" pitchFamily="34" charset="0"/>
                        <a:cs typeface="Arial" panose="020B0604020202020204" pitchFamily="34" charset="0"/>
                      </a:endParaRPr>
                    </a:p>
                  </a:txBody>
                  <a:tcPr marL="14926" marR="9716" marT="4928" marB="0">
                    <a:solidFill>
                      <a:schemeClr val="accent5">
                        <a:lumMod val="50000"/>
                      </a:schemeClr>
                    </a:solidFill>
                  </a:tcPr>
                </a:tc>
                <a:extLst>
                  <a:ext uri="{0D108BD9-81ED-4DB2-BD59-A6C34878D82A}">
                    <a16:rowId xmlns:a16="http://schemas.microsoft.com/office/drawing/2014/main" val="2034347772"/>
                  </a:ext>
                </a:extLst>
              </a:tr>
              <a:tr h="4978238">
                <a:tc>
                  <a:txBody>
                    <a:bodyPr/>
                    <a:lstStyle/>
                    <a:p>
                      <a:pPr>
                        <a:lnSpc>
                          <a:spcPct val="115000"/>
                        </a:lnSpc>
                        <a:spcAft>
                          <a:spcPts val="800"/>
                        </a:spcAft>
                        <a:buNone/>
                      </a:pPr>
                      <a:r>
                        <a:rPr lang="en-ZA" sz="1600" kern="100" dirty="0">
                          <a:effectLst/>
                          <a:latin typeface="Arial" panose="020B0604020202020204" pitchFamily="34" charset="0"/>
                          <a:cs typeface="Arial" panose="020B0604020202020204" pitchFamily="34" charset="0"/>
                        </a:rPr>
                        <a:t>PSCBC GEMS Working Committee </a:t>
                      </a:r>
                      <a:endParaRPr lang="en-ZA" sz="1600" kern="100" dirty="0">
                        <a:effectLst/>
                        <a:latin typeface="Arial" panose="020B0604020202020204" pitchFamily="34" charset="0"/>
                        <a:ea typeface="Calibri" panose="020F0502020204030204" pitchFamily="34" charset="0"/>
                        <a:cs typeface="Arial" panose="020B0604020202020204" pitchFamily="34" charset="0"/>
                      </a:endParaRPr>
                    </a:p>
                  </a:txBody>
                  <a:tcPr marL="14926" marR="9716" marT="4928" marB="0">
                    <a:solidFill>
                      <a:schemeClr val="accent5">
                        <a:lumMod val="50000"/>
                      </a:schemeClr>
                    </a:solidFill>
                  </a:tcPr>
                </a:tc>
                <a:tc>
                  <a:txBody>
                    <a:bodyPr/>
                    <a:lstStyle/>
                    <a:p>
                      <a:pPr marL="1270" marR="10160">
                        <a:lnSpc>
                          <a:spcPct val="115000"/>
                        </a:lnSpc>
                        <a:spcAft>
                          <a:spcPts val="800"/>
                        </a:spcAft>
                        <a:buNone/>
                      </a:pPr>
                      <a:r>
                        <a:rPr lang="en-ZA" sz="1600" kern="100" dirty="0">
                          <a:effectLst/>
                          <a:latin typeface="Arial" panose="020B0604020202020204" pitchFamily="34" charset="0"/>
                          <a:cs typeface="Arial" panose="020B0604020202020204" pitchFamily="34" charset="0"/>
                        </a:rPr>
                        <a:t>Established in terms of Resolution 4 of 2017 to consider the performance of the Government Employees Medical Scheme (GEMS) on an ongoing basis. </a:t>
                      </a:r>
                      <a:endParaRPr lang="en-ZA" sz="1600" kern="100" dirty="0">
                        <a:effectLst/>
                        <a:latin typeface="Arial" panose="020B0604020202020204" pitchFamily="34" charset="0"/>
                        <a:ea typeface="Calibri" panose="020F0502020204030204" pitchFamily="34" charset="0"/>
                        <a:cs typeface="Arial" panose="020B0604020202020204" pitchFamily="34" charset="0"/>
                      </a:endParaRPr>
                    </a:p>
                  </a:txBody>
                  <a:tcPr marL="14926" marR="9716" marT="4928" marB="0"/>
                </a:tc>
                <a:tc>
                  <a:txBody>
                    <a:bodyPr/>
                    <a:lstStyle/>
                    <a:p>
                      <a:pPr marL="1270">
                        <a:lnSpc>
                          <a:spcPct val="115000"/>
                        </a:lnSpc>
                        <a:spcAft>
                          <a:spcPts val="800"/>
                        </a:spcAft>
                        <a:buNone/>
                      </a:pPr>
                      <a:r>
                        <a:rPr lang="en-ZA" sz="1600" kern="100" dirty="0">
                          <a:effectLst/>
                          <a:latin typeface="Arial" panose="020B0604020202020204" pitchFamily="34" charset="0"/>
                          <a:cs typeface="Arial" panose="020B0604020202020204" pitchFamily="34" charset="0"/>
                        </a:rPr>
                        <a:t>To give effect to the transformation of GEMS allowing the board to reflect the demographics of the membership of the scheme.</a:t>
                      </a:r>
                    </a:p>
                    <a:p>
                      <a:pPr marL="1270">
                        <a:lnSpc>
                          <a:spcPct val="115000"/>
                        </a:lnSpc>
                        <a:spcAft>
                          <a:spcPts val="800"/>
                        </a:spcAft>
                        <a:buNone/>
                      </a:pPr>
                      <a:r>
                        <a:rPr lang="en-ZA" sz="1600" kern="100" dirty="0">
                          <a:effectLst/>
                          <a:latin typeface="Arial" panose="020B0604020202020204" pitchFamily="34" charset="0"/>
                          <a:cs typeface="Arial" panose="020B0604020202020204" pitchFamily="34" charset="0"/>
                        </a:rPr>
                        <a:t>To improve the healthcare benefits of members and funding for those benefits should be prioritised from the savings incurred by the scheme</a:t>
                      </a:r>
                      <a:endParaRPr lang="en-ZA" sz="1600" kern="100" dirty="0">
                        <a:effectLst/>
                        <a:latin typeface="Arial" panose="020B0604020202020204" pitchFamily="34" charset="0"/>
                        <a:ea typeface="Calibri" panose="020F0502020204030204" pitchFamily="34" charset="0"/>
                        <a:cs typeface="Arial" panose="020B0604020202020204" pitchFamily="34" charset="0"/>
                      </a:endParaRPr>
                    </a:p>
                  </a:txBody>
                  <a:tcPr marL="14926" marR="9716" marT="4928" marB="0"/>
                </a:tc>
                <a:tc>
                  <a:txBody>
                    <a:bodyPr/>
                    <a:lstStyle/>
                    <a:p>
                      <a:pPr>
                        <a:lnSpc>
                          <a:spcPct val="115000"/>
                        </a:lnSpc>
                        <a:spcAft>
                          <a:spcPts val="800"/>
                        </a:spcAft>
                        <a:buNone/>
                      </a:pPr>
                      <a:r>
                        <a:rPr lang="en-ZA" sz="1600" kern="100" dirty="0">
                          <a:effectLst/>
                          <a:latin typeface="Arial" panose="020B0604020202020204" pitchFamily="34" charset="0"/>
                          <a:cs typeface="Arial" panose="020B0604020202020204" pitchFamily="34" charset="0"/>
                        </a:rPr>
                        <a:t>The hosting of a workshop on legislation governing medical schemes to better understand the medical schemes’ industry, trends and the Medical Schemes Act, to enable Council to engage with GEMS from an informed position.</a:t>
                      </a:r>
                    </a:p>
                    <a:p>
                      <a:pPr>
                        <a:lnSpc>
                          <a:spcPct val="115000"/>
                        </a:lnSpc>
                        <a:spcAft>
                          <a:spcPts val="800"/>
                        </a:spcAft>
                        <a:buNone/>
                      </a:pPr>
                      <a:r>
                        <a:rPr lang="en-ZA" sz="1600" kern="100" dirty="0">
                          <a:effectLst/>
                          <a:latin typeface="Arial" panose="020B0604020202020204" pitchFamily="34" charset="0"/>
                          <a:cs typeface="Arial" panose="020B0604020202020204" pitchFamily="34" charset="0"/>
                        </a:rPr>
                        <a:t> The satisfaction survey conducted by Council on GEMS</a:t>
                      </a:r>
                    </a:p>
                    <a:p>
                      <a:pPr>
                        <a:lnSpc>
                          <a:spcPct val="115000"/>
                        </a:lnSpc>
                        <a:spcAft>
                          <a:spcPts val="800"/>
                        </a:spcAft>
                        <a:buNone/>
                      </a:pPr>
                      <a:r>
                        <a:rPr lang="en-ZA" sz="1600" kern="100" dirty="0">
                          <a:effectLst/>
                          <a:latin typeface="Arial" panose="020B0604020202020204" pitchFamily="34" charset="0"/>
                          <a:cs typeface="Arial" panose="020B0604020202020204" pitchFamily="34" charset="0"/>
                        </a:rPr>
                        <a:t> PSCBC’s strategic engagement with GEMS on issues of affordability, access and transformation </a:t>
                      </a:r>
                      <a:endParaRPr lang="en-ZA" sz="1600" kern="100" dirty="0">
                        <a:effectLst/>
                        <a:latin typeface="Arial" panose="020B0604020202020204" pitchFamily="34" charset="0"/>
                        <a:ea typeface="Calibri" panose="020F0502020204030204" pitchFamily="34" charset="0"/>
                        <a:cs typeface="Arial" panose="020B0604020202020204" pitchFamily="34" charset="0"/>
                      </a:endParaRPr>
                    </a:p>
                  </a:txBody>
                  <a:tcPr marL="14926" marR="9716" marT="4928" marB="0"/>
                </a:tc>
                <a:tc>
                  <a:txBody>
                    <a:bodyPr/>
                    <a:lstStyle/>
                    <a:p>
                      <a:pPr marL="1270">
                        <a:lnSpc>
                          <a:spcPct val="115000"/>
                        </a:lnSpc>
                        <a:spcAft>
                          <a:spcPts val="800"/>
                        </a:spcAft>
                        <a:buNone/>
                      </a:pPr>
                      <a:r>
                        <a:rPr lang="en-ZA" sz="1600" kern="100" dirty="0">
                          <a:effectLst/>
                          <a:latin typeface="Arial" panose="020B0604020202020204" pitchFamily="34" charset="0"/>
                          <a:cs typeface="Arial" panose="020B0604020202020204" pitchFamily="34" charset="0"/>
                        </a:rPr>
                        <a:t>Council to consider the report from the strategic engagement with GEMS and agree on a program of action.</a:t>
                      </a:r>
                      <a:endParaRPr lang="en-ZA" sz="1600" kern="100" dirty="0">
                        <a:effectLst/>
                        <a:latin typeface="Arial" panose="020B0604020202020204" pitchFamily="34" charset="0"/>
                        <a:ea typeface="Calibri" panose="020F0502020204030204" pitchFamily="34" charset="0"/>
                        <a:cs typeface="Arial" panose="020B0604020202020204" pitchFamily="34" charset="0"/>
                      </a:endParaRPr>
                    </a:p>
                  </a:txBody>
                  <a:tcPr marL="14926" marR="9716" marT="4928" marB="0"/>
                </a:tc>
                <a:extLst>
                  <a:ext uri="{0D108BD9-81ED-4DB2-BD59-A6C34878D82A}">
                    <a16:rowId xmlns:a16="http://schemas.microsoft.com/office/drawing/2014/main" val="367301471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3" name="Text 1"/>
          <p:cNvSpPr/>
          <p:nvPr/>
        </p:nvSpPr>
        <p:spPr>
          <a:xfrm>
            <a:off x="487680" y="121920"/>
            <a:ext cx="11216640" cy="670560"/>
          </a:xfrm>
          <a:prstGeom prst="rect">
            <a:avLst/>
          </a:prstGeom>
          <a:noFill/>
          <a:ln/>
        </p:spPr>
        <p:txBody>
          <a:bodyPr wrap="square" lIns="0" tIns="0" rIns="0" bIns="0" rtlCol="0" anchor="ctr"/>
          <a:lstStyle/>
          <a:p>
            <a:r>
              <a:rPr lang="en-US" sz="2800" b="1" dirty="0">
                <a:solidFill>
                  <a:schemeClr val="bg1"/>
                </a:solidFill>
                <a:latin typeface="Arial" panose="020B0604020202020204" pitchFamily="34" charset="0"/>
                <a:cs typeface="Arial" panose="020B0604020202020204" pitchFamily="34" charset="0"/>
              </a:rPr>
              <a:t>Coordinating Chambers  of the PSCBC </a:t>
            </a:r>
            <a:endParaRPr lang="en-US" sz="2667" dirty="0">
              <a:solidFill>
                <a:schemeClr val="bg1"/>
              </a:solidFill>
              <a:latin typeface="Arial" panose="020B0604020202020204" pitchFamily="34" charset="0"/>
              <a:cs typeface="Arial" panose="020B0604020202020204" pitchFamily="34" charset="0"/>
            </a:endParaRPr>
          </a:p>
        </p:txBody>
      </p:sp>
      <p:sp>
        <p:nvSpPr>
          <p:cNvPr id="5" name="Shape 3"/>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pic>
        <p:nvPicPr>
          <p:cNvPr id="28" name="Content Placeholder 7" descr="Chart 1, Chart element">
            <a:extLst>
              <a:ext uri="{FF2B5EF4-FFF2-40B4-BE49-F238E27FC236}">
                <a16:creationId xmlns:a16="http://schemas.microsoft.com/office/drawing/2014/main" id="{EA57B611-2F0A-5D17-4A6F-C5AF4303B01A}"/>
              </a:ext>
            </a:extLst>
          </p:cNvPr>
          <p:cNvPicPr>
            <a:picLocks noChangeAspect="1"/>
          </p:cNvPicPr>
          <p:nvPr/>
        </p:nvPicPr>
        <p:blipFill>
          <a:blip r:embed="rId3"/>
          <a:stretch>
            <a:fillRect/>
          </a:stretch>
        </p:blipFill>
        <p:spPr>
          <a:xfrm>
            <a:off x="1283245" y="1592907"/>
            <a:ext cx="9394146" cy="501426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3" name="Text 1"/>
          <p:cNvSpPr/>
          <p:nvPr/>
        </p:nvSpPr>
        <p:spPr>
          <a:xfrm>
            <a:off x="487680" y="121920"/>
            <a:ext cx="11216640" cy="670560"/>
          </a:xfrm>
          <a:prstGeom prst="rect">
            <a:avLst/>
          </a:prstGeom>
          <a:noFill/>
          <a:ln/>
        </p:spPr>
        <p:txBody>
          <a:bodyPr wrap="square" lIns="0" tIns="0" rIns="0" bIns="0" rtlCol="0" anchor="ctr"/>
          <a:lstStyle/>
          <a:p>
            <a:r>
              <a:rPr lang="en-ZA" sz="2800" b="1" dirty="0">
                <a:solidFill>
                  <a:schemeClr val="bg1"/>
                </a:solidFill>
                <a:latin typeface="Arial" panose="020B0604020202020204" pitchFamily="34" charset="0"/>
                <a:cs typeface="Arial" panose="020B0604020202020204" pitchFamily="34" charset="0"/>
              </a:rPr>
              <a:t>Capacity Building for Parties to Council and Chambers </a:t>
            </a:r>
            <a:endParaRPr lang="en-US" sz="2667" dirty="0">
              <a:solidFill>
                <a:schemeClr val="bg1"/>
              </a:solidFill>
              <a:latin typeface="Arial" panose="020B0604020202020204" pitchFamily="34" charset="0"/>
              <a:cs typeface="Arial" panose="020B0604020202020204" pitchFamily="34" charset="0"/>
            </a:endParaRPr>
          </a:p>
        </p:txBody>
      </p:sp>
      <p:sp>
        <p:nvSpPr>
          <p:cNvPr id="5" name="Shape 3"/>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6" name="Shape 4"/>
          <p:cNvSpPr/>
          <p:nvPr/>
        </p:nvSpPr>
        <p:spPr>
          <a:xfrm>
            <a:off x="117472" y="1950720"/>
            <a:ext cx="11957055" cy="4540947"/>
          </a:xfrm>
          <a:prstGeom prst="rect">
            <a:avLst/>
          </a:prstGeom>
          <a:solidFill>
            <a:schemeClr val="accent5">
              <a:lumMod val="50000"/>
            </a:schemeClr>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24" name="Content Placeholder 3">
            <a:extLst>
              <a:ext uri="{FF2B5EF4-FFF2-40B4-BE49-F238E27FC236}">
                <a16:creationId xmlns:a16="http://schemas.microsoft.com/office/drawing/2014/main" id="{30D6000A-DC91-670E-14CE-F94A16A391C2}"/>
              </a:ext>
            </a:extLst>
          </p:cNvPr>
          <p:cNvSpPr txBox="1">
            <a:spLocks/>
          </p:cNvSpPr>
          <p:nvPr/>
        </p:nvSpPr>
        <p:spPr>
          <a:xfrm>
            <a:off x="353784" y="2249805"/>
            <a:ext cx="11484429" cy="448627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lnSpc>
                <a:spcPts val="1913"/>
              </a:lnSpc>
              <a:buFont typeface="Arial" panose="020B0604020202020204" pitchFamily="34" charset="0"/>
              <a:buNone/>
            </a:pPr>
            <a:r>
              <a:rPr lang="en-ZA" sz="1600" b="1" dirty="0">
                <a:solidFill>
                  <a:schemeClr val="bg1"/>
                </a:solidFill>
                <a:latin typeface="Arial" panose="020B0604020202020204" pitchFamily="34" charset="0"/>
              </a:rPr>
              <a:t>CHAMBERS</a:t>
            </a:r>
            <a:r>
              <a:rPr lang="en-ZA" sz="1600" dirty="0">
                <a:solidFill>
                  <a:schemeClr val="bg1"/>
                </a:solidFill>
                <a:latin typeface="Arial" panose="020B0604020202020204" pitchFamily="34" charset="0"/>
              </a:rPr>
              <a:t> </a:t>
            </a:r>
            <a:endParaRPr lang="en-ZA" sz="1600" dirty="0">
              <a:solidFill>
                <a:schemeClr val="bg1"/>
              </a:solidFill>
              <a:latin typeface="Segoe UI" panose="020B0502040204020203" pitchFamily="34" charset="0"/>
            </a:endParaRPr>
          </a:p>
          <a:p>
            <a:pPr algn="just" fontAlgn="base">
              <a:lnSpc>
                <a:spcPts val="1913"/>
              </a:lnSpc>
              <a:buFont typeface="Arial" panose="020B0604020202020204" pitchFamily="34" charset="0"/>
              <a:buNone/>
            </a:pPr>
            <a:r>
              <a:rPr lang="en-US" sz="1600" b="1" dirty="0">
                <a:solidFill>
                  <a:schemeClr val="bg1"/>
                </a:solidFill>
                <a:latin typeface="Arial" panose="020B0604020202020204" pitchFamily="34" charset="0"/>
              </a:rPr>
              <a:t>PSCBC Workshops on the 2025/2026 Wage Negotiations Agreements</a:t>
            </a:r>
            <a:r>
              <a:rPr lang="en-ZA" sz="1600" dirty="0">
                <a:solidFill>
                  <a:schemeClr val="bg1"/>
                </a:solidFill>
                <a:latin typeface="Arial" panose="020B0604020202020204" pitchFamily="34" charset="0"/>
              </a:rPr>
              <a:t> </a:t>
            </a:r>
            <a:endParaRPr lang="en-ZA" sz="1600" dirty="0">
              <a:solidFill>
                <a:schemeClr val="bg1"/>
              </a:solidFill>
              <a:latin typeface="Segoe UI" panose="020B0502040204020203" pitchFamily="34" charset="0"/>
            </a:endParaRPr>
          </a:p>
          <a:p>
            <a:pPr algn="just" fontAlgn="base">
              <a:lnSpc>
                <a:spcPts val="1913"/>
              </a:lnSpc>
              <a:buFont typeface="Arial" panose="020B0604020202020204" pitchFamily="34" charset="0"/>
              <a:buNone/>
            </a:pPr>
            <a:r>
              <a:rPr lang="en-ZA" sz="1600" dirty="0">
                <a:solidFill>
                  <a:schemeClr val="bg1"/>
                </a:solidFill>
                <a:latin typeface="Arial" panose="020B0604020202020204" pitchFamily="34" charset="0"/>
              </a:rPr>
              <a:t>    During the previous reporting period, the PSCBC began conducting workshops on Resolutions 1 and 2 of 2025, both arising from the 2025/2026 wage negotiations. This initiative aimed to ensure consistent understanding and implementation of these resolutions. The program continued into the current reporting period, with additional workshops rolled out in the Mpumalanga, Eastern Cape, Northern Cape, Free State, and Western Cape provinces. </a:t>
            </a:r>
            <a:endParaRPr lang="en-ZA" sz="1600" dirty="0">
              <a:solidFill>
                <a:schemeClr val="bg1"/>
              </a:solidFill>
              <a:latin typeface="Segoe UI" panose="020B0502040204020203" pitchFamily="34" charset="0"/>
            </a:endParaRPr>
          </a:p>
          <a:p>
            <a:pPr fontAlgn="base">
              <a:lnSpc>
                <a:spcPts val="1913"/>
              </a:lnSpc>
              <a:buFont typeface="Arial" panose="020B0604020202020204" pitchFamily="34" charset="0"/>
              <a:buNone/>
            </a:pPr>
            <a:r>
              <a:rPr lang="en-ZA" sz="1600" b="1" dirty="0">
                <a:solidFill>
                  <a:schemeClr val="bg1"/>
                </a:solidFill>
                <a:latin typeface="Arial" panose="020B0604020202020204" pitchFamily="34" charset="0"/>
              </a:rPr>
              <a:t>PSETA Training Initiatives</a:t>
            </a:r>
            <a:r>
              <a:rPr lang="en-ZA" sz="1600" dirty="0">
                <a:solidFill>
                  <a:schemeClr val="bg1"/>
                </a:solidFill>
                <a:latin typeface="Arial" panose="020B0604020202020204" pitchFamily="34" charset="0"/>
              </a:rPr>
              <a:t> </a:t>
            </a:r>
            <a:endParaRPr lang="en-ZA" sz="1600" dirty="0">
              <a:solidFill>
                <a:schemeClr val="bg1"/>
              </a:solidFill>
              <a:latin typeface="Segoe UI" panose="020B0502040204020203" pitchFamily="34" charset="0"/>
            </a:endParaRPr>
          </a:p>
          <a:p>
            <a:pPr fontAlgn="base">
              <a:lnSpc>
                <a:spcPts val="1913"/>
              </a:lnSpc>
              <a:buFont typeface="Arial" panose="020B0604020202020204" pitchFamily="34" charset="0"/>
              <a:buNone/>
            </a:pPr>
            <a:r>
              <a:rPr lang="en-ZA" sz="1600" dirty="0">
                <a:solidFill>
                  <a:schemeClr val="bg1"/>
                </a:solidFill>
                <a:latin typeface="Arial" panose="020B0604020202020204" pitchFamily="34" charset="0"/>
              </a:rPr>
              <a:t>Through the Trade Union membership Management section of the Unit, the PSCBC Chambers participated in several training</a:t>
            </a:r>
          </a:p>
          <a:p>
            <a:pPr fontAlgn="base">
              <a:lnSpc>
                <a:spcPts val="1913"/>
              </a:lnSpc>
              <a:buFont typeface="Arial" panose="020B0604020202020204" pitchFamily="34" charset="0"/>
              <a:buNone/>
            </a:pPr>
            <a:r>
              <a:rPr lang="en-ZA" sz="1600" dirty="0">
                <a:solidFill>
                  <a:schemeClr val="bg1"/>
                </a:solidFill>
                <a:latin typeface="Arial" panose="020B0604020202020204" pitchFamily="34" charset="0"/>
              </a:rPr>
              <a:t>initiatives through a partnership with the GPSSBC, PHSDSBC, and the PSETA. These included the following: </a:t>
            </a:r>
            <a:endParaRPr lang="en-ZA" sz="1600" dirty="0">
              <a:solidFill>
                <a:schemeClr val="bg1"/>
              </a:solidFill>
              <a:latin typeface="Segoe UI" panose="020B0502040204020203" pitchFamily="34" charset="0"/>
            </a:endParaRPr>
          </a:p>
          <a:p>
            <a:pPr algn="just" fontAlgn="base">
              <a:lnSpc>
                <a:spcPts val="1913"/>
              </a:lnSpc>
            </a:pPr>
            <a:r>
              <a:rPr lang="en-ZA" sz="1600" i="1" dirty="0">
                <a:solidFill>
                  <a:schemeClr val="bg1"/>
                </a:solidFill>
                <a:latin typeface="Arial" panose="020B0604020202020204" pitchFamily="34" charset="0"/>
              </a:rPr>
              <a:t>Non-pivotal Dispute Management and Negotiation Skills Training</a:t>
            </a:r>
            <a:r>
              <a:rPr lang="en-ZA" sz="1600" dirty="0">
                <a:solidFill>
                  <a:schemeClr val="bg1"/>
                </a:solidFill>
                <a:latin typeface="Arial" panose="020B0604020202020204" pitchFamily="34" charset="0"/>
              </a:rPr>
              <a:t> </a:t>
            </a:r>
          </a:p>
          <a:p>
            <a:pPr algn="just" fontAlgn="base">
              <a:lnSpc>
                <a:spcPts val="1913"/>
              </a:lnSpc>
            </a:pPr>
            <a:r>
              <a:rPr lang="en-ZA" sz="1600" i="1" dirty="0">
                <a:solidFill>
                  <a:schemeClr val="bg1"/>
                </a:solidFill>
                <a:latin typeface="Arial" panose="020B0604020202020204" pitchFamily="34" charset="0"/>
              </a:rPr>
              <a:t>Apply Public Service Labour Legislation in Mediation (US ID 119954)</a:t>
            </a:r>
            <a:r>
              <a:rPr lang="en-ZA" sz="1600" dirty="0">
                <a:solidFill>
                  <a:schemeClr val="bg1"/>
                </a:solidFill>
                <a:latin typeface="Arial" panose="020B0604020202020204" pitchFamily="34" charset="0"/>
              </a:rPr>
              <a:t> </a:t>
            </a:r>
            <a:endParaRPr lang="en-ZA" sz="1600" dirty="0">
              <a:solidFill>
                <a:schemeClr val="bg1"/>
              </a:solidFill>
              <a:latin typeface="Segoe UI" panose="020B0502040204020203" pitchFamily="34" charset="0"/>
            </a:endParaRPr>
          </a:p>
          <a:p>
            <a:endParaRPr lang="en-ZA"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C81D7-BC82-3FA0-C4C1-909BFC278B3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ADBC402-4112-4AD2-7B19-4DB2AFCAF02A}"/>
              </a:ext>
            </a:extLst>
          </p:cNvPr>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9703EC03-8C4B-5037-3E46-57D1E829EF54}"/>
              </a:ext>
            </a:extLst>
          </p:cNvPr>
          <p:cNvSpPr/>
          <p:nvPr/>
        </p:nvSpPr>
        <p:spPr>
          <a:xfrm>
            <a:off x="487680" y="121920"/>
            <a:ext cx="11216640" cy="670560"/>
          </a:xfrm>
          <a:prstGeom prst="rect">
            <a:avLst/>
          </a:prstGeom>
          <a:noFill/>
          <a:ln/>
        </p:spPr>
        <p:txBody>
          <a:bodyPr wrap="square" lIns="0" tIns="0" rIns="0" bIns="0" rtlCol="0" anchor="ctr"/>
          <a:lstStyle/>
          <a:p>
            <a:r>
              <a:rPr lang="en-ZA" sz="2800" b="1" dirty="0">
                <a:solidFill>
                  <a:schemeClr val="bg1"/>
                </a:solidFill>
                <a:latin typeface="Arial" panose="020B0604020202020204" pitchFamily="34" charset="0"/>
                <a:cs typeface="Arial" panose="020B0604020202020204" pitchFamily="34" charset="0"/>
              </a:rPr>
              <a:t>Capacity Building for Parties to Council and Chambers </a:t>
            </a:r>
            <a:endParaRPr lang="en-US" sz="2667" dirty="0">
              <a:solidFill>
                <a:schemeClr val="bg1"/>
              </a:solidFill>
              <a:latin typeface="Arial" panose="020B0604020202020204" pitchFamily="34" charset="0"/>
              <a:cs typeface="Arial" panose="020B0604020202020204" pitchFamily="34" charset="0"/>
            </a:endParaRPr>
          </a:p>
        </p:txBody>
      </p:sp>
      <p:sp>
        <p:nvSpPr>
          <p:cNvPr id="5" name="Shape 3">
            <a:extLst>
              <a:ext uri="{FF2B5EF4-FFF2-40B4-BE49-F238E27FC236}">
                <a16:creationId xmlns:a16="http://schemas.microsoft.com/office/drawing/2014/main" id="{3DA406FD-D8B1-CF84-63A6-9808C4B630C1}"/>
              </a:ext>
            </a:extLst>
          </p:cNvPr>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6" name="Shape 4">
            <a:extLst>
              <a:ext uri="{FF2B5EF4-FFF2-40B4-BE49-F238E27FC236}">
                <a16:creationId xmlns:a16="http://schemas.microsoft.com/office/drawing/2014/main" id="{79C144F4-5BFF-0AE3-2082-1E53F0CBF758}"/>
              </a:ext>
            </a:extLst>
          </p:cNvPr>
          <p:cNvSpPr/>
          <p:nvPr/>
        </p:nvSpPr>
        <p:spPr>
          <a:xfrm>
            <a:off x="621204" y="1657528"/>
            <a:ext cx="10722532" cy="4635819"/>
          </a:xfrm>
          <a:prstGeom prst="rect">
            <a:avLst/>
          </a:prstGeom>
          <a:solidFill>
            <a:schemeClr val="accent5">
              <a:lumMod val="50000"/>
            </a:schemeClr>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24" name="Content Placeholder 3">
            <a:extLst>
              <a:ext uri="{FF2B5EF4-FFF2-40B4-BE49-F238E27FC236}">
                <a16:creationId xmlns:a16="http://schemas.microsoft.com/office/drawing/2014/main" id="{9683F91C-C7EA-6082-5146-592B4C4D0CCA}"/>
              </a:ext>
            </a:extLst>
          </p:cNvPr>
          <p:cNvSpPr txBox="1">
            <a:spLocks/>
          </p:cNvSpPr>
          <p:nvPr/>
        </p:nvSpPr>
        <p:spPr>
          <a:xfrm>
            <a:off x="707572" y="2102168"/>
            <a:ext cx="10075448" cy="3746541"/>
          </a:xfrm>
          <a:prstGeom prst="rect">
            <a:avLst/>
          </a:prstGeom>
          <a:solidFill>
            <a:srgbClr val="006E7F"/>
          </a:solidFill>
          <a:ln w="12700">
            <a:solidFill>
              <a:srgbClr val="006E7F"/>
            </a:solidFill>
            <a:prstDash val="solid"/>
          </a:ln>
        </p:spPr>
        <p:txBody>
          <a:bodyPr/>
          <a:lstStyle>
            <a:defPPr>
              <a:defRPr lang="en-US"/>
            </a:defPPr>
            <a:lvl1pPr>
              <a:defRPr sz="1600">
                <a:latin typeface="Arial" panose="020B06040202020202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bg1"/>
                </a:solidFill>
              </a:rPr>
              <a:t>7TH ALLS Conference 25-26 February 2026, Gaborone Botswana</a:t>
            </a:r>
            <a:r>
              <a:rPr lang="en-ZA" b="1" dirty="0">
                <a:solidFill>
                  <a:schemeClr val="bg1"/>
                </a:solidFill>
              </a:rPr>
              <a:t> </a:t>
            </a:r>
          </a:p>
          <a:p>
            <a:endParaRPr lang="en-ZA" dirty="0">
              <a:solidFill>
                <a:schemeClr val="bg1"/>
              </a:solidFill>
            </a:endParaRPr>
          </a:p>
          <a:p>
            <a:r>
              <a:rPr lang="en-ZA" dirty="0">
                <a:solidFill>
                  <a:schemeClr val="bg1"/>
                </a:solidFill>
              </a:rPr>
              <a:t>The African Labour Law Society (ALLS) is a professional association dedicated to the advancement of labour and employment law across the continent. Its primary objectives are to enhance legal expertise, </a:t>
            </a:r>
          </a:p>
          <a:p>
            <a:r>
              <a:rPr lang="en-ZA" dirty="0">
                <a:solidFill>
                  <a:schemeClr val="bg1"/>
                </a:solidFill>
              </a:rPr>
              <a:t>facilitate knowledge sharing among members, and encourage cross-border jurisdictional learning. As an affiliate, the Council sent a delegation of 21 members to this year’s conference, which was held on 25 and 26 February 2026, at the Grand Palm Conference Centre in Gaborone, Botswana. </a:t>
            </a:r>
          </a:p>
          <a:p>
            <a:r>
              <a:rPr lang="en-ZA" dirty="0">
                <a:solidFill>
                  <a:schemeClr val="bg1"/>
                </a:solidFill>
              </a:rPr>
              <a:t>    </a:t>
            </a:r>
          </a:p>
          <a:p>
            <a:r>
              <a:rPr lang="en-ZA" dirty="0">
                <a:solidFill>
                  <a:schemeClr val="bg1"/>
                </a:solidFill>
              </a:rPr>
              <a:t>Held under the theme "Balancing Rights and Responsibilities in the Modern African Workplace", the event provided invaluable insights and was highly regarded by delegates for its comprehensive and eye-opening perspective on evolving workplace dynamics. </a:t>
            </a:r>
          </a:p>
          <a:p>
            <a:endParaRPr lang="en-ZA" dirty="0"/>
          </a:p>
        </p:txBody>
      </p:sp>
    </p:spTree>
    <p:extLst>
      <p:ext uri="{BB962C8B-B14F-4D97-AF65-F5344CB8AC3E}">
        <p14:creationId xmlns:p14="http://schemas.microsoft.com/office/powerpoint/2010/main" val="20457759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74871-7765-22B1-AF65-5FE75445182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404B5B2-96D4-176F-E370-29D2E79A6593}"/>
              </a:ext>
            </a:extLst>
          </p:cNvPr>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B912E819-19D2-EC22-7AA7-3B8871FDC8A4}"/>
              </a:ext>
            </a:extLst>
          </p:cNvPr>
          <p:cNvSpPr/>
          <p:nvPr/>
        </p:nvSpPr>
        <p:spPr>
          <a:xfrm>
            <a:off x="487680" y="121920"/>
            <a:ext cx="11216640" cy="670560"/>
          </a:xfrm>
          <a:prstGeom prst="rect">
            <a:avLst/>
          </a:prstGeom>
          <a:noFill/>
          <a:ln/>
        </p:spPr>
        <p:txBody>
          <a:bodyPr wrap="square" lIns="0" tIns="0" rIns="0" bIns="0" rtlCol="0" anchor="ctr"/>
          <a:lstStyle/>
          <a:p>
            <a:r>
              <a:rPr lang="en-ZA" sz="2800" b="1" dirty="0">
                <a:solidFill>
                  <a:schemeClr val="bg1"/>
                </a:solidFill>
                <a:latin typeface="Arial" panose="020B0604020202020204" pitchFamily="34" charset="0"/>
                <a:cs typeface="Arial" panose="020B0604020202020204" pitchFamily="34" charset="0"/>
              </a:rPr>
              <a:t>DISPUTE MANAGEMENT</a:t>
            </a:r>
          </a:p>
        </p:txBody>
      </p:sp>
      <p:sp>
        <p:nvSpPr>
          <p:cNvPr id="4" name="Text 2">
            <a:extLst>
              <a:ext uri="{FF2B5EF4-FFF2-40B4-BE49-F238E27FC236}">
                <a16:creationId xmlns:a16="http://schemas.microsoft.com/office/drawing/2014/main" id="{4CE122D1-95D1-97DA-00A5-9FD79F5BC719}"/>
              </a:ext>
            </a:extLst>
          </p:cNvPr>
          <p:cNvSpPr/>
          <p:nvPr/>
        </p:nvSpPr>
        <p:spPr>
          <a:xfrm>
            <a:off x="487680" y="755904"/>
            <a:ext cx="11216640" cy="487680"/>
          </a:xfrm>
          <a:prstGeom prst="rect">
            <a:avLst/>
          </a:prstGeom>
          <a:noFill/>
          <a:ln/>
        </p:spPr>
        <p:txBody>
          <a:bodyPr wrap="square" lIns="0" tIns="0" rIns="0" bIns="0" rtlCol="0" anchor="ctr"/>
          <a:lstStyle/>
          <a:p>
            <a:endParaRPr lang="en-US" sz="1600" dirty="0">
              <a:solidFill>
                <a:schemeClr val="bg1"/>
              </a:solidFill>
              <a:latin typeface="Arial" panose="020B0604020202020204" pitchFamily="34" charset="0"/>
              <a:cs typeface="Arial" panose="020B0604020202020204" pitchFamily="34" charset="0"/>
            </a:endParaRPr>
          </a:p>
        </p:txBody>
      </p:sp>
      <p:sp>
        <p:nvSpPr>
          <p:cNvPr id="5" name="Shape 3">
            <a:extLst>
              <a:ext uri="{FF2B5EF4-FFF2-40B4-BE49-F238E27FC236}">
                <a16:creationId xmlns:a16="http://schemas.microsoft.com/office/drawing/2014/main" id="{EEFB4028-66E6-028B-FF14-AEBF85D5E03F}"/>
              </a:ext>
            </a:extLst>
          </p:cNvPr>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2" name="Shape 10">
            <a:extLst>
              <a:ext uri="{FF2B5EF4-FFF2-40B4-BE49-F238E27FC236}">
                <a16:creationId xmlns:a16="http://schemas.microsoft.com/office/drawing/2014/main" id="{06904659-D170-B2F5-7D52-FD3DE17DE420}"/>
              </a:ext>
            </a:extLst>
          </p:cNvPr>
          <p:cNvSpPr/>
          <p:nvPr/>
        </p:nvSpPr>
        <p:spPr>
          <a:xfrm>
            <a:off x="365760" y="2560320"/>
            <a:ext cx="11460480" cy="3596640"/>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13" name="Shape 11">
            <a:extLst>
              <a:ext uri="{FF2B5EF4-FFF2-40B4-BE49-F238E27FC236}">
                <a16:creationId xmlns:a16="http://schemas.microsoft.com/office/drawing/2014/main" id="{CB012DE8-3041-555A-9581-2EAEFC740E14}"/>
              </a:ext>
            </a:extLst>
          </p:cNvPr>
          <p:cNvSpPr/>
          <p:nvPr/>
        </p:nvSpPr>
        <p:spPr>
          <a:xfrm>
            <a:off x="365760" y="2560320"/>
            <a:ext cx="11460480" cy="512064"/>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4" name="Text 12">
            <a:extLst>
              <a:ext uri="{FF2B5EF4-FFF2-40B4-BE49-F238E27FC236}">
                <a16:creationId xmlns:a16="http://schemas.microsoft.com/office/drawing/2014/main" id="{EBFC33DE-E41D-0D46-41F5-76E38419A95A}"/>
              </a:ext>
            </a:extLst>
          </p:cNvPr>
          <p:cNvSpPr/>
          <p:nvPr/>
        </p:nvSpPr>
        <p:spPr>
          <a:xfrm>
            <a:off x="4328160" y="2560320"/>
            <a:ext cx="3413760" cy="512064"/>
          </a:xfrm>
          <a:prstGeom prst="rect">
            <a:avLst/>
          </a:prstGeom>
          <a:noFill/>
          <a:ln/>
        </p:spPr>
        <p:txBody>
          <a:bodyPr wrap="square" lIns="0" tIns="0" rIns="0" bIns="0" rtlCol="0" anchor="ctr"/>
          <a:lstStyle/>
          <a:p>
            <a:pPr algn="ctr"/>
            <a:r>
              <a:rPr lang="en-US" sz="1600" b="1" dirty="0">
                <a:solidFill>
                  <a:srgbClr val="FFFFFF"/>
                </a:solidFill>
                <a:latin typeface="Arial" panose="020B0604020202020204" pitchFamily="34" charset="0"/>
                <a:ea typeface="Calibri" pitchFamily="34" charset="-122"/>
                <a:cs typeface="Arial" panose="020B0604020202020204" pitchFamily="34" charset="0"/>
              </a:rPr>
              <a:t>MANDATE</a:t>
            </a:r>
            <a:endParaRPr lang="en-US" sz="1600" dirty="0">
              <a:latin typeface="Arial" panose="020B0604020202020204" pitchFamily="34" charset="0"/>
              <a:cs typeface="Arial" panose="020B0604020202020204" pitchFamily="34" charset="0"/>
            </a:endParaRPr>
          </a:p>
        </p:txBody>
      </p:sp>
      <p:sp>
        <p:nvSpPr>
          <p:cNvPr id="15" name="Text 13">
            <a:extLst>
              <a:ext uri="{FF2B5EF4-FFF2-40B4-BE49-F238E27FC236}">
                <a16:creationId xmlns:a16="http://schemas.microsoft.com/office/drawing/2014/main" id="{6F307653-A77D-6F8C-C038-E8FB5C80F894}"/>
              </a:ext>
            </a:extLst>
          </p:cNvPr>
          <p:cNvSpPr/>
          <p:nvPr/>
        </p:nvSpPr>
        <p:spPr>
          <a:xfrm>
            <a:off x="365760" y="3169920"/>
            <a:ext cx="11460480" cy="2865120"/>
          </a:xfrm>
          <a:prstGeom prst="rect">
            <a:avLst/>
          </a:prstGeom>
          <a:noFill/>
          <a:ln/>
        </p:spPr>
        <p:txBody>
          <a:bodyPr wrap="square" rtlCol="0" anchor="ctr"/>
          <a:lstStyle/>
          <a:p>
            <a:pPr algn="ctr"/>
            <a:r>
              <a:rPr lang="en-ZA" sz="1600" dirty="0"/>
              <a:t> </a:t>
            </a:r>
            <a:r>
              <a:rPr lang="en-US" sz="1600" dirty="0">
                <a:latin typeface="Arial" panose="020B0604020202020204" pitchFamily="34" charset="0"/>
                <a:ea typeface="Calibri" panose="020F0502020204030204" pitchFamily="34" charset="0"/>
                <a:cs typeface="Times New Roman" panose="02020603050405020304" pitchFamily="18" charset="0"/>
              </a:rPr>
              <a:t>To perform dispute resolution functions in terms of section 127 of the </a:t>
            </a:r>
            <a:r>
              <a:rPr lang="en-US" sz="1600" dirty="0" err="1">
                <a:latin typeface="Arial" panose="020B0604020202020204" pitchFamily="34" charset="0"/>
                <a:ea typeface="Calibri" panose="020F0502020204030204" pitchFamily="34" charset="0"/>
                <a:cs typeface="Times New Roman" panose="02020603050405020304" pitchFamily="18" charset="0"/>
              </a:rPr>
              <a:t>Labour</a:t>
            </a:r>
            <a:r>
              <a:rPr lang="en-US" sz="1600" dirty="0">
                <a:latin typeface="Arial" panose="020B0604020202020204" pitchFamily="34" charset="0"/>
                <a:ea typeface="Calibri" panose="020F0502020204030204" pitchFamily="34" charset="0"/>
                <a:cs typeface="Times New Roman" panose="02020603050405020304" pitchFamily="18" charset="0"/>
              </a:rPr>
              <a:t> Relations Act 66 of 1995 as amended</a:t>
            </a:r>
            <a:endParaRPr lang="en-ZA" sz="1600" i="1" dirty="0"/>
          </a:p>
        </p:txBody>
      </p:sp>
      <p:pic>
        <p:nvPicPr>
          <p:cNvPr id="20" name="Graphic 19" descr="Badge Tick with solid fill">
            <a:extLst>
              <a:ext uri="{FF2B5EF4-FFF2-40B4-BE49-F238E27FC236}">
                <a16:creationId xmlns:a16="http://schemas.microsoft.com/office/drawing/2014/main" id="{8688B84F-8D8D-CAF9-90E3-4D60B2EABE8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5760" y="2485139"/>
            <a:ext cx="654072" cy="662425"/>
          </a:xfrm>
          <a:prstGeom prst="rect">
            <a:avLst/>
          </a:prstGeom>
        </p:spPr>
      </p:pic>
      <p:sp>
        <p:nvSpPr>
          <p:cNvPr id="6" name="Oval 5">
            <a:extLst>
              <a:ext uri="{FF2B5EF4-FFF2-40B4-BE49-F238E27FC236}">
                <a16:creationId xmlns:a16="http://schemas.microsoft.com/office/drawing/2014/main" id="{A9287C83-2421-E02D-168A-00E0E5724E57}"/>
              </a:ext>
            </a:extLst>
          </p:cNvPr>
          <p:cNvSpPr/>
          <p:nvPr/>
        </p:nvSpPr>
        <p:spPr>
          <a:xfrm>
            <a:off x="11168925" y="290390"/>
            <a:ext cx="844610" cy="833493"/>
          </a:xfrm>
          <a:prstGeom prst="ellipse">
            <a:avLst/>
          </a:prstGeom>
          <a:solidFill>
            <a:srgbClr val="FFFFFF"/>
          </a:solidFill>
          <a:ln w="9525" cap="flat" cmpd="sng" algn="ctr">
            <a:no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srgbClr val="000000"/>
              </a:solidFill>
              <a:effectLst/>
              <a:uLnTx/>
              <a:uFillTx/>
              <a:latin typeface="Arial"/>
              <a:ea typeface="+mn-ea"/>
              <a:cs typeface="+mn-cs"/>
            </a:endParaRPr>
          </a:p>
        </p:txBody>
      </p:sp>
      <p:pic>
        <p:nvPicPr>
          <p:cNvPr id="8" name="Graphic 7" descr="Scales of justice with solid fill">
            <a:extLst>
              <a:ext uri="{FF2B5EF4-FFF2-40B4-BE49-F238E27FC236}">
                <a16:creationId xmlns:a16="http://schemas.microsoft.com/office/drawing/2014/main" id="{405F1CCB-C8DA-0D0F-9BB2-B143380A5A3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168925" y="290389"/>
            <a:ext cx="833494" cy="833494"/>
          </a:xfrm>
          <a:prstGeom prst="rect">
            <a:avLst/>
          </a:prstGeom>
        </p:spPr>
      </p:pic>
    </p:spTree>
    <p:extLst>
      <p:ext uri="{BB962C8B-B14F-4D97-AF65-F5344CB8AC3E}">
        <p14:creationId xmlns:p14="http://schemas.microsoft.com/office/powerpoint/2010/main" val="28437379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3" name="Text 1"/>
          <p:cNvSpPr/>
          <p:nvPr/>
        </p:nvSpPr>
        <p:spPr>
          <a:xfrm>
            <a:off x="487680" y="121920"/>
            <a:ext cx="11216640" cy="670560"/>
          </a:xfrm>
          <a:prstGeom prst="rect">
            <a:avLst/>
          </a:prstGeom>
          <a:noFill/>
          <a:ln/>
        </p:spPr>
        <p:txBody>
          <a:bodyPr wrap="square" lIns="0" tIns="0" rIns="0" bIns="0" rtlCol="0" anchor="ctr"/>
          <a:lstStyle/>
          <a:p>
            <a:r>
              <a:rPr lang="en-ZA" sz="2800" b="1" dirty="0">
                <a:solidFill>
                  <a:schemeClr val="bg1"/>
                </a:solidFill>
                <a:latin typeface="Arial" panose="020B0604020202020204" pitchFamily="34" charset="0"/>
                <a:cs typeface="Arial" panose="020B0604020202020204" pitchFamily="34" charset="0"/>
              </a:rPr>
              <a:t>Key Highlights</a:t>
            </a:r>
            <a:endParaRPr lang="en-US" sz="2667" dirty="0">
              <a:solidFill>
                <a:schemeClr val="bg1"/>
              </a:solidFill>
              <a:latin typeface="Arial" panose="020B0604020202020204" pitchFamily="34" charset="0"/>
              <a:cs typeface="Arial" panose="020B0604020202020204" pitchFamily="34" charset="0"/>
            </a:endParaRPr>
          </a:p>
        </p:txBody>
      </p:sp>
      <p:sp>
        <p:nvSpPr>
          <p:cNvPr id="5" name="Shape 3"/>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7" name="Shape 5"/>
          <p:cNvSpPr/>
          <p:nvPr/>
        </p:nvSpPr>
        <p:spPr>
          <a:xfrm>
            <a:off x="2379206" y="2133600"/>
            <a:ext cx="85344" cy="1463040"/>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9" name="Shape 17"/>
          <p:cNvSpPr/>
          <p:nvPr/>
        </p:nvSpPr>
        <p:spPr>
          <a:xfrm>
            <a:off x="2391987" y="4343097"/>
            <a:ext cx="85344" cy="1463040"/>
          </a:xfrm>
          <a:prstGeom prst="rect">
            <a:avLst/>
          </a:prstGeom>
          <a:solidFill>
            <a:srgbClr val="4A7C8E"/>
          </a:solidFill>
          <a:ln w="12700">
            <a:solidFill>
              <a:srgbClr val="4A7C8E"/>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26" name="Rectangle 25">
            <a:extLst>
              <a:ext uri="{FF2B5EF4-FFF2-40B4-BE49-F238E27FC236}">
                <a16:creationId xmlns:a16="http://schemas.microsoft.com/office/drawing/2014/main" id="{CAB07026-6035-1649-B9F4-34D5E28C1358}"/>
              </a:ext>
            </a:extLst>
          </p:cNvPr>
          <p:cNvSpPr/>
          <p:nvPr/>
        </p:nvSpPr>
        <p:spPr>
          <a:xfrm>
            <a:off x="773306" y="1950721"/>
            <a:ext cx="1618681" cy="1867040"/>
          </a:xfrm>
          <a:prstGeom prst="rect">
            <a:avLst/>
          </a:prstGeom>
          <a:solidFill>
            <a:schemeClr val="accent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fontAlgn="base">
              <a:spcBef>
                <a:spcPct val="0"/>
              </a:spcBef>
              <a:spcAft>
                <a:spcPct val="0"/>
              </a:spcAft>
            </a:pPr>
            <a:endParaRPr lang="en-ZA" sz="1372" dirty="0">
              <a:solidFill>
                <a:srgbClr val="FFFFFF"/>
              </a:solidFill>
              <a:latin typeface="Arial"/>
            </a:endParaRPr>
          </a:p>
          <a:p>
            <a:pPr fontAlgn="base">
              <a:spcBef>
                <a:spcPct val="0"/>
              </a:spcBef>
              <a:spcAft>
                <a:spcPct val="0"/>
              </a:spcAft>
            </a:pPr>
            <a:endParaRPr lang="en-ZA" sz="1372" dirty="0">
              <a:solidFill>
                <a:srgbClr val="FFFFFF"/>
              </a:solidFill>
              <a:latin typeface="Arial"/>
            </a:endParaRPr>
          </a:p>
          <a:p>
            <a:pPr algn="ctr" fontAlgn="base">
              <a:spcBef>
                <a:spcPct val="0"/>
              </a:spcBef>
              <a:spcAft>
                <a:spcPct val="0"/>
              </a:spcAft>
            </a:pPr>
            <a:endParaRPr lang="en-ZA" sz="1372" dirty="0">
              <a:solidFill>
                <a:srgbClr val="FFFFFF"/>
              </a:solidFill>
              <a:latin typeface="Arial"/>
            </a:endParaRPr>
          </a:p>
          <a:p>
            <a:pPr algn="ctr" fontAlgn="base">
              <a:spcBef>
                <a:spcPct val="0"/>
              </a:spcBef>
              <a:spcAft>
                <a:spcPct val="0"/>
              </a:spcAft>
            </a:pPr>
            <a:endParaRPr lang="en-ZA" sz="1372" dirty="0">
              <a:solidFill>
                <a:srgbClr val="FFFFFF"/>
              </a:solidFill>
              <a:latin typeface="Arial"/>
            </a:endParaRPr>
          </a:p>
          <a:p>
            <a:pPr algn="ctr" fontAlgn="base">
              <a:spcBef>
                <a:spcPct val="0"/>
              </a:spcBef>
              <a:spcAft>
                <a:spcPct val="0"/>
              </a:spcAft>
            </a:pPr>
            <a:r>
              <a:rPr lang="en-ZA" sz="1372" dirty="0">
                <a:solidFill>
                  <a:srgbClr val="FFFFFF"/>
                </a:solidFill>
                <a:latin typeface="Arial"/>
              </a:rPr>
              <a:t>PSCBC PORTAL </a:t>
            </a:r>
          </a:p>
        </p:txBody>
      </p:sp>
      <p:sp>
        <p:nvSpPr>
          <p:cNvPr id="27" name="Rectangle 26">
            <a:extLst>
              <a:ext uri="{FF2B5EF4-FFF2-40B4-BE49-F238E27FC236}">
                <a16:creationId xmlns:a16="http://schemas.microsoft.com/office/drawing/2014/main" id="{8A92832C-0359-ADAC-D3D6-24952F5BCC8F}"/>
              </a:ext>
            </a:extLst>
          </p:cNvPr>
          <p:cNvSpPr/>
          <p:nvPr/>
        </p:nvSpPr>
        <p:spPr>
          <a:xfrm>
            <a:off x="2497489" y="1950720"/>
            <a:ext cx="9206831" cy="1902677"/>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GB" b="0" i="0" u="none" strike="noStrike" baseline="0" dirty="0">
                <a:solidFill>
                  <a:schemeClr val="bg1"/>
                </a:solidFill>
                <a:latin typeface="Arial" panose="020B0604020202020204" pitchFamily="34" charset="0"/>
              </a:rPr>
              <a:t>The PSCBC Portal is an advancement to the Council’s automated business management system. The Portal extends to functions which allow panellists and parties to connect to the internal business management system and interact with processes in real-time. </a:t>
            </a:r>
            <a:endParaRPr lang="en-ZA" dirty="0">
              <a:solidFill>
                <a:schemeClr val="bg1"/>
              </a:solidFill>
            </a:endParaRPr>
          </a:p>
        </p:txBody>
      </p:sp>
      <p:grpSp>
        <p:nvGrpSpPr>
          <p:cNvPr id="28" name="Group 27">
            <a:extLst>
              <a:ext uri="{FF2B5EF4-FFF2-40B4-BE49-F238E27FC236}">
                <a16:creationId xmlns:a16="http://schemas.microsoft.com/office/drawing/2014/main" id="{2BAE07CC-BD8D-2C5D-1091-CED99561B7FD}"/>
              </a:ext>
            </a:extLst>
          </p:cNvPr>
          <p:cNvGrpSpPr/>
          <p:nvPr/>
        </p:nvGrpSpPr>
        <p:grpSpPr>
          <a:xfrm>
            <a:off x="263355" y="1742225"/>
            <a:ext cx="914400" cy="914400"/>
            <a:chOff x="4432300" y="3276735"/>
            <a:chExt cx="914400" cy="914400"/>
          </a:xfrm>
        </p:grpSpPr>
        <p:sp>
          <p:nvSpPr>
            <p:cNvPr id="29" name="Oval 28">
              <a:extLst>
                <a:ext uri="{FF2B5EF4-FFF2-40B4-BE49-F238E27FC236}">
                  <a16:creationId xmlns:a16="http://schemas.microsoft.com/office/drawing/2014/main" id="{C9BB3532-9B53-D7D3-F9B3-F0CD2AAA213C}"/>
                </a:ext>
              </a:extLst>
            </p:cNvPr>
            <p:cNvSpPr/>
            <p:nvPr/>
          </p:nvSpPr>
          <p:spPr>
            <a:xfrm>
              <a:off x="4432300" y="3276735"/>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pic>
          <p:nvPicPr>
            <p:cNvPr id="30" name="Graphic 29" descr="Programmer male with solid fill">
              <a:extLst>
                <a:ext uri="{FF2B5EF4-FFF2-40B4-BE49-F238E27FC236}">
                  <a16:creationId xmlns:a16="http://schemas.microsoft.com/office/drawing/2014/main" id="{C7F89EDB-43E0-84B4-3F45-A5698259D14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37801" y="3342775"/>
              <a:ext cx="703398" cy="703398"/>
            </a:xfrm>
            <a:prstGeom prst="rect">
              <a:avLst/>
            </a:prstGeom>
          </p:spPr>
        </p:pic>
      </p:grpSp>
      <p:sp>
        <p:nvSpPr>
          <p:cNvPr id="31" name="Rectangle 30">
            <a:extLst>
              <a:ext uri="{FF2B5EF4-FFF2-40B4-BE49-F238E27FC236}">
                <a16:creationId xmlns:a16="http://schemas.microsoft.com/office/drawing/2014/main" id="{9A96CEDD-2588-D9A5-7713-A7AEB6EFC87C}"/>
              </a:ext>
            </a:extLst>
          </p:cNvPr>
          <p:cNvSpPr/>
          <p:nvPr/>
        </p:nvSpPr>
        <p:spPr>
          <a:xfrm>
            <a:off x="773305" y="4126432"/>
            <a:ext cx="1618682" cy="1867040"/>
          </a:xfrm>
          <a:prstGeom prst="rect">
            <a:avLst/>
          </a:prstGeom>
          <a:solidFill>
            <a:schemeClr val="accent4">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fontAlgn="base">
              <a:spcBef>
                <a:spcPct val="0"/>
              </a:spcBef>
              <a:spcAft>
                <a:spcPct val="0"/>
              </a:spcAft>
            </a:pPr>
            <a:endParaRPr lang="en-ZA" sz="1372" dirty="0">
              <a:solidFill>
                <a:srgbClr val="FFFFFF"/>
              </a:solidFill>
              <a:latin typeface="Arial"/>
            </a:endParaRPr>
          </a:p>
          <a:p>
            <a:pPr fontAlgn="base">
              <a:spcBef>
                <a:spcPct val="0"/>
              </a:spcBef>
              <a:spcAft>
                <a:spcPct val="0"/>
              </a:spcAft>
            </a:pPr>
            <a:endParaRPr lang="en-ZA" sz="1372" dirty="0">
              <a:solidFill>
                <a:srgbClr val="FFFFFF"/>
              </a:solidFill>
              <a:latin typeface="Arial"/>
            </a:endParaRPr>
          </a:p>
          <a:p>
            <a:pPr algn="ctr" fontAlgn="base">
              <a:spcBef>
                <a:spcPct val="0"/>
              </a:spcBef>
              <a:spcAft>
                <a:spcPct val="0"/>
              </a:spcAft>
            </a:pPr>
            <a:r>
              <a:rPr lang="en-ZA" sz="1372" dirty="0">
                <a:solidFill>
                  <a:srgbClr val="FFFFFF"/>
                </a:solidFill>
                <a:latin typeface="Arial"/>
              </a:rPr>
              <a:t>MONITORING &amp; ENFORCEMENT OF COLLECTIVE AGREEMENTS &amp; RULES</a:t>
            </a:r>
          </a:p>
        </p:txBody>
      </p:sp>
      <p:sp>
        <p:nvSpPr>
          <p:cNvPr id="32" name="Rectangle 31">
            <a:extLst>
              <a:ext uri="{FF2B5EF4-FFF2-40B4-BE49-F238E27FC236}">
                <a16:creationId xmlns:a16="http://schemas.microsoft.com/office/drawing/2014/main" id="{487AF248-2FF1-7919-D95B-6FCA8C9D4CC4}"/>
              </a:ext>
            </a:extLst>
          </p:cNvPr>
          <p:cNvSpPr/>
          <p:nvPr/>
        </p:nvSpPr>
        <p:spPr>
          <a:xfrm>
            <a:off x="2497488" y="4123279"/>
            <a:ext cx="9206831" cy="1902677"/>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GB" sz="1600" b="0" i="0" u="none" strike="noStrike" baseline="0" dirty="0">
                <a:solidFill>
                  <a:schemeClr val="bg1"/>
                </a:solidFill>
                <a:latin typeface="Arial" panose="020B0604020202020204" pitchFamily="34" charset="0"/>
              </a:rPr>
              <a:t>The Council, empowered to monitor and enforce the collective agreements, concluded and workshopped several collective agreements including but not limited to regulating the enforcement of collective agreement in the public service, namely, Resolution 3 of 2023. Furthermore, the Council has replaced Resolution 4 of 2005, ‘Rules for the conduct of proceedings before the PSCBC’ with the new Rules – Resolution 1 of 2024. </a:t>
            </a:r>
            <a:endParaRPr lang="en-ZA" sz="1600" dirty="0">
              <a:solidFill>
                <a:schemeClr val="bg1"/>
              </a:solidFill>
            </a:endParaRPr>
          </a:p>
        </p:txBody>
      </p:sp>
      <p:sp>
        <p:nvSpPr>
          <p:cNvPr id="34" name="Oval 33">
            <a:extLst>
              <a:ext uri="{FF2B5EF4-FFF2-40B4-BE49-F238E27FC236}">
                <a16:creationId xmlns:a16="http://schemas.microsoft.com/office/drawing/2014/main" id="{8AD102B0-6E19-9372-B696-E510060CD432}"/>
              </a:ext>
            </a:extLst>
          </p:cNvPr>
          <p:cNvSpPr/>
          <p:nvPr/>
        </p:nvSpPr>
        <p:spPr>
          <a:xfrm>
            <a:off x="210604" y="3853397"/>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pic>
        <p:nvPicPr>
          <p:cNvPr id="35" name="Graphic 34" descr="Police male with solid fill">
            <a:extLst>
              <a:ext uri="{FF2B5EF4-FFF2-40B4-BE49-F238E27FC236}">
                <a16:creationId xmlns:a16="http://schemas.microsoft.com/office/drawing/2014/main" id="{41CE22B5-2725-4734-706B-BB5CF56A017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16106" y="3887765"/>
            <a:ext cx="736600" cy="7366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3" name="Text 1"/>
          <p:cNvSpPr/>
          <p:nvPr/>
        </p:nvSpPr>
        <p:spPr>
          <a:xfrm>
            <a:off x="487680" y="121920"/>
            <a:ext cx="11216640" cy="670560"/>
          </a:xfrm>
          <a:prstGeom prst="rect">
            <a:avLst/>
          </a:prstGeom>
          <a:noFill/>
          <a:ln/>
        </p:spPr>
        <p:txBody>
          <a:bodyPr wrap="square" lIns="0" tIns="0" rIns="0" bIns="0" rtlCol="0" anchor="ctr"/>
          <a:lstStyle/>
          <a:p>
            <a:r>
              <a:rPr lang="en-US" sz="2800" b="1" dirty="0">
                <a:solidFill>
                  <a:schemeClr val="bg1"/>
                </a:solidFill>
                <a:latin typeface="Arial" panose="020B0604020202020204" pitchFamily="34" charset="0"/>
                <a:cs typeface="Arial" panose="020B0604020202020204" pitchFamily="34" charset="0"/>
              </a:rPr>
              <a:t>Statistics: Referrals</a:t>
            </a:r>
            <a:endParaRPr lang="en-US" sz="2667" dirty="0">
              <a:solidFill>
                <a:schemeClr val="bg1"/>
              </a:solidFill>
              <a:latin typeface="Arial" panose="020B0604020202020204" pitchFamily="34" charset="0"/>
              <a:cs typeface="Arial" panose="020B0604020202020204" pitchFamily="34" charset="0"/>
            </a:endParaRPr>
          </a:p>
        </p:txBody>
      </p:sp>
      <p:sp>
        <p:nvSpPr>
          <p:cNvPr id="5" name="Shape 3"/>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7" name="Shape 5"/>
          <p:cNvSpPr/>
          <p:nvPr/>
        </p:nvSpPr>
        <p:spPr>
          <a:xfrm>
            <a:off x="365760" y="1560576"/>
            <a:ext cx="85344" cy="1097280"/>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1" name="Shape 9"/>
          <p:cNvSpPr/>
          <p:nvPr/>
        </p:nvSpPr>
        <p:spPr>
          <a:xfrm>
            <a:off x="365760" y="2804160"/>
            <a:ext cx="85344" cy="109728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5" name="Shape 13"/>
          <p:cNvSpPr/>
          <p:nvPr/>
        </p:nvSpPr>
        <p:spPr>
          <a:xfrm>
            <a:off x="365760" y="4047744"/>
            <a:ext cx="85344" cy="1097280"/>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8" name="Shape 16"/>
          <p:cNvSpPr/>
          <p:nvPr/>
        </p:nvSpPr>
        <p:spPr>
          <a:xfrm>
            <a:off x="451104" y="1560576"/>
            <a:ext cx="5644896" cy="4828032"/>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19" name="Shape 17"/>
          <p:cNvSpPr/>
          <p:nvPr/>
        </p:nvSpPr>
        <p:spPr>
          <a:xfrm>
            <a:off x="365760" y="5291328"/>
            <a:ext cx="85344" cy="109728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pic>
        <p:nvPicPr>
          <p:cNvPr id="24" name="Picture 23" descr="Text Box 2, Textbox">
            <a:extLst>
              <a:ext uri="{FF2B5EF4-FFF2-40B4-BE49-F238E27FC236}">
                <a16:creationId xmlns:a16="http://schemas.microsoft.com/office/drawing/2014/main" id="{F29E3891-5507-DD06-DC2E-C0E4A587B6C3}"/>
              </a:ext>
            </a:extLst>
          </p:cNvPr>
          <p:cNvPicPr>
            <a:picLocks noChangeAspect="1"/>
          </p:cNvPicPr>
          <p:nvPr/>
        </p:nvPicPr>
        <p:blipFill>
          <a:blip r:embed="rId3"/>
          <a:stretch>
            <a:fillRect/>
          </a:stretch>
        </p:blipFill>
        <p:spPr>
          <a:xfrm>
            <a:off x="546175" y="1560577"/>
            <a:ext cx="5549825" cy="4828031"/>
          </a:xfrm>
          <a:prstGeom prst="rect">
            <a:avLst/>
          </a:prstGeom>
        </p:spPr>
      </p:pic>
      <p:pic>
        <p:nvPicPr>
          <p:cNvPr id="25" name="Picture 24" descr="Chart 14, Chart element">
            <a:extLst>
              <a:ext uri="{FF2B5EF4-FFF2-40B4-BE49-F238E27FC236}">
                <a16:creationId xmlns:a16="http://schemas.microsoft.com/office/drawing/2014/main" id="{55ED8694-C301-B342-8C45-B3F2717ECCAC}"/>
              </a:ext>
            </a:extLst>
          </p:cNvPr>
          <p:cNvPicPr>
            <a:picLocks noChangeAspect="1"/>
          </p:cNvPicPr>
          <p:nvPr/>
        </p:nvPicPr>
        <p:blipFill>
          <a:blip r:embed="rId4"/>
          <a:stretch>
            <a:fillRect/>
          </a:stretch>
        </p:blipFill>
        <p:spPr>
          <a:xfrm>
            <a:off x="6191071" y="2133600"/>
            <a:ext cx="5576266" cy="393417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E7FA7-67AF-A15E-5EC6-FDA7C89B251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B1025C2-1D0E-EC00-1C7D-94B1D4E721D8}"/>
              </a:ext>
            </a:extLst>
          </p:cNvPr>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07BC1F11-7404-DE23-411B-D7E4A3C9C2ED}"/>
              </a:ext>
            </a:extLst>
          </p:cNvPr>
          <p:cNvSpPr/>
          <p:nvPr/>
        </p:nvSpPr>
        <p:spPr>
          <a:xfrm>
            <a:off x="487680" y="121920"/>
            <a:ext cx="11216640" cy="670560"/>
          </a:xfrm>
          <a:prstGeom prst="rect">
            <a:avLst/>
          </a:prstGeom>
          <a:noFill/>
          <a:ln/>
        </p:spPr>
        <p:txBody>
          <a:bodyPr wrap="square" lIns="0" tIns="0" rIns="0" bIns="0" rtlCol="0" anchor="ctr"/>
          <a:lstStyle/>
          <a:p>
            <a:r>
              <a:rPr lang="en-US" sz="2800" b="1" dirty="0">
                <a:solidFill>
                  <a:schemeClr val="bg1"/>
                </a:solidFill>
                <a:latin typeface="Arial" panose="020B0604020202020204" pitchFamily="34" charset="0"/>
                <a:cs typeface="Arial" panose="020B0604020202020204" pitchFamily="34" charset="0"/>
              </a:rPr>
              <a:t>Statistics: Jurisdiction</a:t>
            </a:r>
            <a:endParaRPr lang="en-US" sz="2667" dirty="0">
              <a:solidFill>
                <a:schemeClr val="bg1"/>
              </a:solidFill>
              <a:latin typeface="Arial" panose="020B0604020202020204" pitchFamily="34" charset="0"/>
              <a:cs typeface="Arial" panose="020B0604020202020204" pitchFamily="34" charset="0"/>
            </a:endParaRPr>
          </a:p>
        </p:txBody>
      </p:sp>
      <p:sp>
        <p:nvSpPr>
          <p:cNvPr id="5" name="Shape 3">
            <a:extLst>
              <a:ext uri="{FF2B5EF4-FFF2-40B4-BE49-F238E27FC236}">
                <a16:creationId xmlns:a16="http://schemas.microsoft.com/office/drawing/2014/main" id="{40E3006C-E363-3561-F4A9-A1D08A3DE44D}"/>
              </a:ext>
            </a:extLst>
          </p:cNvPr>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7" name="Shape 5">
            <a:extLst>
              <a:ext uri="{FF2B5EF4-FFF2-40B4-BE49-F238E27FC236}">
                <a16:creationId xmlns:a16="http://schemas.microsoft.com/office/drawing/2014/main" id="{B5F0C0F8-1C73-C87D-FF35-F6A1C02E1B67}"/>
              </a:ext>
            </a:extLst>
          </p:cNvPr>
          <p:cNvSpPr/>
          <p:nvPr/>
        </p:nvSpPr>
        <p:spPr>
          <a:xfrm>
            <a:off x="365760" y="1560576"/>
            <a:ext cx="85344" cy="1097280"/>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1" name="Shape 9">
            <a:extLst>
              <a:ext uri="{FF2B5EF4-FFF2-40B4-BE49-F238E27FC236}">
                <a16:creationId xmlns:a16="http://schemas.microsoft.com/office/drawing/2014/main" id="{B4A43559-930D-DE93-67E4-63944C90C597}"/>
              </a:ext>
            </a:extLst>
          </p:cNvPr>
          <p:cNvSpPr/>
          <p:nvPr/>
        </p:nvSpPr>
        <p:spPr>
          <a:xfrm>
            <a:off x="365760" y="2804160"/>
            <a:ext cx="85344" cy="109728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5" name="Shape 13">
            <a:extLst>
              <a:ext uri="{FF2B5EF4-FFF2-40B4-BE49-F238E27FC236}">
                <a16:creationId xmlns:a16="http://schemas.microsoft.com/office/drawing/2014/main" id="{0C6CE6EE-F030-AC17-C352-5486E7CDD960}"/>
              </a:ext>
            </a:extLst>
          </p:cNvPr>
          <p:cNvSpPr/>
          <p:nvPr/>
        </p:nvSpPr>
        <p:spPr>
          <a:xfrm>
            <a:off x="365760" y="4047744"/>
            <a:ext cx="85344" cy="1097280"/>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8" name="Shape 16">
            <a:extLst>
              <a:ext uri="{FF2B5EF4-FFF2-40B4-BE49-F238E27FC236}">
                <a16:creationId xmlns:a16="http://schemas.microsoft.com/office/drawing/2014/main" id="{144BCD66-C67A-404B-3621-E7F5CA24DDE1}"/>
              </a:ext>
            </a:extLst>
          </p:cNvPr>
          <p:cNvSpPr/>
          <p:nvPr/>
        </p:nvSpPr>
        <p:spPr>
          <a:xfrm>
            <a:off x="451104" y="1560576"/>
            <a:ext cx="5644896" cy="4828032"/>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19" name="Shape 17">
            <a:extLst>
              <a:ext uri="{FF2B5EF4-FFF2-40B4-BE49-F238E27FC236}">
                <a16:creationId xmlns:a16="http://schemas.microsoft.com/office/drawing/2014/main" id="{0B46E128-DD51-8474-21B4-A6898BB5FF0B}"/>
              </a:ext>
            </a:extLst>
          </p:cNvPr>
          <p:cNvSpPr/>
          <p:nvPr/>
        </p:nvSpPr>
        <p:spPr>
          <a:xfrm>
            <a:off x="365760" y="5291328"/>
            <a:ext cx="85344" cy="109728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pic>
        <p:nvPicPr>
          <p:cNvPr id="22" name="Picture 21" descr="Text Box 3, Textbox">
            <a:extLst>
              <a:ext uri="{FF2B5EF4-FFF2-40B4-BE49-F238E27FC236}">
                <a16:creationId xmlns:a16="http://schemas.microsoft.com/office/drawing/2014/main" id="{FB7D0C32-958A-0A61-B5B8-E93C77B86896}"/>
              </a:ext>
            </a:extLst>
          </p:cNvPr>
          <p:cNvPicPr>
            <a:picLocks noChangeAspect="1"/>
          </p:cNvPicPr>
          <p:nvPr/>
        </p:nvPicPr>
        <p:blipFill>
          <a:blip r:embed="rId3"/>
          <a:stretch>
            <a:fillRect/>
          </a:stretch>
        </p:blipFill>
        <p:spPr>
          <a:xfrm>
            <a:off x="508783" y="1592298"/>
            <a:ext cx="5587217" cy="4796309"/>
          </a:xfrm>
          <a:prstGeom prst="rect">
            <a:avLst/>
          </a:prstGeom>
        </p:spPr>
      </p:pic>
      <p:pic>
        <p:nvPicPr>
          <p:cNvPr id="23" name="Picture 22" descr="Chart 22, Chart element">
            <a:extLst>
              <a:ext uri="{FF2B5EF4-FFF2-40B4-BE49-F238E27FC236}">
                <a16:creationId xmlns:a16="http://schemas.microsoft.com/office/drawing/2014/main" id="{C967810C-CCDB-416B-8B43-B4AD20146276}"/>
              </a:ext>
            </a:extLst>
          </p:cNvPr>
          <p:cNvPicPr>
            <a:picLocks noChangeAspect="1"/>
          </p:cNvPicPr>
          <p:nvPr/>
        </p:nvPicPr>
        <p:blipFill>
          <a:blip r:embed="rId4"/>
          <a:stretch>
            <a:fillRect/>
          </a:stretch>
        </p:blipFill>
        <p:spPr>
          <a:xfrm>
            <a:off x="6191071" y="2365253"/>
            <a:ext cx="5549825" cy="3364981"/>
          </a:xfrm>
          <a:prstGeom prst="rect">
            <a:avLst/>
          </a:prstGeom>
        </p:spPr>
      </p:pic>
    </p:spTree>
    <p:extLst>
      <p:ext uri="{BB962C8B-B14F-4D97-AF65-F5344CB8AC3E}">
        <p14:creationId xmlns:p14="http://schemas.microsoft.com/office/powerpoint/2010/main" val="1888145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580A2-82E3-1DE8-1852-4C04723B570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544374D-8934-E3A9-8F6E-30D6B2E4CFE1}"/>
              </a:ext>
            </a:extLst>
          </p:cNvPr>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64EF4397-A0F6-9725-B1A2-A7F5D9B68EF5}"/>
              </a:ext>
            </a:extLst>
          </p:cNvPr>
          <p:cNvSpPr/>
          <p:nvPr/>
        </p:nvSpPr>
        <p:spPr>
          <a:xfrm>
            <a:off x="487680" y="121920"/>
            <a:ext cx="11216640" cy="670560"/>
          </a:xfrm>
          <a:prstGeom prst="rect">
            <a:avLst/>
          </a:prstGeom>
          <a:noFill/>
          <a:ln/>
        </p:spPr>
        <p:txBody>
          <a:bodyPr wrap="square" lIns="0" tIns="0" rIns="0" bIns="0" rtlCol="0" anchor="ctr"/>
          <a:lstStyle/>
          <a:p>
            <a:r>
              <a:rPr lang="en-US" sz="2800" b="1" dirty="0">
                <a:solidFill>
                  <a:schemeClr val="bg1"/>
                </a:solidFill>
                <a:latin typeface="Arial" panose="020B0604020202020204" pitchFamily="34" charset="0"/>
                <a:cs typeface="Arial" panose="020B0604020202020204" pitchFamily="34" charset="0"/>
              </a:rPr>
              <a:t>Statistics: By issue</a:t>
            </a:r>
            <a:endParaRPr lang="en-US" sz="2667" dirty="0">
              <a:solidFill>
                <a:schemeClr val="bg1"/>
              </a:solidFill>
              <a:latin typeface="Arial" panose="020B0604020202020204" pitchFamily="34" charset="0"/>
              <a:cs typeface="Arial" panose="020B0604020202020204" pitchFamily="34" charset="0"/>
            </a:endParaRPr>
          </a:p>
        </p:txBody>
      </p:sp>
      <p:sp>
        <p:nvSpPr>
          <p:cNvPr id="5" name="Shape 3">
            <a:extLst>
              <a:ext uri="{FF2B5EF4-FFF2-40B4-BE49-F238E27FC236}">
                <a16:creationId xmlns:a16="http://schemas.microsoft.com/office/drawing/2014/main" id="{FC01B8CE-F9E2-944F-9B7D-FD6C232D1373}"/>
              </a:ext>
            </a:extLst>
          </p:cNvPr>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7" name="Shape 5">
            <a:extLst>
              <a:ext uri="{FF2B5EF4-FFF2-40B4-BE49-F238E27FC236}">
                <a16:creationId xmlns:a16="http://schemas.microsoft.com/office/drawing/2014/main" id="{0AFAE804-223E-614F-A131-C59355952A8B}"/>
              </a:ext>
            </a:extLst>
          </p:cNvPr>
          <p:cNvSpPr/>
          <p:nvPr/>
        </p:nvSpPr>
        <p:spPr>
          <a:xfrm>
            <a:off x="365760" y="1560576"/>
            <a:ext cx="85344" cy="1097280"/>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1" name="Shape 9">
            <a:extLst>
              <a:ext uri="{FF2B5EF4-FFF2-40B4-BE49-F238E27FC236}">
                <a16:creationId xmlns:a16="http://schemas.microsoft.com/office/drawing/2014/main" id="{D971A416-1052-45DF-0F54-C41AA86A5D6E}"/>
              </a:ext>
            </a:extLst>
          </p:cNvPr>
          <p:cNvSpPr/>
          <p:nvPr/>
        </p:nvSpPr>
        <p:spPr>
          <a:xfrm>
            <a:off x="365760" y="2804160"/>
            <a:ext cx="85344" cy="109728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5" name="Shape 13">
            <a:extLst>
              <a:ext uri="{FF2B5EF4-FFF2-40B4-BE49-F238E27FC236}">
                <a16:creationId xmlns:a16="http://schemas.microsoft.com/office/drawing/2014/main" id="{6841458B-DB0B-2658-1016-D44620F5D35A}"/>
              </a:ext>
            </a:extLst>
          </p:cNvPr>
          <p:cNvSpPr/>
          <p:nvPr/>
        </p:nvSpPr>
        <p:spPr>
          <a:xfrm>
            <a:off x="365760" y="4047744"/>
            <a:ext cx="85344" cy="1097280"/>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8" name="Shape 16">
            <a:extLst>
              <a:ext uri="{FF2B5EF4-FFF2-40B4-BE49-F238E27FC236}">
                <a16:creationId xmlns:a16="http://schemas.microsoft.com/office/drawing/2014/main" id="{4294047C-4BFA-76D3-723E-524FB04776C4}"/>
              </a:ext>
            </a:extLst>
          </p:cNvPr>
          <p:cNvSpPr/>
          <p:nvPr/>
        </p:nvSpPr>
        <p:spPr>
          <a:xfrm>
            <a:off x="451104" y="1560576"/>
            <a:ext cx="6422662" cy="4828032"/>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19" name="Shape 17">
            <a:extLst>
              <a:ext uri="{FF2B5EF4-FFF2-40B4-BE49-F238E27FC236}">
                <a16:creationId xmlns:a16="http://schemas.microsoft.com/office/drawing/2014/main" id="{83B437C0-D439-0C0B-F7CD-326ACDDE5466}"/>
              </a:ext>
            </a:extLst>
          </p:cNvPr>
          <p:cNvSpPr/>
          <p:nvPr/>
        </p:nvSpPr>
        <p:spPr>
          <a:xfrm>
            <a:off x="365760" y="5291328"/>
            <a:ext cx="85344" cy="109728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4141C86F-B4A9-603B-EE27-AE58F31D5B79}"/>
              </a:ext>
            </a:extLst>
          </p:cNvPr>
          <p:cNvSpPr txBox="1"/>
          <p:nvPr/>
        </p:nvSpPr>
        <p:spPr>
          <a:xfrm>
            <a:off x="409637" y="1560697"/>
            <a:ext cx="6224076" cy="4524315"/>
          </a:xfrm>
          <a:prstGeom prst="rect">
            <a:avLst/>
          </a:prstGeom>
          <a:noFill/>
        </p:spPr>
        <p:txBody>
          <a:bodyPr wrap="square">
            <a:spAutoFit/>
          </a:bodyPr>
          <a:lstStyle/>
          <a:p>
            <a:r>
              <a:rPr lang="en-GB" dirty="0"/>
              <a:t>The following PSCBC Resolutions are major contributors in the cases referred- </a:t>
            </a:r>
          </a:p>
          <a:p>
            <a:endParaRPr lang="en-GB" dirty="0"/>
          </a:p>
          <a:p>
            <a:r>
              <a:rPr lang="en-GB" dirty="0"/>
              <a:t>Disputes relating to Resolution 1 of 20033 account for 15% and 26% in the previous reporting period. </a:t>
            </a:r>
          </a:p>
          <a:p>
            <a:endParaRPr lang="en-GB" dirty="0"/>
          </a:p>
          <a:p>
            <a:r>
              <a:rPr lang="en-GB" dirty="0"/>
              <a:t>Disputes relating to Resolution 7 of 20004 account for 42% and 25% in the previous reporting period.   </a:t>
            </a:r>
          </a:p>
          <a:p>
            <a:endParaRPr lang="en-GB" dirty="0"/>
          </a:p>
          <a:p>
            <a:r>
              <a:rPr lang="en-GB" dirty="0"/>
              <a:t>Disputes relating to Resolution 3 of 20095 account for 14% and 18% in the previous reporting period.   </a:t>
            </a:r>
          </a:p>
          <a:p>
            <a:endParaRPr lang="en-GB" dirty="0"/>
          </a:p>
          <a:p>
            <a:r>
              <a:rPr lang="en-GB" dirty="0"/>
              <a:t>Disputes referred in terms of Resolution 14 of 20026 has been significantly reduced from 5% in the previous reporting period to 2% in compliance with clauses F8 &amp; F11 of Resolution 14 of 2002. </a:t>
            </a:r>
            <a:endParaRPr lang="en-ZA" dirty="0"/>
          </a:p>
        </p:txBody>
      </p:sp>
      <p:pic>
        <p:nvPicPr>
          <p:cNvPr id="6" name="Picture 5" descr="Chart 26, Chart element">
            <a:extLst>
              <a:ext uri="{FF2B5EF4-FFF2-40B4-BE49-F238E27FC236}">
                <a16:creationId xmlns:a16="http://schemas.microsoft.com/office/drawing/2014/main" id="{49038FD6-8A3D-048C-CB6B-7888466A8D71}"/>
              </a:ext>
            </a:extLst>
          </p:cNvPr>
          <p:cNvPicPr>
            <a:picLocks noChangeAspect="1"/>
          </p:cNvPicPr>
          <p:nvPr/>
        </p:nvPicPr>
        <p:blipFill>
          <a:blip r:embed="rId3"/>
          <a:stretch>
            <a:fillRect/>
          </a:stretch>
        </p:blipFill>
        <p:spPr>
          <a:xfrm>
            <a:off x="6873766" y="2985691"/>
            <a:ext cx="5318234" cy="2234167"/>
          </a:xfrm>
          <a:prstGeom prst="rect">
            <a:avLst/>
          </a:prstGeom>
        </p:spPr>
      </p:pic>
    </p:spTree>
    <p:extLst>
      <p:ext uri="{BB962C8B-B14F-4D97-AF65-F5344CB8AC3E}">
        <p14:creationId xmlns:p14="http://schemas.microsoft.com/office/powerpoint/2010/main" val="42699148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1A837-4C98-830D-CB52-FA5C64E30A7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6FE9C4A-EA01-D130-0D30-26133AFD61DE}"/>
              </a:ext>
            </a:extLst>
          </p:cNvPr>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43EDC7D7-EB4B-E2D2-A3E6-789C283DC825}"/>
              </a:ext>
            </a:extLst>
          </p:cNvPr>
          <p:cNvSpPr/>
          <p:nvPr/>
        </p:nvSpPr>
        <p:spPr>
          <a:xfrm>
            <a:off x="487680" y="121920"/>
            <a:ext cx="11216640" cy="670560"/>
          </a:xfrm>
          <a:prstGeom prst="rect">
            <a:avLst/>
          </a:prstGeom>
          <a:noFill/>
          <a:ln/>
        </p:spPr>
        <p:txBody>
          <a:bodyPr wrap="square" lIns="0" tIns="0" rIns="0" bIns="0" rtlCol="0" anchor="ctr"/>
          <a:lstStyle/>
          <a:p>
            <a:r>
              <a:rPr lang="en-US" sz="2800" b="1" dirty="0">
                <a:solidFill>
                  <a:schemeClr val="bg1"/>
                </a:solidFill>
                <a:latin typeface="Arial" panose="020B0604020202020204" pitchFamily="34" charset="0"/>
                <a:cs typeface="Arial" panose="020B0604020202020204" pitchFamily="34" charset="0"/>
              </a:rPr>
              <a:t>Statistics: By issue</a:t>
            </a:r>
            <a:endParaRPr lang="en-US" sz="2667" dirty="0">
              <a:solidFill>
                <a:schemeClr val="bg1"/>
              </a:solidFill>
              <a:latin typeface="Arial" panose="020B0604020202020204" pitchFamily="34" charset="0"/>
              <a:cs typeface="Arial" panose="020B0604020202020204" pitchFamily="34" charset="0"/>
            </a:endParaRPr>
          </a:p>
        </p:txBody>
      </p:sp>
      <p:sp>
        <p:nvSpPr>
          <p:cNvPr id="5" name="Shape 3">
            <a:extLst>
              <a:ext uri="{FF2B5EF4-FFF2-40B4-BE49-F238E27FC236}">
                <a16:creationId xmlns:a16="http://schemas.microsoft.com/office/drawing/2014/main" id="{0A311D56-151A-D762-E6FC-9350D13AB433}"/>
              </a:ext>
            </a:extLst>
          </p:cNvPr>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7" name="Shape 5">
            <a:extLst>
              <a:ext uri="{FF2B5EF4-FFF2-40B4-BE49-F238E27FC236}">
                <a16:creationId xmlns:a16="http://schemas.microsoft.com/office/drawing/2014/main" id="{EE951AE4-A8D3-98AA-659C-6D1984662089}"/>
              </a:ext>
            </a:extLst>
          </p:cNvPr>
          <p:cNvSpPr/>
          <p:nvPr/>
        </p:nvSpPr>
        <p:spPr>
          <a:xfrm>
            <a:off x="365760" y="1560576"/>
            <a:ext cx="85344" cy="1097280"/>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1" name="Shape 9">
            <a:extLst>
              <a:ext uri="{FF2B5EF4-FFF2-40B4-BE49-F238E27FC236}">
                <a16:creationId xmlns:a16="http://schemas.microsoft.com/office/drawing/2014/main" id="{14D10F12-692A-173F-BC16-B43DAB26F071}"/>
              </a:ext>
            </a:extLst>
          </p:cNvPr>
          <p:cNvSpPr/>
          <p:nvPr/>
        </p:nvSpPr>
        <p:spPr>
          <a:xfrm>
            <a:off x="365760" y="2804160"/>
            <a:ext cx="85344" cy="109728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5" name="Shape 13">
            <a:extLst>
              <a:ext uri="{FF2B5EF4-FFF2-40B4-BE49-F238E27FC236}">
                <a16:creationId xmlns:a16="http://schemas.microsoft.com/office/drawing/2014/main" id="{01C90432-45D8-1BD3-5710-6C0ABFC4BC32}"/>
              </a:ext>
            </a:extLst>
          </p:cNvPr>
          <p:cNvSpPr/>
          <p:nvPr/>
        </p:nvSpPr>
        <p:spPr>
          <a:xfrm>
            <a:off x="365760" y="4047744"/>
            <a:ext cx="85344" cy="1097280"/>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8" name="Shape 16">
            <a:extLst>
              <a:ext uri="{FF2B5EF4-FFF2-40B4-BE49-F238E27FC236}">
                <a16:creationId xmlns:a16="http://schemas.microsoft.com/office/drawing/2014/main" id="{3D297F32-D40B-B320-D3CC-41C4367E29CA}"/>
              </a:ext>
            </a:extLst>
          </p:cNvPr>
          <p:cNvSpPr/>
          <p:nvPr/>
        </p:nvSpPr>
        <p:spPr>
          <a:xfrm>
            <a:off x="451104" y="1560576"/>
            <a:ext cx="5644896" cy="4828032"/>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19" name="Shape 17">
            <a:extLst>
              <a:ext uri="{FF2B5EF4-FFF2-40B4-BE49-F238E27FC236}">
                <a16:creationId xmlns:a16="http://schemas.microsoft.com/office/drawing/2014/main" id="{1798D039-9693-F061-30DA-3222FE0E304D}"/>
              </a:ext>
            </a:extLst>
          </p:cNvPr>
          <p:cNvSpPr/>
          <p:nvPr/>
        </p:nvSpPr>
        <p:spPr>
          <a:xfrm>
            <a:off x="365760" y="5291328"/>
            <a:ext cx="85344" cy="109728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pic>
        <p:nvPicPr>
          <p:cNvPr id="8" name="Picture 7" descr="Text Box 3, Textbox">
            <a:extLst>
              <a:ext uri="{FF2B5EF4-FFF2-40B4-BE49-F238E27FC236}">
                <a16:creationId xmlns:a16="http://schemas.microsoft.com/office/drawing/2014/main" id="{DE744D7B-BD1D-0625-7052-EA9488BBA934}"/>
              </a:ext>
            </a:extLst>
          </p:cNvPr>
          <p:cNvPicPr>
            <a:picLocks noChangeAspect="1"/>
          </p:cNvPicPr>
          <p:nvPr/>
        </p:nvPicPr>
        <p:blipFill>
          <a:blip r:embed="rId3"/>
          <a:stretch>
            <a:fillRect/>
          </a:stretch>
        </p:blipFill>
        <p:spPr>
          <a:xfrm>
            <a:off x="512064" y="1621536"/>
            <a:ext cx="5498591" cy="4557652"/>
          </a:xfrm>
          <a:prstGeom prst="rect">
            <a:avLst/>
          </a:prstGeom>
        </p:spPr>
      </p:pic>
      <p:pic>
        <p:nvPicPr>
          <p:cNvPr id="9" name="Content Placeholder 8" descr="Chart 1, Chart element">
            <a:extLst>
              <a:ext uri="{FF2B5EF4-FFF2-40B4-BE49-F238E27FC236}">
                <a16:creationId xmlns:a16="http://schemas.microsoft.com/office/drawing/2014/main" id="{8E828878-FBFB-1B9F-5AE9-C006D3C5079B}"/>
              </a:ext>
            </a:extLst>
          </p:cNvPr>
          <p:cNvPicPr>
            <a:picLocks noChangeAspect="1"/>
          </p:cNvPicPr>
          <p:nvPr/>
        </p:nvPicPr>
        <p:blipFill>
          <a:blip r:embed="rId4"/>
          <a:stretch>
            <a:fillRect/>
          </a:stretch>
        </p:blipFill>
        <p:spPr>
          <a:xfrm>
            <a:off x="6242304" y="1950720"/>
            <a:ext cx="5906582" cy="3820018"/>
          </a:xfrm>
          <a:prstGeom prst="rect">
            <a:avLst/>
          </a:prstGeom>
        </p:spPr>
      </p:pic>
    </p:spTree>
    <p:extLst>
      <p:ext uri="{BB962C8B-B14F-4D97-AF65-F5344CB8AC3E}">
        <p14:creationId xmlns:p14="http://schemas.microsoft.com/office/powerpoint/2010/main" val="12581090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F1145-0957-DFA2-3CB0-0578F3B4ABA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01E6461-6026-678E-F10C-BDECDA2CC6B1}"/>
              </a:ext>
            </a:extLst>
          </p:cNvPr>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58C2B0D9-F3B7-8720-0818-EBB824F37479}"/>
              </a:ext>
            </a:extLst>
          </p:cNvPr>
          <p:cNvSpPr/>
          <p:nvPr/>
        </p:nvSpPr>
        <p:spPr>
          <a:xfrm>
            <a:off x="487680" y="121920"/>
            <a:ext cx="11216640" cy="670560"/>
          </a:xfrm>
          <a:prstGeom prst="rect">
            <a:avLst/>
          </a:prstGeom>
          <a:noFill/>
          <a:ln/>
        </p:spPr>
        <p:txBody>
          <a:bodyPr wrap="square" lIns="0" tIns="0" rIns="0" bIns="0" rtlCol="0" anchor="ctr"/>
          <a:lstStyle/>
          <a:p>
            <a:r>
              <a:rPr lang="en-US" sz="2800" b="1" dirty="0">
                <a:solidFill>
                  <a:schemeClr val="bg1"/>
                </a:solidFill>
                <a:latin typeface="Arial" panose="020B0604020202020204" pitchFamily="34" charset="0"/>
                <a:cs typeface="Arial" panose="020B0604020202020204" pitchFamily="34" charset="0"/>
              </a:rPr>
              <a:t>Statistics</a:t>
            </a:r>
            <a:endParaRPr lang="en-US" sz="2667" dirty="0">
              <a:solidFill>
                <a:schemeClr val="bg1"/>
              </a:solidFill>
              <a:latin typeface="Arial" panose="020B0604020202020204" pitchFamily="34" charset="0"/>
              <a:cs typeface="Arial" panose="020B0604020202020204" pitchFamily="34" charset="0"/>
            </a:endParaRPr>
          </a:p>
        </p:txBody>
      </p:sp>
      <p:sp>
        <p:nvSpPr>
          <p:cNvPr id="5" name="Shape 3">
            <a:extLst>
              <a:ext uri="{FF2B5EF4-FFF2-40B4-BE49-F238E27FC236}">
                <a16:creationId xmlns:a16="http://schemas.microsoft.com/office/drawing/2014/main" id="{24C6D90F-4544-AD4E-9161-3B316EB74E17}"/>
              </a:ext>
            </a:extLst>
          </p:cNvPr>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7" name="Shape 5">
            <a:extLst>
              <a:ext uri="{FF2B5EF4-FFF2-40B4-BE49-F238E27FC236}">
                <a16:creationId xmlns:a16="http://schemas.microsoft.com/office/drawing/2014/main" id="{1B1C0FF2-0C01-9CC8-3463-22EC35831388}"/>
              </a:ext>
            </a:extLst>
          </p:cNvPr>
          <p:cNvSpPr/>
          <p:nvPr/>
        </p:nvSpPr>
        <p:spPr>
          <a:xfrm>
            <a:off x="365760" y="1560576"/>
            <a:ext cx="85344" cy="1097280"/>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1" name="Shape 9">
            <a:extLst>
              <a:ext uri="{FF2B5EF4-FFF2-40B4-BE49-F238E27FC236}">
                <a16:creationId xmlns:a16="http://schemas.microsoft.com/office/drawing/2014/main" id="{289C014D-655C-2A18-DDA5-1155043B3C08}"/>
              </a:ext>
            </a:extLst>
          </p:cNvPr>
          <p:cNvSpPr/>
          <p:nvPr/>
        </p:nvSpPr>
        <p:spPr>
          <a:xfrm>
            <a:off x="365760" y="2804160"/>
            <a:ext cx="85344" cy="109728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5" name="Shape 13">
            <a:extLst>
              <a:ext uri="{FF2B5EF4-FFF2-40B4-BE49-F238E27FC236}">
                <a16:creationId xmlns:a16="http://schemas.microsoft.com/office/drawing/2014/main" id="{3E8F7AE7-8972-B273-4975-96A023DDCC2E}"/>
              </a:ext>
            </a:extLst>
          </p:cNvPr>
          <p:cNvSpPr/>
          <p:nvPr/>
        </p:nvSpPr>
        <p:spPr>
          <a:xfrm>
            <a:off x="365760" y="4047744"/>
            <a:ext cx="85344" cy="1097280"/>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8" name="Shape 16">
            <a:extLst>
              <a:ext uri="{FF2B5EF4-FFF2-40B4-BE49-F238E27FC236}">
                <a16:creationId xmlns:a16="http://schemas.microsoft.com/office/drawing/2014/main" id="{59864CF9-DC25-A2ED-6C62-F5C806FA1834}"/>
              </a:ext>
            </a:extLst>
          </p:cNvPr>
          <p:cNvSpPr/>
          <p:nvPr/>
        </p:nvSpPr>
        <p:spPr>
          <a:xfrm>
            <a:off x="421659" y="1560576"/>
            <a:ext cx="5644896" cy="4828032"/>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19" name="Shape 17">
            <a:extLst>
              <a:ext uri="{FF2B5EF4-FFF2-40B4-BE49-F238E27FC236}">
                <a16:creationId xmlns:a16="http://schemas.microsoft.com/office/drawing/2014/main" id="{BC575F87-5BCD-301E-C3CD-8770DC24AB6F}"/>
              </a:ext>
            </a:extLst>
          </p:cNvPr>
          <p:cNvSpPr/>
          <p:nvPr/>
        </p:nvSpPr>
        <p:spPr>
          <a:xfrm>
            <a:off x="365760" y="5291328"/>
            <a:ext cx="85344" cy="109728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3BA5E232-0371-1430-A9DE-674ED7CD90D5}"/>
              </a:ext>
            </a:extLst>
          </p:cNvPr>
          <p:cNvSpPr txBox="1"/>
          <p:nvPr/>
        </p:nvSpPr>
        <p:spPr>
          <a:xfrm>
            <a:off x="514331" y="1545398"/>
            <a:ext cx="5518440" cy="1754326"/>
          </a:xfrm>
          <a:prstGeom prst="rect">
            <a:avLst/>
          </a:prstGeom>
          <a:solidFill>
            <a:schemeClr val="accent5">
              <a:lumMod val="50000"/>
            </a:schemeClr>
          </a:solidFill>
        </p:spPr>
        <p:txBody>
          <a:bodyPr wrap="square">
            <a:spAutoFit/>
          </a:bodyPr>
          <a:lstStyle/>
          <a:p>
            <a:pPr fontAlgn="base"/>
            <a:r>
              <a:rPr lang="en-ZA" dirty="0"/>
              <a:t> </a:t>
            </a:r>
            <a:endParaRPr lang="en-ZA" dirty="0">
              <a:solidFill>
                <a:schemeClr val="bg1"/>
              </a:solidFill>
            </a:endParaRPr>
          </a:p>
          <a:p>
            <a:pPr fontAlgn="base"/>
            <a:r>
              <a:rPr lang="en-ZA" dirty="0">
                <a:solidFill>
                  <a:schemeClr val="bg1"/>
                </a:solidFill>
                <a:latin typeface="Arial" panose="020B0604020202020204" pitchFamily="34" charset="0"/>
                <a:cs typeface="Arial" panose="020B0604020202020204" pitchFamily="34" charset="0"/>
              </a:rPr>
              <a:t>At the conciliation phase, 97% of conciliations are unresolved. Of the 97% that remained unresolved, 54% have been referred to arbitration. </a:t>
            </a:r>
          </a:p>
          <a:p>
            <a:pPr fontAlgn="base"/>
            <a:r>
              <a:rPr lang="en-ZA" dirty="0">
                <a:solidFill>
                  <a:schemeClr val="bg1"/>
                </a:solidFill>
                <a:latin typeface="Arial" panose="020B0604020202020204" pitchFamily="34" charset="0"/>
                <a:cs typeface="Arial" panose="020B0604020202020204" pitchFamily="34" charset="0"/>
              </a:rPr>
              <a:t>The settlement and withdrawal rate at the conciliation level were both at a 1% each. </a:t>
            </a:r>
            <a:r>
              <a:rPr lang="en-ZA" dirty="0">
                <a:solidFill>
                  <a:schemeClr val="bg1"/>
                </a:solidFill>
              </a:rPr>
              <a:t> </a:t>
            </a:r>
          </a:p>
        </p:txBody>
      </p:sp>
      <p:sp>
        <p:nvSpPr>
          <p:cNvPr id="6" name="TextBox 5">
            <a:extLst>
              <a:ext uri="{FF2B5EF4-FFF2-40B4-BE49-F238E27FC236}">
                <a16:creationId xmlns:a16="http://schemas.microsoft.com/office/drawing/2014/main" id="{8920AF6B-893D-1071-A823-58C8ACF5D859}"/>
              </a:ext>
            </a:extLst>
          </p:cNvPr>
          <p:cNvSpPr txBox="1"/>
          <p:nvPr/>
        </p:nvSpPr>
        <p:spPr>
          <a:xfrm>
            <a:off x="487680" y="3901440"/>
            <a:ext cx="5518439" cy="2534027"/>
          </a:xfrm>
          <a:prstGeom prst="rect">
            <a:avLst/>
          </a:prstGeom>
          <a:solidFill>
            <a:schemeClr val="accent5">
              <a:lumMod val="50000"/>
            </a:schemeClr>
          </a:solidFill>
        </p:spPr>
        <p:txBody>
          <a:bodyPr wrap="square">
            <a:spAutoFit/>
          </a:bodyPr>
          <a:lstStyle/>
          <a:p>
            <a:pPr algn="just">
              <a:lnSpc>
                <a:spcPct val="150000"/>
              </a:lnSpc>
              <a:spcAft>
                <a:spcPts val="600"/>
              </a:spcAft>
            </a:pPr>
            <a:r>
              <a:rPr lang="en-ZA" dirty="0">
                <a:solidFill>
                  <a:schemeClr val="bg1"/>
                </a:solidFill>
                <a:latin typeface="Arial" panose="020B0604020202020204" pitchFamily="34" charset="0"/>
                <a:cs typeface="Arial" panose="020B0604020202020204" pitchFamily="34" charset="0"/>
              </a:rPr>
              <a:t>The Council conducted 245 arbitration processes. The outcomes from these processes are as follows: 51 awards were rendered, 86 cases were postponed (49 postponed by ruling &amp; 37 by party request), 16 disputes were withdrawn, and 12 settlements were reached. </a:t>
            </a:r>
            <a:endParaRPr lang="en-ZA" sz="1800" kern="10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p:txBody>
      </p:sp>
      <p:pic>
        <p:nvPicPr>
          <p:cNvPr id="10" name="Picture 9" descr="Chart 1, Chart element">
            <a:extLst>
              <a:ext uri="{FF2B5EF4-FFF2-40B4-BE49-F238E27FC236}">
                <a16:creationId xmlns:a16="http://schemas.microsoft.com/office/drawing/2014/main" id="{E442058E-43AF-632B-44F3-1F5C32CA0451}"/>
              </a:ext>
            </a:extLst>
          </p:cNvPr>
          <p:cNvPicPr>
            <a:picLocks noChangeAspect="1"/>
          </p:cNvPicPr>
          <p:nvPr/>
        </p:nvPicPr>
        <p:blipFill>
          <a:blip r:embed="rId3"/>
          <a:stretch>
            <a:fillRect/>
          </a:stretch>
        </p:blipFill>
        <p:spPr>
          <a:xfrm>
            <a:off x="6372786" y="1518255"/>
            <a:ext cx="5636334" cy="2352354"/>
          </a:xfrm>
          <a:prstGeom prst="rect">
            <a:avLst/>
          </a:prstGeom>
        </p:spPr>
      </p:pic>
      <p:pic>
        <p:nvPicPr>
          <p:cNvPr id="12" name="Picture 11" descr="Chart 18, Chart element">
            <a:extLst>
              <a:ext uri="{FF2B5EF4-FFF2-40B4-BE49-F238E27FC236}">
                <a16:creationId xmlns:a16="http://schemas.microsoft.com/office/drawing/2014/main" id="{193FF136-45D7-D81B-78F1-3B5C1F78CF41}"/>
              </a:ext>
            </a:extLst>
          </p:cNvPr>
          <p:cNvPicPr>
            <a:picLocks noChangeAspect="1"/>
          </p:cNvPicPr>
          <p:nvPr/>
        </p:nvPicPr>
        <p:blipFill>
          <a:blip r:embed="rId4"/>
          <a:stretch>
            <a:fillRect/>
          </a:stretch>
        </p:blipFill>
        <p:spPr>
          <a:xfrm>
            <a:off x="6125446" y="3987959"/>
            <a:ext cx="6032567" cy="2816860"/>
          </a:xfrm>
          <a:prstGeom prst="rect">
            <a:avLst/>
          </a:prstGeom>
        </p:spPr>
      </p:pic>
    </p:spTree>
    <p:extLst>
      <p:ext uri="{BB962C8B-B14F-4D97-AF65-F5344CB8AC3E}">
        <p14:creationId xmlns:p14="http://schemas.microsoft.com/office/powerpoint/2010/main" val="21167086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26AA0-C9AB-06F7-D3C9-BCEF1312170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7C53347-5313-76B6-F8EE-867863A691A4}"/>
              </a:ext>
            </a:extLst>
          </p:cNvPr>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B875BA46-EFE9-8BC2-A7F8-24FCBD8D4B10}"/>
              </a:ext>
            </a:extLst>
          </p:cNvPr>
          <p:cNvSpPr/>
          <p:nvPr/>
        </p:nvSpPr>
        <p:spPr>
          <a:xfrm>
            <a:off x="487680" y="121920"/>
            <a:ext cx="11216640" cy="670560"/>
          </a:xfrm>
          <a:prstGeom prst="rect">
            <a:avLst/>
          </a:prstGeom>
          <a:noFill/>
          <a:ln/>
        </p:spPr>
        <p:txBody>
          <a:bodyPr wrap="square" lIns="0" tIns="0" rIns="0" bIns="0" rtlCol="0" anchor="ctr"/>
          <a:lstStyle/>
          <a:p>
            <a:r>
              <a:rPr lang="en-US" sz="2800" b="1" dirty="0">
                <a:solidFill>
                  <a:schemeClr val="bg1"/>
                </a:solidFill>
                <a:latin typeface="Arial" panose="020B0604020202020204" pitchFamily="34" charset="0"/>
                <a:cs typeface="Arial" panose="020B0604020202020204" pitchFamily="34" charset="0"/>
              </a:rPr>
              <a:t>Statistics: Awards</a:t>
            </a:r>
            <a:endParaRPr lang="en-US" sz="2667" dirty="0">
              <a:solidFill>
                <a:schemeClr val="bg1"/>
              </a:solidFill>
              <a:latin typeface="Arial" panose="020B0604020202020204" pitchFamily="34" charset="0"/>
              <a:cs typeface="Arial" panose="020B0604020202020204" pitchFamily="34" charset="0"/>
            </a:endParaRPr>
          </a:p>
        </p:txBody>
      </p:sp>
      <p:sp>
        <p:nvSpPr>
          <p:cNvPr id="5" name="Shape 3">
            <a:extLst>
              <a:ext uri="{FF2B5EF4-FFF2-40B4-BE49-F238E27FC236}">
                <a16:creationId xmlns:a16="http://schemas.microsoft.com/office/drawing/2014/main" id="{0FED101A-D309-67D9-E79F-6790ECEA8438}"/>
              </a:ext>
            </a:extLst>
          </p:cNvPr>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7" name="Shape 5">
            <a:extLst>
              <a:ext uri="{FF2B5EF4-FFF2-40B4-BE49-F238E27FC236}">
                <a16:creationId xmlns:a16="http://schemas.microsoft.com/office/drawing/2014/main" id="{4ED26913-E0DB-75B4-D78C-8031A1637BA7}"/>
              </a:ext>
            </a:extLst>
          </p:cNvPr>
          <p:cNvSpPr/>
          <p:nvPr/>
        </p:nvSpPr>
        <p:spPr>
          <a:xfrm>
            <a:off x="365760" y="1560576"/>
            <a:ext cx="85344" cy="1097280"/>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1" name="Shape 9">
            <a:extLst>
              <a:ext uri="{FF2B5EF4-FFF2-40B4-BE49-F238E27FC236}">
                <a16:creationId xmlns:a16="http://schemas.microsoft.com/office/drawing/2014/main" id="{E375C5C1-16A1-B679-4CA4-03500CD40D7E}"/>
              </a:ext>
            </a:extLst>
          </p:cNvPr>
          <p:cNvSpPr/>
          <p:nvPr/>
        </p:nvSpPr>
        <p:spPr>
          <a:xfrm>
            <a:off x="365760" y="2804160"/>
            <a:ext cx="85344" cy="109728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5" name="Shape 13">
            <a:extLst>
              <a:ext uri="{FF2B5EF4-FFF2-40B4-BE49-F238E27FC236}">
                <a16:creationId xmlns:a16="http://schemas.microsoft.com/office/drawing/2014/main" id="{CF9D58E0-8878-5FAC-DC35-2602CFB3FFCA}"/>
              </a:ext>
            </a:extLst>
          </p:cNvPr>
          <p:cNvSpPr/>
          <p:nvPr/>
        </p:nvSpPr>
        <p:spPr>
          <a:xfrm>
            <a:off x="365760" y="4047744"/>
            <a:ext cx="85344" cy="1097280"/>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8" name="Shape 16">
            <a:extLst>
              <a:ext uri="{FF2B5EF4-FFF2-40B4-BE49-F238E27FC236}">
                <a16:creationId xmlns:a16="http://schemas.microsoft.com/office/drawing/2014/main" id="{FB274452-2112-9BA7-327A-0A84896D1C21}"/>
              </a:ext>
            </a:extLst>
          </p:cNvPr>
          <p:cNvSpPr/>
          <p:nvPr/>
        </p:nvSpPr>
        <p:spPr>
          <a:xfrm>
            <a:off x="451104" y="1560576"/>
            <a:ext cx="5644896" cy="4828032"/>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19" name="Shape 17">
            <a:extLst>
              <a:ext uri="{FF2B5EF4-FFF2-40B4-BE49-F238E27FC236}">
                <a16:creationId xmlns:a16="http://schemas.microsoft.com/office/drawing/2014/main" id="{DEAC583E-BF07-420B-123B-4C0D2B9C2104}"/>
              </a:ext>
            </a:extLst>
          </p:cNvPr>
          <p:cNvSpPr/>
          <p:nvPr/>
        </p:nvSpPr>
        <p:spPr>
          <a:xfrm>
            <a:off x="365760" y="5291328"/>
            <a:ext cx="85344" cy="109728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pic>
        <p:nvPicPr>
          <p:cNvPr id="4" name="Picture 3" descr="Text Box 3, Textbox">
            <a:extLst>
              <a:ext uri="{FF2B5EF4-FFF2-40B4-BE49-F238E27FC236}">
                <a16:creationId xmlns:a16="http://schemas.microsoft.com/office/drawing/2014/main" id="{E581AA0E-0ED9-B5C5-002E-F0C149F1B6C5}"/>
              </a:ext>
            </a:extLst>
          </p:cNvPr>
          <p:cNvPicPr>
            <a:picLocks noChangeAspect="1"/>
          </p:cNvPicPr>
          <p:nvPr/>
        </p:nvPicPr>
        <p:blipFill>
          <a:blip r:embed="rId3"/>
          <a:stretch>
            <a:fillRect/>
          </a:stretch>
        </p:blipFill>
        <p:spPr>
          <a:xfrm>
            <a:off x="463296" y="1621536"/>
            <a:ext cx="5632704" cy="4767072"/>
          </a:xfrm>
          <a:prstGeom prst="rect">
            <a:avLst/>
          </a:prstGeom>
        </p:spPr>
      </p:pic>
      <p:pic>
        <p:nvPicPr>
          <p:cNvPr id="6" name="Picture 5" descr="Chart 1, Chart element">
            <a:extLst>
              <a:ext uri="{FF2B5EF4-FFF2-40B4-BE49-F238E27FC236}">
                <a16:creationId xmlns:a16="http://schemas.microsoft.com/office/drawing/2014/main" id="{5DF90F79-D96C-C3F8-69FE-6B5DF3EE4329}"/>
              </a:ext>
            </a:extLst>
          </p:cNvPr>
          <p:cNvPicPr>
            <a:picLocks noChangeAspect="1"/>
          </p:cNvPicPr>
          <p:nvPr/>
        </p:nvPicPr>
        <p:blipFill>
          <a:blip r:embed="rId4"/>
          <a:stretch>
            <a:fillRect/>
          </a:stretch>
        </p:blipFill>
        <p:spPr>
          <a:xfrm>
            <a:off x="6160072" y="1950720"/>
            <a:ext cx="5666168" cy="4049595"/>
          </a:xfrm>
          <a:prstGeom prst="rect">
            <a:avLst/>
          </a:prstGeom>
        </p:spPr>
      </p:pic>
    </p:spTree>
    <p:extLst>
      <p:ext uri="{BB962C8B-B14F-4D97-AF65-F5344CB8AC3E}">
        <p14:creationId xmlns:p14="http://schemas.microsoft.com/office/powerpoint/2010/main" val="21697410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3" name="Text 1"/>
          <p:cNvSpPr/>
          <p:nvPr/>
        </p:nvSpPr>
        <p:spPr>
          <a:xfrm>
            <a:off x="487680" y="121920"/>
            <a:ext cx="11216640" cy="670560"/>
          </a:xfrm>
          <a:prstGeom prst="rect">
            <a:avLst/>
          </a:prstGeom>
          <a:noFill/>
          <a:ln/>
        </p:spPr>
        <p:txBody>
          <a:bodyPr wrap="square" lIns="0" tIns="0" rIns="0" bIns="0" rtlCol="0" anchor="ctr"/>
          <a:lstStyle/>
          <a:p>
            <a:r>
              <a:rPr lang="en-GB" sz="2800" b="1" dirty="0">
                <a:solidFill>
                  <a:schemeClr val="bg1"/>
                </a:solidFill>
                <a:latin typeface="Arial" panose="020B0604020202020204" pitchFamily="34" charset="0"/>
                <a:cs typeface="Arial" panose="020B0604020202020204" pitchFamily="34" charset="0"/>
              </a:rPr>
              <a:t>Matters on Review: 1 April to 31 March 2025</a:t>
            </a:r>
            <a:endParaRPr lang="en-US" sz="2667" dirty="0">
              <a:solidFill>
                <a:schemeClr val="bg1"/>
              </a:solidFill>
              <a:latin typeface="Arial" panose="020B0604020202020204" pitchFamily="34" charset="0"/>
              <a:cs typeface="Arial" panose="020B0604020202020204" pitchFamily="34" charset="0"/>
            </a:endParaRPr>
          </a:p>
        </p:txBody>
      </p:sp>
      <p:sp>
        <p:nvSpPr>
          <p:cNvPr id="5" name="Shape 3"/>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2400">
              <a:latin typeface="Arial" panose="020B0604020202020204" pitchFamily="34" charset="0"/>
              <a:cs typeface="Arial" panose="020B0604020202020204" pitchFamily="34" charset="0"/>
            </a:endParaRPr>
          </a:p>
        </p:txBody>
      </p:sp>
      <p:graphicFrame>
        <p:nvGraphicFramePr>
          <p:cNvPr id="33" name="Content Placeholder 7">
            <a:extLst>
              <a:ext uri="{FF2B5EF4-FFF2-40B4-BE49-F238E27FC236}">
                <a16:creationId xmlns:a16="http://schemas.microsoft.com/office/drawing/2014/main" id="{B8AD4E0E-E0B2-95A1-F540-01576E3292C7}"/>
              </a:ext>
            </a:extLst>
          </p:cNvPr>
          <p:cNvGraphicFramePr>
            <a:graphicFrameLocks/>
          </p:cNvGraphicFramePr>
          <p:nvPr>
            <p:extLst>
              <p:ext uri="{D42A27DB-BD31-4B8C-83A1-F6EECF244321}">
                <p14:modId xmlns:p14="http://schemas.microsoft.com/office/powerpoint/2010/main" val="2402597873"/>
              </p:ext>
            </p:extLst>
          </p:nvPr>
        </p:nvGraphicFramePr>
        <p:xfrm>
          <a:off x="129397" y="1699405"/>
          <a:ext cx="12062603" cy="4440232"/>
        </p:xfrm>
        <a:graphic>
          <a:graphicData uri="http://schemas.openxmlformats.org/drawingml/2006/table">
            <a:tbl>
              <a:tblPr/>
              <a:tblGrid>
                <a:gridCol w="1829820">
                  <a:extLst>
                    <a:ext uri="{9D8B030D-6E8A-4147-A177-3AD203B41FA5}">
                      <a16:colId xmlns:a16="http://schemas.microsoft.com/office/drawing/2014/main" val="2557095878"/>
                    </a:ext>
                  </a:extLst>
                </a:gridCol>
                <a:gridCol w="2682552">
                  <a:extLst>
                    <a:ext uri="{9D8B030D-6E8A-4147-A177-3AD203B41FA5}">
                      <a16:colId xmlns:a16="http://schemas.microsoft.com/office/drawing/2014/main" val="3253185246"/>
                    </a:ext>
                  </a:extLst>
                </a:gridCol>
                <a:gridCol w="1510047">
                  <a:extLst>
                    <a:ext uri="{9D8B030D-6E8A-4147-A177-3AD203B41FA5}">
                      <a16:colId xmlns:a16="http://schemas.microsoft.com/office/drawing/2014/main" val="325951959"/>
                    </a:ext>
                  </a:extLst>
                </a:gridCol>
                <a:gridCol w="4530137">
                  <a:extLst>
                    <a:ext uri="{9D8B030D-6E8A-4147-A177-3AD203B41FA5}">
                      <a16:colId xmlns:a16="http://schemas.microsoft.com/office/drawing/2014/main" val="1367080527"/>
                    </a:ext>
                  </a:extLst>
                </a:gridCol>
                <a:gridCol w="1510047">
                  <a:extLst>
                    <a:ext uri="{9D8B030D-6E8A-4147-A177-3AD203B41FA5}">
                      <a16:colId xmlns:a16="http://schemas.microsoft.com/office/drawing/2014/main" val="2197976879"/>
                    </a:ext>
                  </a:extLst>
                </a:gridCol>
              </a:tblGrid>
              <a:tr h="562940">
                <a:tc>
                  <a:txBody>
                    <a:bodyPr/>
                    <a:lstStyle/>
                    <a:p>
                      <a:pPr algn="l" rtl="0" fontAlgn="base">
                        <a:lnSpc>
                          <a:spcPts val="900"/>
                        </a:lnSpc>
                        <a:buNone/>
                      </a:pPr>
                      <a:endParaRPr lang="en-ZA" sz="1600" b="1" i="0" dirty="0">
                        <a:solidFill>
                          <a:schemeClr val="bg1"/>
                        </a:solidFill>
                        <a:effectLst/>
                        <a:latin typeface="Arial" panose="020B0604020202020204" pitchFamily="34" charset="0"/>
                      </a:endParaRPr>
                    </a:p>
                    <a:p>
                      <a:pPr algn="l" rtl="0" fontAlgn="base">
                        <a:lnSpc>
                          <a:spcPts val="900"/>
                        </a:lnSpc>
                        <a:buNone/>
                      </a:pPr>
                      <a:r>
                        <a:rPr lang="en-ZA" sz="1600" b="1" i="0" dirty="0">
                          <a:solidFill>
                            <a:schemeClr val="bg1"/>
                          </a:solidFill>
                          <a:effectLst/>
                          <a:latin typeface="Arial" panose="020B0604020202020204" pitchFamily="34" charset="0"/>
                        </a:rPr>
                        <a:t>Case Number </a:t>
                      </a:r>
                      <a:endParaRPr lang="en-ZA" sz="1600" b="1" i="0" dirty="0">
                        <a:solidFill>
                          <a:schemeClr val="bg1"/>
                        </a:solidFill>
                        <a:effectLst/>
                      </a:endParaRPr>
                    </a:p>
                  </a:txBody>
                  <a:tcPr>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l" rtl="0" fontAlgn="base">
                        <a:lnSpc>
                          <a:spcPts val="900"/>
                        </a:lnSpc>
                        <a:buNone/>
                      </a:pPr>
                      <a:endParaRPr lang="en-ZA" sz="1600" b="1" i="0" dirty="0">
                        <a:solidFill>
                          <a:schemeClr val="bg1"/>
                        </a:solidFill>
                        <a:effectLst/>
                        <a:latin typeface="Arial" panose="020B0604020202020204" pitchFamily="34" charset="0"/>
                      </a:endParaRPr>
                    </a:p>
                    <a:p>
                      <a:pPr algn="l" rtl="0" fontAlgn="base">
                        <a:lnSpc>
                          <a:spcPts val="900"/>
                        </a:lnSpc>
                        <a:buNone/>
                      </a:pPr>
                      <a:r>
                        <a:rPr lang="en-ZA" sz="1600" b="1" i="0" dirty="0">
                          <a:solidFill>
                            <a:schemeClr val="bg1"/>
                          </a:solidFill>
                          <a:effectLst/>
                          <a:latin typeface="Arial" panose="020B0604020202020204" pitchFamily="34" charset="0"/>
                        </a:rPr>
                        <a:t>Outcome </a:t>
                      </a:r>
                      <a:endParaRPr lang="en-ZA" sz="1600" b="1" i="0" dirty="0">
                        <a:solidFill>
                          <a:schemeClr val="bg1"/>
                        </a:solidFill>
                        <a:effectLst/>
                      </a:endParaRPr>
                    </a:p>
                  </a:txBody>
                  <a:tcPr>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l" rtl="0" fontAlgn="base">
                        <a:lnSpc>
                          <a:spcPts val="900"/>
                        </a:lnSpc>
                        <a:buNone/>
                      </a:pPr>
                      <a:endParaRPr lang="en-ZA" sz="1600" b="1" i="0" dirty="0">
                        <a:solidFill>
                          <a:schemeClr val="bg1"/>
                        </a:solidFill>
                        <a:effectLst/>
                        <a:latin typeface="Arial" panose="020B0604020202020204" pitchFamily="34" charset="0"/>
                      </a:endParaRPr>
                    </a:p>
                    <a:p>
                      <a:pPr algn="l" rtl="0" fontAlgn="base">
                        <a:lnSpc>
                          <a:spcPts val="900"/>
                        </a:lnSpc>
                        <a:buNone/>
                      </a:pPr>
                      <a:r>
                        <a:rPr lang="en-ZA" sz="1600" b="1" i="0" dirty="0">
                          <a:solidFill>
                            <a:schemeClr val="bg1"/>
                          </a:solidFill>
                          <a:effectLst/>
                          <a:latin typeface="Arial" panose="020B0604020202020204" pitchFamily="34" charset="0"/>
                        </a:rPr>
                        <a:t>LC </a:t>
                      </a:r>
                    </a:p>
                    <a:p>
                      <a:pPr algn="l" rtl="0" fontAlgn="base">
                        <a:lnSpc>
                          <a:spcPts val="900"/>
                        </a:lnSpc>
                        <a:buNone/>
                      </a:pPr>
                      <a:endParaRPr lang="en-ZA" sz="1600" b="1" i="0" dirty="0">
                        <a:solidFill>
                          <a:schemeClr val="bg1"/>
                        </a:solidFill>
                        <a:effectLst/>
                        <a:latin typeface="Arial" panose="020B0604020202020204" pitchFamily="34" charset="0"/>
                      </a:endParaRPr>
                    </a:p>
                    <a:p>
                      <a:pPr algn="l" rtl="0" fontAlgn="base">
                        <a:lnSpc>
                          <a:spcPts val="900"/>
                        </a:lnSpc>
                        <a:buNone/>
                      </a:pPr>
                      <a:r>
                        <a:rPr lang="en-ZA" sz="1600" b="1" i="0" dirty="0">
                          <a:solidFill>
                            <a:schemeClr val="bg1"/>
                          </a:solidFill>
                          <a:effectLst/>
                          <a:latin typeface="Arial" panose="020B0604020202020204" pitchFamily="34" charset="0"/>
                        </a:rPr>
                        <a:t>Number </a:t>
                      </a:r>
                      <a:endParaRPr lang="en-ZA" sz="1600" b="1" i="0" dirty="0">
                        <a:solidFill>
                          <a:schemeClr val="bg1"/>
                        </a:solidFill>
                        <a:effectLst/>
                      </a:endParaRPr>
                    </a:p>
                  </a:txBody>
                  <a:tcPr>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l" rtl="0" fontAlgn="base">
                        <a:lnSpc>
                          <a:spcPts val="900"/>
                        </a:lnSpc>
                        <a:buNone/>
                      </a:pPr>
                      <a:endParaRPr lang="en-ZA" sz="1600" b="1" i="0" dirty="0">
                        <a:solidFill>
                          <a:schemeClr val="bg1"/>
                        </a:solidFill>
                        <a:effectLst/>
                        <a:latin typeface="Arial" panose="020B0604020202020204" pitchFamily="34" charset="0"/>
                      </a:endParaRPr>
                    </a:p>
                    <a:p>
                      <a:pPr algn="l" rtl="0" fontAlgn="base">
                        <a:lnSpc>
                          <a:spcPts val="900"/>
                        </a:lnSpc>
                        <a:buNone/>
                      </a:pPr>
                      <a:r>
                        <a:rPr lang="en-ZA" sz="1600" b="1" i="0" dirty="0">
                          <a:solidFill>
                            <a:schemeClr val="bg1"/>
                          </a:solidFill>
                          <a:effectLst/>
                          <a:latin typeface="Arial" panose="020B0604020202020204" pitchFamily="34" charset="0"/>
                        </a:rPr>
                        <a:t>PSCBC Resolution/Issue </a:t>
                      </a:r>
                      <a:endParaRPr lang="en-ZA" sz="1600" b="1" i="0" dirty="0">
                        <a:solidFill>
                          <a:schemeClr val="bg1"/>
                        </a:solidFill>
                        <a:effectLst/>
                      </a:endParaRPr>
                    </a:p>
                  </a:txBody>
                  <a:tcPr>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l" rtl="0" fontAlgn="base">
                        <a:lnSpc>
                          <a:spcPts val="900"/>
                        </a:lnSpc>
                        <a:buNone/>
                      </a:pPr>
                      <a:endParaRPr lang="en-ZA" sz="1600" b="1" i="0" dirty="0">
                        <a:solidFill>
                          <a:schemeClr val="bg1"/>
                        </a:solidFill>
                        <a:effectLst/>
                        <a:latin typeface="Arial" panose="020B0604020202020204" pitchFamily="34" charset="0"/>
                      </a:endParaRPr>
                    </a:p>
                    <a:p>
                      <a:pPr algn="l" rtl="0" fontAlgn="base">
                        <a:lnSpc>
                          <a:spcPts val="900"/>
                        </a:lnSpc>
                        <a:buNone/>
                      </a:pPr>
                      <a:r>
                        <a:rPr lang="en-ZA" sz="1600" b="1" i="0" dirty="0">
                          <a:solidFill>
                            <a:schemeClr val="bg1"/>
                          </a:solidFill>
                          <a:effectLst/>
                          <a:latin typeface="Arial" panose="020B0604020202020204" pitchFamily="34" charset="0"/>
                        </a:rPr>
                        <a:t>Reviewed </a:t>
                      </a:r>
                    </a:p>
                    <a:p>
                      <a:pPr algn="l" rtl="0" fontAlgn="base">
                        <a:lnSpc>
                          <a:spcPts val="900"/>
                        </a:lnSpc>
                        <a:buNone/>
                      </a:pPr>
                      <a:endParaRPr lang="en-ZA" sz="1600" b="1" i="0" dirty="0">
                        <a:solidFill>
                          <a:schemeClr val="bg1"/>
                        </a:solidFill>
                        <a:effectLst/>
                        <a:latin typeface="Arial" panose="020B0604020202020204" pitchFamily="34" charset="0"/>
                      </a:endParaRPr>
                    </a:p>
                    <a:p>
                      <a:pPr algn="l" rtl="0" fontAlgn="base">
                        <a:lnSpc>
                          <a:spcPts val="900"/>
                        </a:lnSpc>
                        <a:buNone/>
                      </a:pPr>
                      <a:r>
                        <a:rPr lang="en-ZA" sz="1600" b="1" i="0" dirty="0">
                          <a:solidFill>
                            <a:schemeClr val="bg1"/>
                          </a:solidFill>
                          <a:effectLst/>
                          <a:latin typeface="Arial" panose="020B0604020202020204" pitchFamily="34" charset="0"/>
                        </a:rPr>
                        <a:t>By </a:t>
                      </a:r>
                      <a:endParaRPr lang="en-ZA" sz="1600" b="1" i="0" dirty="0">
                        <a:solidFill>
                          <a:schemeClr val="bg1"/>
                        </a:solidFill>
                        <a:effectLst/>
                      </a:endParaRPr>
                    </a:p>
                  </a:txBody>
                  <a:tcPr>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extLst>
                  <a:ext uri="{0D108BD9-81ED-4DB2-BD59-A6C34878D82A}">
                    <a16:rowId xmlns:a16="http://schemas.microsoft.com/office/drawing/2014/main" val="1081213854"/>
                  </a:ext>
                </a:extLst>
              </a:tr>
              <a:tr h="967040">
                <a:tc>
                  <a:txBody>
                    <a:bodyPr/>
                    <a:lstStyle/>
                    <a:p>
                      <a:pPr algn="l" rtl="0" fontAlgn="base">
                        <a:lnSpc>
                          <a:spcPts val="1800"/>
                        </a:lnSpc>
                        <a:buNone/>
                      </a:pPr>
                      <a:r>
                        <a:rPr lang="en-ZA" sz="1600" b="1" i="0">
                          <a:effectLst/>
                          <a:latin typeface="Arial" panose="020B0604020202020204" pitchFamily="34" charset="0"/>
                        </a:rPr>
                        <a:t>PSCBC192-24/25 </a:t>
                      </a:r>
                      <a:endParaRPr lang="en-ZA" sz="1600" b="1" i="0">
                        <a:effectLst/>
                      </a:endParaRPr>
                    </a:p>
                  </a:txBody>
                  <a:tcPr>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noFill/>
                  </a:tcPr>
                </a:tc>
                <a:tc>
                  <a:txBody>
                    <a:bodyPr/>
                    <a:lstStyle/>
                    <a:p>
                      <a:pPr algn="l" rtl="0" fontAlgn="base">
                        <a:lnSpc>
                          <a:spcPts val="1800"/>
                        </a:lnSpc>
                        <a:buNone/>
                      </a:pPr>
                      <a:r>
                        <a:rPr lang="en-ZA" sz="1600" b="0" i="0" dirty="0">
                          <a:solidFill>
                            <a:srgbClr val="000000"/>
                          </a:solidFill>
                          <a:effectLst/>
                          <a:latin typeface="Arial" panose="020B0604020202020204" pitchFamily="34" charset="0"/>
                        </a:rPr>
                        <a:t>Pending Labour Court Appeal </a:t>
                      </a:r>
                      <a:endParaRPr lang="en-ZA" sz="1600" b="0" i="0" dirty="0">
                        <a:effectLst/>
                      </a:endParaRPr>
                    </a:p>
                  </a:txBody>
                  <a:tcPr>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noFill/>
                  </a:tcPr>
                </a:tc>
                <a:tc>
                  <a:txBody>
                    <a:bodyPr/>
                    <a:lstStyle/>
                    <a:p>
                      <a:pPr algn="l" rtl="0" fontAlgn="base">
                        <a:lnSpc>
                          <a:spcPts val="1800"/>
                        </a:lnSpc>
                        <a:buNone/>
                      </a:pPr>
                      <a:r>
                        <a:rPr lang="en-ZA" sz="1600" b="0" i="0">
                          <a:effectLst/>
                          <a:latin typeface="Arial" panose="020B0604020202020204" pitchFamily="34" charset="0"/>
                        </a:rPr>
                        <a:t>2025-035520 </a:t>
                      </a:r>
                      <a:endParaRPr lang="en-ZA" sz="1600" b="0" i="0">
                        <a:effectLst/>
                      </a:endParaRPr>
                    </a:p>
                  </a:txBody>
                  <a:tcPr>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noFill/>
                  </a:tcPr>
                </a:tc>
                <a:tc>
                  <a:txBody>
                    <a:bodyPr/>
                    <a:lstStyle/>
                    <a:p>
                      <a:pPr algn="l" rtl="0" fontAlgn="base">
                        <a:lnSpc>
                          <a:spcPts val="1800"/>
                        </a:lnSpc>
                        <a:buNone/>
                      </a:pPr>
                      <a:r>
                        <a:rPr lang="en-ZA" sz="1600" b="0" i="0">
                          <a:solidFill>
                            <a:srgbClr val="000000"/>
                          </a:solidFill>
                          <a:effectLst/>
                          <a:latin typeface="Arial" panose="020B0604020202020204" pitchFamily="34" charset="0"/>
                        </a:rPr>
                        <a:t>Res 01 of 2003 (disciplinary code and procedures) </a:t>
                      </a:r>
                      <a:endParaRPr lang="en-ZA" sz="1600" b="0" i="0">
                        <a:effectLst/>
                      </a:endParaRPr>
                    </a:p>
                  </a:txBody>
                  <a:tcPr>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noFill/>
                  </a:tcPr>
                </a:tc>
                <a:tc>
                  <a:txBody>
                    <a:bodyPr/>
                    <a:lstStyle/>
                    <a:p>
                      <a:pPr algn="ctr" rtl="0" fontAlgn="base">
                        <a:lnSpc>
                          <a:spcPts val="1800"/>
                        </a:lnSpc>
                        <a:buNone/>
                      </a:pPr>
                      <a:r>
                        <a:rPr lang="en-ZA" sz="1600" b="0" i="0" dirty="0">
                          <a:solidFill>
                            <a:srgbClr val="000000"/>
                          </a:solidFill>
                          <a:effectLst/>
                          <a:latin typeface="Arial" panose="020B0604020202020204" pitchFamily="34" charset="0"/>
                        </a:rPr>
                        <a:t>Applicant </a:t>
                      </a:r>
                    </a:p>
                    <a:p>
                      <a:pPr algn="ctr" rtl="0" fontAlgn="base">
                        <a:lnSpc>
                          <a:spcPts val="1800"/>
                        </a:lnSpc>
                        <a:buNone/>
                      </a:pPr>
                      <a:r>
                        <a:rPr lang="en-ZA" sz="1600" b="0" i="0" dirty="0">
                          <a:solidFill>
                            <a:srgbClr val="000000"/>
                          </a:solidFill>
                          <a:effectLst/>
                          <a:latin typeface="Arial" panose="020B0604020202020204" pitchFamily="34" charset="0"/>
                        </a:rPr>
                        <a:t>party </a:t>
                      </a:r>
                      <a:endParaRPr lang="en-ZA" sz="1600" b="0" i="0" dirty="0">
                        <a:effectLst/>
                      </a:endParaRPr>
                    </a:p>
                  </a:txBody>
                  <a:tcPr>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noFill/>
                  </a:tcPr>
                </a:tc>
                <a:extLst>
                  <a:ext uri="{0D108BD9-81ED-4DB2-BD59-A6C34878D82A}">
                    <a16:rowId xmlns:a16="http://schemas.microsoft.com/office/drawing/2014/main" val="2645858866"/>
                  </a:ext>
                </a:extLst>
              </a:tr>
              <a:tr h="967040">
                <a:tc>
                  <a:txBody>
                    <a:bodyPr/>
                    <a:lstStyle/>
                    <a:p>
                      <a:pPr algn="l" rtl="0" fontAlgn="base">
                        <a:lnSpc>
                          <a:spcPts val="1800"/>
                        </a:lnSpc>
                        <a:buNone/>
                      </a:pPr>
                      <a:r>
                        <a:rPr lang="en-ZA" sz="1600" b="1" i="0">
                          <a:effectLst/>
                          <a:latin typeface="Arial" panose="020B0604020202020204" pitchFamily="34" charset="0"/>
                        </a:rPr>
                        <a:t>PSCBC185-25/26 </a:t>
                      </a:r>
                      <a:endParaRPr lang="en-ZA" sz="1600" b="1" i="0">
                        <a:effectLst/>
                      </a:endParaRPr>
                    </a:p>
                  </a:txBody>
                  <a:tcPr>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noFill/>
                  </a:tcPr>
                </a:tc>
                <a:tc>
                  <a:txBody>
                    <a:bodyPr/>
                    <a:lstStyle/>
                    <a:p>
                      <a:pPr algn="l" rtl="0" fontAlgn="base">
                        <a:lnSpc>
                          <a:spcPts val="1800"/>
                        </a:lnSpc>
                        <a:buNone/>
                      </a:pPr>
                      <a:r>
                        <a:rPr lang="en-ZA" sz="1600" b="0" i="0" dirty="0">
                          <a:solidFill>
                            <a:srgbClr val="000000"/>
                          </a:solidFill>
                          <a:effectLst/>
                          <a:latin typeface="Arial" panose="020B0604020202020204" pitchFamily="34" charset="0"/>
                        </a:rPr>
                        <a:t>Pending Labour Court Appeal </a:t>
                      </a:r>
                      <a:endParaRPr lang="en-ZA" sz="1600" b="0" i="0" dirty="0">
                        <a:effectLst/>
                      </a:endParaRPr>
                    </a:p>
                  </a:txBody>
                  <a:tcPr>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noFill/>
                  </a:tcPr>
                </a:tc>
                <a:tc>
                  <a:txBody>
                    <a:bodyPr/>
                    <a:lstStyle/>
                    <a:p>
                      <a:pPr algn="l" rtl="0" fontAlgn="base">
                        <a:lnSpc>
                          <a:spcPts val="1800"/>
                        </a:lnSpc>
                        <a:buNone/>
                      </a:pPr>
                      <a:r>
                        <a:rPr lang="en-ZA" sz="1600" b="0" i="0">
                          <a:effectLst/>
                          <a:latin typeface="Arial" panose="020B0604020202020204" pitchFamily="34" charset="0"/>
                        </a:rPr>
                        <a:t>2025-233444 </a:t>
                      </a:r>
                      <a:endParaRPr lang="en-ZA" sz="1600" b="0" i="0">
                        <a:effectLst/>
                      </a:endParaRPr>
                    </a:p>
                  </a:txBody>
                  <a:tcPr>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noFill/>
                  </a:tcPr>
                </a:tc>
                <a:tc>
                  <a:txBody>
                    <a:bodyPr/>
                    <a:lstStyle/>
                    <a:p>
                      <a:pPr algn="l" rtl="0" fontAlgn="base">
                        <a:lnSpc>
                          <a:spcPts val="1800"/>
                        </a:lnSpc>
                        <a:buNone/>
                      </a:pPr>
                      <a:r>
                        <a:rPr lang="en-ZA" sz="1600" b="0" i="0">
                          <a:solidFill>
                            <a:srgbClr val="000000"/>
                          </a:solidFill>
                          <a:effectLst/>
                          <a:latin typeface="Arial" panose="020B0604020202020204" pitchFamily="34" charset="0"/>
                        </a:rPr>
                        <a:t>Res 01 of 2003 (disciplinary code and procedures) </a:t>
                      </a:r>
                      <a:endParaRPr lang="en-ZA" sz="1600" b="0" i="0">
                        <a:effectLst/>
                      </a:endParaRPr>
                    </a:p>
                  </a:txBody>
                  <a:tcPr>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noFill/>
                  </a:tcPr>
                </a:tc>
                <a:tc>
                  <a:txBody>
                    <a:bodyPr/>
                    <a:lstStyle/>
                    <a:p>
                      <a:pPr algn="ctr" rtl="0" fontAlgn="base">
                        <a:lnSpc>
                          <a:spcPts val="1800"/>
                        </a:lnSpc>
                        <a:buNone/>
                      </a:pPr>
                      <a:r>
                        <a:rPr lang="en-ZA" sz="1600" b="0" i="0" dirty="0">
                          <a:solidFill>
                            <a:srgbClr val="000000"/>
                          </a:solidFill>
                          <a:effectLst/>
                          <a:latin typeface="Arial" panose="020B0604020202020204" pitchFamily="34" charset="0"/>
                        </a:rPr>
                        <a:t>Applicant party </a:t>
                      </a:r>
                      <a:endParaRPr lang="en-ZA" sz="1600" b="0" i="0" dirty="0">
                        <a:effectLst/>
                      </a:endParaRPr>
                    </a:p>
                  </a:txBody>
                  <a:tcPr>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noFill/>
                  </a:tcPr>
                </a:tc>
                <a:extLst>
                  <a:ext uri="{0D108BD9-81ED-4DB2-BD59-A6C34878D82A}">
                    <a16:rowId xmlns:a16="http://schemas.microsoft.com/office/drawing/2014/main" val="3717463525"/>
                  </a:ext>
                </a:extLst>
              </a:tr>
              <a:tr h="967040">
                <a:tc>
                  <a:txBody>
                    <a:bodyPr/>
                    <a:lstStyle/>
                    <a:p>
                      <a:pPr algn="l" rtl="0" fontAlgn="base">
                        <a:lnSpc>
                          <a:spcPts val="1800"/>
                        </a:lnSpc>
                        <a:buNone/>
                      </a:pPr>
                      <a:r>
                        <a:rPr lang="en-ZA" sz="1600" b="1" i="0" dirty="0">
                          <a:effectLst/>
                          <a:latin typeface="Arial" panose="020B0604020202020204" pitchFamily="34" charset="0"/>
                        </a:rPr>
                        <a:t>PSCBC102-24/25 </a:t>
                      </a:r>
                      <a:endParaRPr lang="en-ZA" sz="1600" b="1" i="0" dirty="0">
                        <a:effectLst/>
                      </a:endParaRPr>
                    </a:p>
                  </a:txBody>
                  <a:tcPr>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noFill/>
                  </a:tcPr>
                </a:tc>
                <a:tc>
                  <a:txBody>
                    <a:bodyPr/>
                    <a:lstStyle/>
                    <a:p>
                      <a:pPr algn="l" rtl="0" fontAlgn="base">
                        <a:lnSpc>
                          <a:spcPts val="1800"/>
                        </a:lnSpc>
                        <a:buNone/>
                      </a:pPr>
                      <a:r>
                        <a:rPr lang="en-ZA" sz="1600" b="0" i="0">
                          <a:solidFill>
                            <a:srgbClr val="000000"/>
                          </a:solidFill>
                          <a:effectLst/>
                          <a:latin typeface="Arial" panose="020B0604020202020204" pitchFamily="34" charset="0"/>
                        </a:rPr>
                        <a:t>Pending Labour Court Appeal </a:t>
                      </a:r>
                      <a:endParaRPr lang="en-ZA" sz="1600" b="0" i="0">
                        <a:effectLst/>
                      </a:endParaRPr>
                    </a:p>
                  </a:txBody>
                  <a:tcPr>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noFill/>
                  </a:tcPr>
                </a:tc>
                <a:tc>
                  <a:txBody>
                    <a:bodyPr/>
                    <a:lstStyle/>
                    <a:p>
                      <a:pPr algn="l" rtl="0" fontAlgn="base">
                        <a:lnSpc>
                          <a:spcPts val="1800"/>
                        </a:lnSpc>
                        <a:buNone/>
                      </a:pPr>
                      <a:r>
                        <a:rPr lang="en-ZA" sz="1600" b="0" i="0">
                          <a:effectLst/>
                          <a:latin typeface="Arial" panose="020B0604020202020204" pitchFamily="34" charset="0"/>
                        </a:rPr>
                        <a:t>2025-234560 </a:t>
                      </a:r>
                      <a:endParaRPr lang="en-ZA" sz="1600" b="0" i="0">
                        <a:effectLst/>
                      </a:endParaRPr>
                    </a:p>
                  </a:txBody>
                  <a:tcPr>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noFill/>
                  </a:tcPr>
                </a:tc>
                <a:tc>
                  <a:txBody>
                    <a:bodyPr/>
                    <a:lstStyle/>
                    <a:p>
                      <a:pPr algn="l" rtl="0" fontAlgn="base">
                        <a:lnSpc>
                          <a:spcPts val="1800"/>
                        </a:lnSpc>
                        <a:buNone/>
                      </a:pPr>
                      <a:r>
                        <a:rPr lang="en-ZA" sz="1600" b="0" i="0">
                          <a:solidFill>
                            <a:srgbClr val="000000"/>
                          </a:solidFill>
                          <a:effectLst/>
                          <a:latin typeface="Arial" panose="020B0604020202020204" pitchFamily="34" charset="0"/>
                        </a:rPr>
                        <a:t>Res 07 of 2000 (leave provisions) </a:t>
                      </a:r>
                      <a:endParaRPr lang="en-ZA" sz="1600" b="0" i="0">
                        <a:effectLst/>
                      </a:endParaRPr>
                    </a:p>
                  </a:txBody>
                  <a:tcPr>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noFill/>
                  </a:tcPr>
                </a:tc>
                <a:tc>
                  <a:txBody>
                    <a:bodyPr/>
                    <a:lstStyle/>
                    <a:p>
                      <a:pPr algn="ctr" rtl="0" fontAlgn="base">
                        <a:lnSpc>
                          <a:spcPts val="1800"/>
                        </a:lnSpc>
                        <a:buNone/>
                      </a:pPr>
                      <a:r>
                        <a:rPr lang="en-ZA" sz="1600" b="0" i="0" dirty="0">
                          <a:solidFill>
                            <a:srgbClr val="000000"/>
                          </a:solidFill>
                          <a:effectLst/>
                          <a:latin typeface="Arial" panose="020B0604020202020204" pitchFamily="34" charset="0"/>
                        </a:rPr>
                        <a:t>Applicant </a:t>
                      </a:r>
                    </a:p>
                    <a:p>
                      <a:pPr algn="ctr" rtl="0" fontAlgn="base">
                        <a:lnSpc>
                          <a:spcPts val="1800"/>
                        </a:lnSpc>
                        <a:buNone/>
                      </a:pPr>
                      <a:r>
                        <a:rPr lang="en-ZA" sz="1600" b="0" i="0" dirty="0">
                          <a:solidFill>
                            <a:srgbClr val="000000"/>
                          </a:solidFill>
                          <a:effectLst/>
                          <a:latin typeface="Arial" panose="020B0604020202020204" pitchFamily="34" charset="0"/>
                        </a:rPr>
                        <a:t>party </a:t>
                      </a:r>
                      <a:endParaRPr lang="en-ZA" sz="1600" b="0" i="0" dirty="0">
                        <a:effectLst/>
                      </a:endParaRPr>
                    </a:p>
                  </a:txBody>
                  <a:tcPr>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noFill/>
                  </a:tcPr>
                </a:tc>
                <a:extLst>
                  <a:ext uri="{0D108BD9-81ED-4DB2-BD59-A6C34878D82A}">
                    <a16:rowId xmlns:a16="http://schemas.microsoft.com/office/drawing/2014/main" val="3986492434"/>
                  </a:ext>
                </a:extLst>
              </a:tr>
              <a:tr h="967040">
                <a:tc>
                  <a:txBody>
                    <a:bodyPr/>
                    <a:lstStyle/>
                    <a:p>
                      <a:pPr algn="l" rtl="0" fontAlgn="base">
                        <a:lnSpc>
                          <a:spcPts val="1800"/>
                        </a:lnSpc>
                        <a:buNone/>
                      </a:pPr>
                      <a:r>
                        <a:rPr lang="en-ZA" sz="1600" b="1" i="0">
                          <a:effectLst/>
                          <a:latin typeface="Arial" panose="020B0604020202020204" pitchFamily="34" charset="0"/>
                        </a:rPr>
                        <a:t>PSCBC169-25/26 </a:t>
                      </a:r>
                      <a:endParaRPr lang="en-ZA" sz="1600" b="1" i="0">
                        <a:effectLst/>
                      </a:endParaRPr>
                    </a:p>
                  </a:txBody>
                  <a:tcPr>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noFill/>
                  </a:tcPr>
                </a:tc>
                <a:tc>
                  <a:txBody>
                    <a:bodyPr/>
                    <a:lstStyle/>
                    <a:p>
                      <a:pPr algn="l" rtl="0" fontAlgn="base">
                        <a:lnSpc>
                          <a:spcPts val="1800"/>
                        </a:lnSpc>
                        <a:buNone/>
                      </a:pPr>
                      <a:r>
                        <a:rPr lang="en-ZA" sz="1600" b="0" i="0">
                          <a:solidFill>
                            <a:srgbClr val="000000"/>
                          </a:solidFill>
                          <a:effectLst/>
                          <a:latin typeface="Arial" panose="020B0604020202020204" pitchFamily="34" charset="0"/>
                        </a:rPr>
                        <a:t>Pending Labour Court Appeal </a:t>
                      </a:r>
                      <a:endParaRPr lang="en-ZA" sz="1600" b="0" i="0">
                        <a:effectLst/>
                      </a:endParaRPr>
                    </a:p>
                  </a:txBody>
                  <a:tcPr>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noFill/>
                  </a:tcPr>
                </a:tc>
                <a:tc>
                  <a:txBody>
                    <a:bodyPr/>
                    <a:lstStyle/>
                    <a:p>
                      <a:pPr algn="l" rtl="0" fontAlgn="base">
                        <a:lnSpc>
                          <a:spcPts val="1800"/>
                        </a:lnSpc>
                        <a:buNone/>
                      </a:pPr>
                      <a:r>
                        <a:rPr lang="en-ZA" sz="1600" b="0" i="0">
                          <a:effectLst/>
                          <a:latin typeface="Arial" panose="020B0604020202020204" pitchFamily="34" charset="0"/>
                        </a:rPr>
                        <a:t>2026-047238 </a:t>
                      </a:r>
                      <a:endParaRPr lang="en-ZA" sz="1600" b="0" i="0">
                        <a:effectLst/>
                      </a:endParaRPr>
                    </a:p>
                  </a:txBody>
                  <a:tcPr>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noFill/>
                  </a:tcPr>
                </a:tc>
                <a:tc>
                  <a:txBody>
                    <a:bodyPr/>
                    <a:lstStyle/>
                    <a:p>
                      <a:pPr algn="l" rtl="0" fontAlgn="base">
                        <a:lnSpc>
                          <a:spcPts val="1800"/>
                        </a:lnSpc>
                        <a:buNone/>
                      </a:pPr>
                      <a:r>
                        <a:rPr lang="en-ZA" sz="1600" b="0" i="0">
                          <a:solidFill>
                            <a:srgbClr val="000000"/>
                          </a:solidFill>
                          <a:effectLst/>
                          <a:latin typeface="Arial" panose="020B0604020202020204" pitchFamily="34" charset="0"/>
                        </a:rPr>
                        <a:t>Res 03 of 2009 (grade progression) </a:t>
                      </a:r>
                      <a:endParaRPr lang="en-ZA" sz="1600" b="0" i="0">
                        <a:effectLst/>
                      </a:endParaRPr>
                    </a:p>
                  </a:txBody>
                  <a:tcPr>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noFill/>
                  </a:tcPr>
                </a:tc>
                <a:tc>
                  <a:txBody>
                    <a:bodyPr/>
                    <a:lstStyle/>
                    <a:p>
                      <a:pPr algn="ctr" rtl="0" fontAlgn="base">
                        <a:lnSpc>
                          <a:spcPts val="1800"/>
                        </a:lnSpc>
                        <a:buNone/>
                      </a:pPr>
                      <a:r>
                        <a:rPr lang="en-ZA" sz="1600" b="0" i="0" dirty="0">
                          <a:solidFill>
                            <a:srgbClr val="000000"/>
                          </a:solidFill>
                          <a:effectLst/>
                          <a:latin typeface="Arial" panose="020B0604020202020204" pitchFamily="34" charset="0"/>
                        </a:rPr>
                        <a:t>Applicant party  </a:t>
                      </a:r>
                      <a:endParaRPr lang="en-ZA" sz="1600" b="0" i="0" dirty="0">
                        <a:effectLst/>
                      </a:endParaRPr>
                    </a:p>
                  </a:txBody>
                  <a:tcPr>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noFill/>
                  </a:tcPr>
                </a:tc>
                <a:extLst>
                  <a:ext uri="{0D108BD9-81ED-4DB2-BD59-A6C34878D82A}">
                    <a16:rowId xmlns:a16="http://schemas.microsoft.com/office/drawing/2014/main" val="1161699190"/>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41574-01B3-42FB-590F-5E768A57B73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4AC2E82-1282-CB9D-7FCB-A5FA98176AF6}"/>
              </a:ext>
            </a:extLst>
          </p:cNvPr>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D5EE62EE-74EE-8CD5-DABF-ECD16A4FA282}"/>
              </a:ext>
            </a:extLst>
          </p:cNvPr>
          <p:cNvSpPr/>
          <p:nvPr/>
        </p:nvSpPr>
        <p:spPr>
          <a:xfrm>
            <a:off x="487680" y="121920"/>
            <a:ext cx="11216640" cy="670560"/>
          </a:xfrm>
          <a:prstGeom prst="rect">
            <a:avLst/>
          </a:prstGeom>
          <a:noFill/>
          <a:ln/>
        </p:spPr>
        <p:txBody>
          <a:bodyPr wrap="square" lIns="0" tIns="0" rIns="0" bIns="0" rtlCol="0" anchor="ctr"/>
          <a:lstStyle/>
          <a:p>
            <a:r>
              <a:rPr lang="en-ZA" sz="2800" b="1" dirty="0">
                <a:solidFill>
                  <a:schemeClr val="bg1"/>
                </a:solidFill>
                <a:latin typeface="Arial" panose="020B0604020202020204" pitchFamily="34" charset="0"/>
                <a:cs typeface="Arial" panose="020B0604020202020204" pitchFamily="34" charset="0"/>
              </a:rPr>
              <a:t>Enforcement Complaints</a:t>
            </a:r>
            <a:endParaRPr lang="en-US" sz="2667" dirty="0">
              <a:solidFill>
                <a:schemeClr val="bg1"/>
              </a:solidFill>
              <a:latin typeface="Arial" panose="020B0604020202020204" pitchFamily="34" charset="0"/>
              <a:cs typeface="Arial" panose="020B0604020202020204" pitchFamily="34" charset="0"/>
            </a:endParaRPr>
          </a:p>
        </p:txBody>
      </p:sp>
      <p:sp>
        <p:nvSpPr>
          <p:cNvPr id="5" name="Shape 3">
            <a:extLst>
              <a:ext uri="{FF2B5EF4-FFF2-40B4-BE49-F238E27FC236}">
                <a16:creationId xmlns:a16="http://schemas.microsoft.com/office/drawing/2014/main" id="{93EAAE42-59F4-D501-207F-9E4ABD8A8DBF}"/>
              </a:ext>
            </a:extLst>
          </p:cNvPr>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84E013EB-60A2-BFCC-E873-2E47E02CB714}"/>
              </a:ext>
            </a:extLst>
          </p:cNvPr>
          <p:cNvSpPr txBox="1"/>
          <p:nvPr/>
        </p:nvSpPr>
        <p:spPr>
          <a:xfrm>
            <a:off x="782128" y="2133600"/>
            <a:ext cx="10058400" cy="2308324"/>
          </a:xfrm>
          <a:prstGeom prst="rect">
            <a:avLst/>
          </a:prstGeom>
          <a:solidFill>
            <a:schemeClr val="accent5">
              <a:lumMod val="50000"/>
            </a:schemeClr>
          </a:solidFill>
        </p:spPr>
        <p:txBody>
          <a:bodyPr wrap="square">
            <a:spAutoFit/>
          </a:bodyPr>
          <a:lstStyle/>
          <a:p>
            <a:pPr fontAlgn="base"/>
            <a:r>
              <a:rPr lang="en-ZA" dirty="0">
                <a:solidFill>
                  <a:schemeClr val="bg1"/>
                </a:solidFill>
                <a:latin typeface="Arial" panose="020B0604020202020204" pitchFamily="34" charset="0"/>
                <a:cs typeface="Arial" panose="020B0604020202020204" pitchFamily="34" charset="0"/>
              </a:rPr>
              <a:t>Following the conclusion of Resolution 03 of 2023, the enforcement of Collective Agreements in the public service, a total of </a:t>
            </a:r>
            <a:r>
              <a:rPr lang="en-ZA" b="1" dirty="0">
                <a:solidFill>
                  <a:schemeClr val="bg1"/>
                </a:solidFill>
                <a:latin typeface="Arial" panose="020B0604020202020204" pitchFamily="34" charset="0"/>
                <a:cs typeface="Arial" panose="020B0604020202020204" pitchFamily="34" charset="0"/>
              </a:rPr>
              <a:t>24 enforcement complaints</a:t>
            </a:r>
            <a:r>
              <a:rPr lang="en-ZA" dirty="0">
                <a:solidFill>
                  <a:schemeClr val="bg1"/>
                </a:solidFill>
                <a:latin typeface="Arial" panose="020B0604020202020204" pitchFamily="34" charset="0"/>
                <a:cs typeface="Arial" panose="020B0604020202020204" pitchFamily="34" charset="0"/>
              </a:rPr>
              <a:t> were received during this reporting period.  </a:t>
            </a:r>
          </a:p>
          <a:p>
            <a:pPr fontAlgn="base"/>
            <a:endParaRPr lang="en-ZA" dirty="0">
              <a:solidFill>
                <a:schemeClr val="bg1"/>
              </a:solidFill>
              <a:latin typeface="Arial" panose="020B0604020202020204" pitchFamily="34" charset="0"/>
              <a:cs typeface="Arial" panose="020B0604020202020204" pitchFamily="34" charset="0"/>
            </a:endParaRPr>
          </a:p>
          <a:p>
            <a:pPr fontAlgn="base"/>
            <a:r>
              <a:rPr lang="en-ZA" dirty="0">
                <a:solidFill>
                  <a:schemeClr val="bg1"/>
                </a:solidFill>
                <a:latin typeface="Arial" panose="020B0604020202020204" pitchFamily="34" charset="0"/>
                <a:cs typeface="Arial" panose="020B0604020202020204" pitchFamily="34" charset="0"/>
              </a:rPr>
              <a:t>Since the signing of the resolution, </a:t>
            </a:r>
            <a:r>
              <a:rPr lang="en-ZA" b="1" dirty="0">
                <a:solidFill>
                  <a:schemeClr val="bg1"/>
                </a:solidFill>
                <a:latin typeface="Arial" panose="020B0604020202020204" pitchFamily="34" charset="0"/>
                <a:cs typeface="Arial" panose="020B0604020202020204" pitchFamily="34" charset="0"/>
              </a:rPr>
              <a:t>31 enforcement complaints</a:t>
            </a:r>
            <a:r>
              <a:rPr lang="en-ZA" dirty="0">
                <a:solidFill>
                  <a:schemeClr val="bg1"/>
                </a:solidFill>
                <a:latin typeface="Arial" panose="020B0604020202020204" pitchFamily="34" charset="0"/>
                <a:cs typeface="Arial" panose="020B0604020202020204" pitchFamily="34" charset="0"/>
              </a:rPr>
              <a:t> have been received in total. Of these, </a:t>
            </a:r>
            <a:r>
              <a:rPr lang="en-ZA" b="1" dirty="0">
                <a:solidFill>
                  <a:schemeClr val="bg1"/>
                </a:solidFill>
                <a:latin typeface="Arial" panose="020B0604020202020204" pitchFamily="34" charset="0"/>
                <a:cs typeface="Arial" panose="020B0604020202020204" pitchFamily="34" charset="0"/>
              </a:rPr>
              <a:t>9</a:t>
            </a:r>
            <a:r>
              <a:rPr lang="en-ZA" dirty="0">
                <a:solidFill>
                  <a:schemeClr val="bg1"/>
                </a:solidFill>
                <a:latin typeface="Arial" panose="020B0604020202020204" pitchFamily="34" charset="0"/>
                <a:cs typeface="Arial" panose="020B0604020202020204" pitchFamily="34" charset="0"/>
              </a:rPr>
              <a:t> were screened to be </a:t>
            </a:r>
            <a:r>
              <a:rPr lang="en-ZA" b="1" dirty="0">
                <a:solidFill>
                  <a:schemeClr val="bg1"/>
                </a:solidFill>
                <a:latin typeface="Arial" panose="020B0604020202020204" pitchFamily="34" charset="0"/>
                <a:cs typeface="Arial" panose="020B0604020202020204" pitchFamily="34" charset="0"/>
              </a:rPr>
              <a:t>outside of jurisdiction</a:t>
            </a:r>
            <a:r>
              <a:rPr lang="en-ZA" dirty="0">
                <a:solidFill>
                  <a:schemeClr val="bg1"/>
                </a:solidFill>
                <a:latin typeface="Arial" panose="020B0604020202020204" pitchFamily="34" charset="0"/>
                <a:cs typeface="Arial" panose="020B0604020202020204" pitchFamily="34" charset="0"/>
              </a:rPr>
              <a:t>, </a:t>
            </a:r>
            <a:r>
              <a:rPr lang="en-ZA" b="1" dirty="0">
                <a:solidFill>
                  <a:schemeClr val="bg1"/>
                </a:solidFill>
                <a:latin typeface="Arial" panose="020B0604020202020204" pitchFamily="34" charset="0"/>
                <a:cs typeface="Arial" panose="020B0604020202020204" pitchFamily="34" charset="0"/>
              </a:rPr>
              <a:t>7</a:t>
            </a:r>
            <a:r>
              <a:rPr lang="en-ZA" dirty="0">
                <a:solidFill>
                  <a:schemeClr val="bg1"/>
                </a:solidFill>
                <a:latin typeface="Arial" panose="020B0604020202020204" pitchFamily="34" charset="0"/>
                <a:cs typeface="Arial" panose="020B0604020202020204" pitchFamily="34" charset="0"/>
              </a:rPr>
              <a:t> are currently </a:t>
            </a:r>
            <a:r>
              <a:rPr lang="en-ZA" b="1" dirty="0">
                <a:solidFill>
                  <a:schemeClr val="bg1"/>
                </a:solidFill>
                <a:latin typeface="Arial" panose="020B0604020202020204" pitchFamily="34" charset="0"/>
                <a:cs typeface="Arial" panose="020B0604020202020204" pitchFamily="34" charset="0"/>
              </a:rPr>
              <a:t>under investigation</a:t>
            </a:r>
            <a:r>
              <a:rPr lang="en-ZA" dirty="0">
                <a:solidFill>
                  <a:schemeClr val="bg1"/>
                </a:solidFill>
                <a:latin typeface="Arial" panose="020B0604020202020204" pitchFamily="34" charset="0"/>
                <a:cs typeface="Arial" panose="020B0604020202020204" pitchFamily="34" charset="0"/>
              </a:rPr>
              <a:t> pending resolution, </a:t>
            </a:r>
            <a:r>
              <a:rPr lang="en-ZA" b="1" dirty="0">
                <a:solidFill>
                  <a:schemeClr val="bg1"/>
                </a:solidFill>
                <a:latin typeface="Arial" panose="020B0604020202020204" pitchFamily="34" charset="0"/>
                <a:cs typeface="Arial" panose="020B0604020202020204" pitchFamily="34" charset="0"/>
              </a:rPr>
              <a:t>6 </a:t>
            </a:r>
            <a:r>
              <a:rPr lang="en-ZA" dirty="0">
                <a:solidFill>
                  <a:schemeClr val="bg1"/>
                </a:solidFill>
                <a:latin typeface="Arial" panose="020B0604020202020204" pitchFamily="34" charset="0"/>
                <a:cs typeface="Arial" panose="020B0604020202020204" pitchFamily="34" charset="0"/>
              </a:rPr>
              <a:t>were </a:t>
            </a:r>
            <a:r>
              <a:rPr lang="en-ZA" b="1" dirty="0">
                <a:solidFill>
                  <a:schemeClr val="bg1"/>
                </a:solidFill>
                <a:latin typeface="Arial" panose="020B0604020202020204" pitchFamily="34" charset="0"/>
                <a:cs typeface="Arial" panose="020B0604020202020204" pitchFamily="34" charset="0"/>
              </a:rPr>
              <a:t>finalised</a:t>
            </a:r>
            <a:r>
              <a:rPr lang="en-ZA" dirty="0">
                <a:solidFill>
                  <a:schemeClr val="bg1"/>
                </a:solidFill>
                <a:latin typeface="Arial" panose="020B0604020202020204" pitchFamily="34" charset="0"/>
                <a:cs typeface="Arial" panose="020B0604020202020204" pitchFamily="34" charset="0"/>
              </a:rPr>
              <a:t> and closed, </a:t>
            </a:r>
            <a:r>
              <a:rPr lang="en-ZA" b="1" dirty="0">
                <a:solidFill>
                  <a:schemeClr val="bg1"/>
                </a:solidFill>
                <a:latin typeface="Arial" panose="020B0604020202020204" pitchFamily="34" charset="0"/>
                <a:cs typeface="Arial" panose="020B0604020202020204" pitchFamily="34" charset="0"/>
              </a:rPr>
              <a:t>12</a:t>
            </a:r>
            <a:r>
              <a:rPr lang="en-ZA" dirty="0">
                <a:solidFill>
                  <a:schemeClr val="bg1"/>
                </a:solidFill>
                <a:latin typeface="Arial" panose="020B0604020202020204" pitchFamily="34" charset="0"/>
                <a:cs typeface="Arial" panose="020B0604020202020204" pitchFamily="34" charset="0"/>
              </a:rPr>
              <a:t> were found </a:t>
            </a:r>
            <a:r>
              <a:rPr lang="en-ZA" b="1" dirty="0">
                <a:solidFill>
                  <a:schemeClr val="bg1"/>
                </a:solidFill>
                <a:latin typeface="Arial" panose="020B0604020202020204" pitchFamily="34" charset="0"/>
                <a:cs typeface="Arial" panose="020B0604020202020204" pitchFamily="34" charset="0"/>
              </a:rPr>
              <a:t>non-compliant</a:t>
            </a:r>
            <a:r>
              <a:rPr lang="en-ZA" dirty="0">
                <a:solidFill>
                  <a:schemeClr val="bg1"/>
                </a:solidFill>
                <a:latin typeface="Arial" panose="020B0604020202020204" pitchFamily="34" charset="0"/>
                <a:cs typeface="Arial" panose="020B0604020202020204" pitchFamily="34" charset="0"/>
              </a:rPr>
              <a:t>, </a:t>
            </a:r>
            <a:r>
              <a:rPr lang="en-ZA" b="1" dirty="0">
                <a:solidFill>
                  <a:schemeClr val="bg1"/>
                </a:solidFill>
                <a:latin typeface="Arial" panose="020B0604020202020204" pitchFamily="34" charset="0"/>
                <a:cs typeface="Arial" panose="020B0604020202020204" pitchFamily="34" charset="0"/>
              </a:rPr>
              <a:t>1</a:t>
            </a:r>
            <a:r>
              <a:rPr lang="en-ZA" dirty="0">
                <a:solidFill>
                  <a:schemeClr val="bg1"/>
                </a:solidFill>
                <a:latin typeface="Arial" panose="020B0604020202020204" pitchFamily="34" charset="0"/>
                <a:cs typeface="Arial" panose="020B0604020202020204" pitchFamily="34" charset="0"/>
              </a:rPr>
              <a:t> was </a:t>
            </a:r>
            <a:r>
              <a:rPr lang="en-ZA" b="1" dirty="0">
                <a:solidFill>
                  <a:schemeClr val="bg1"/>
                </a:solidFill>
                <a:latin typeface="Arial" panose="020B0604020202020204" pitchFamily="34" charset="0"/>
                <a:cs typeface="Arial" panose="020B0604020202020204" pitchFamily="34" charset="0"/>
              </a:rPr>
              <a:t>compliant</a:t>
            </a:r>
            <a:r>
              <a:rPr lang="en-ZA" dirty="0">
                <a:solidFill>
                  <a:schemeClr val="bg1"/>
                </a:solidFill>
                <a:latin typeface="Arial" panose="020B0604020202020204" pitchFamily="34" charset="0"/>
                <a:cs typeface="Arial" panose="020B0604020202020204" pitchFamily="34" charset="0"/>
              </a:rPr>
              <a:t> and </a:t>
            </a:r>
            <a:r>
              <a:rPr lang="en-ZA" b="1" dirty="0">
                <a:solidFill>
                  <a:schemeClr val="bg1"/>
                </a:solidFill>
                <a:latin typeface="Arial" panose="020B0604020202020204" pitchFamily="34" charset="0"/>
                <a:cs typeface="Arial" panose="020B0604020202020204" pitchFamily="34" charset="0"/>
              </a:rPr>
              <a:t>6</a:t>
            </a:r>
            <a:r>
              <a:rPr lang="en-ZA" dirty="0">
                <a:solidFill>
                  <a:schemeClr val="bg1"/>
                </a:solidFill>
                <a:latin typeface="Arial" panose="020B0604020202020204" pitchFamily="34" charset="0"/>
                <a:cs typeface="Arial" panose="020B0604020202020204" pitchFamily="34" charset="0"/>
              </a:rPr>
              <a:t> were scheduled for </a:t>
            </a:r>
            <a:r>
              <a:rPr lang="en-ZA" b="1" dirty="0">
                <a:solidFill>
                  <a:schemeClr val="bg1"/>
                </a:solidFill>
                <a:latin typeface="Arial" panose="020B0604020202020204" pitchFamily="34" charset="0"/>
                <a:cs typeface="Arial" panose="020B0604020202020204" pitchFamily="34" charset="0"/>
              </a:rPr>
              <a:t>compliance arbitrations</a:t>
            </a:r>
            <a:r>
              <a:rPr lang="en-ZA" dirty="0">
                <a:solidFill>
                  <a:schemeClr val="bg1"/>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32284437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E919A-D2D6-6AAF-02AE-361C6731528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5EB878C-09D3-DE57-135E-5EE68B903AF7}"/>
              </a:ext>
            </a:extLst>
          </p:cNvPr>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6FF0056F-BDB1-6A04-C21F-A9E08BACEB86}"/>
              </a:ext>
            </a:extLst>
          </p:cNvPr>
          <p:cNvSpPr/>
          <p:nvPr/>
        </p:nvSpPr>
        <p:spPr>
          <a:xfrm>
            <a:off x="487680" y="121920"/>
            <a:ext cx="11216640" cy="670560"/>
          </a:xfrm>
          <a:prstGeom prst="rect">
            <a:avLst/>
          </a:prstGeom>
          <a:noFill/>
          <a:ln/>
        </p:spPr>
        <p:txBody>
          <a:bodyPr wrap="square" lIns="0" tIns="0" rIns="0" bIns="0" rtlCol="0" anchor="ctr"/>
          <a:lstStyle/>
          <a:p>
            <a:r>
              <a:rPr lang="en-ZA" sz="2800" b="1" dirty="0">
                <a:solidFill>
                  <a:schemeClr val="bg1"/>
                </a:solidFill>
                <a:latin typeface="Arial" panose="020B0604020202020204" pitchFamily="34" charset="0"/>
                <a:cs typeface="Arial" panose="020B0604020202020204" pitchFamily="34" charset="0"/>
              </a:rPr>
              <a:t>RESIDENT PANELLIST  </a:t>
            </a:r>
          </a:p>
        </p:txBody>
      </p:sp>
      <p:sp>
        <p:nvSpPr>
          <p:cNvPr id="4" name="Text 2">
            <a:extLst>
              <a:ext uri="{FF2B5EF4-FFF2-40B4-BE49-F238E27FC236}">
                <a16:creationId xmlns:a16="http://schemas.microsoft.com/office/drawing/2014/main" id="{08178DC8-E6AF-B957-B726-D7CFBD3A19F8}"/>
              </a:ext>
            </a:extLst>
          </p:cNvPr>
          <p:cNvSpPr/>
          <p:nvPr/>
        </p:nvSpPr>
        <p:spPr>
          <a:xfrm>
            <a:off x="487680" y="755904"/>
            <a:ext cx="11216640" cy="487680"/>
          </a:xfrm>
          <a:prstGeom prst="rect">
            <a:avLst/>
          </a:prstGeom>
          <a:noFill/>
          <a:ln/>
        </p:spPr>
        <p:txBody>
          <a:bodyPr wrap="square" lIns="0" tIns="0" rIns="0" bIns="0" rtlCol="0" anchor="ctr"/>
          <a:lstStyle/>
          <a:p>
            <a:endParaRPr lang="en-US" sz="1600" dirty="0">
              <a:solidFill>
                <a:schemeClr val="bg1"/>
              </a:solidFill>
              <a:latin typeface="Arial" panose="020B0604020202020204" pitchFamily="34" charset="0"/>
              <a:cs typeface="Arial" panose="020B0604020202020204" pitchFamily="34" charset="0"/>
            </a:endParaRPr>
          </a:p>
        </p:txBody>
      </p:sp>
      <p:sp>
        <p:nvSpPr>
          <p:cNvPr id="5" name="Shape 3">
            <a:extLst>
              <a:ext uri="{FF2B5EF4-FFF2-40B4-BE49-F238E27FC236}">
                <a16:creationId xmlns:a16="http://schemas.microsoft.com/office/drawing/2014/main" id="{4A45D0B5-5F28-63DD-13F4-CDFE3DC50131}"/>
              </a:ext>
            </a:extLst>
          </p:cNvPr>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2" name="Shape 10">
            <a:extLst>
              <a:ext uri="{FF2B5EF4-FFF2-40B4-BE49-F238E27FC236}">
                <a16:creationId xmlns:a16="http://schemas.microsoft.com/office/drawing/2014/main" id="{D7922AC6-767A-81E9-4087-FC367C6D0CD5}"/>
              </a:ext>
            </a:extLst>
          </p:cNvPr>
          <p:cNvSpPr/>
          <p:nvPr/>
        </p:nvSpPr>
        <p:spPr>
          <a:xfrm>
            <a:off x="365760" y="2560320"/>
            <a:ext cx="11460480" cy="3596640"/>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13" name="Shape 11">
            <a:extLst>
              <a:ext uri="{FF2B5EF4-FFF2-40B4-BE49-F238E27FC236}">
                <a16:creationId xmlns:a16="http://schemas.microsoft.com/office/drawing/2014/main" id="{FB2ABE5E-5F66-2BBA-95EC-DD8674357FCB}"/>
              </a:ext>
            </a:extLst>
          </p:cNvPr>
          <p:cNvSpPr/>
          <p:nvPr/>
        </p:nvSpPr>
        <p:spPr>
          <a:xfrm>
            <a:off x="365760" y="2560320"/>
            <a:ext cx="11460480" cy="512064"/>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4" name="Text 12">
            <a:extLst>
              <a:ext uri="{FF2B5EF4-FFF2-40B4-BE49-F238E27FC236}">
                <a16:creationId xmlns:a16="http://schemas.microsoft.com/office/drawing/2014/main" id="{440E6B06-4556-2E5D-431F-3188D4CB94A2}"/>
              </a:ext>
            </a:extLst>
          </p:cNvPr>
          <p:cNvSpPr/>
          <p:nvPr/>
        </p:nvSpPr>
        <p:spPr>
          <a:xfrm>
            <a:off x="4328160" y="2560320"/>
            <a:ext cx="3413760" cy="512064"/>
          </a:xfrm>
          <a:prstGeom prst="rect">
            <a:avLst/>
          </a:prstGeom>
          <a:noFill/>
          <a:ln/>
        </p:spPr>
        <p:txBody>
          <a:bodyPr wrap="square" lIns="0" tIns="0" rIns="0" bIns="0" rtlCol="0" anchor="ctr"/>
          <a:lstStyle/>
          <a:p>
            <a:pPr algn="ctr"/>
            <a:r>
              <a:rPr lang="en-US" sz="1600" b="1" dirty="0">
                <a:solidFill>
                  <a:srgbClr val="FFFFFF"/>
                </a:solidFill>
                <a:latin typeface="Arial" panose="020B0604020202020204" pitchFamily="34" charset="0"/>
                <a:ea typeface="Calibri" pitchFamily="34" charset="-122"/>
                <a:cs typeface="Arial" panose="020B0604020202020204" pitchFamily="34" charset="0"/>
              </a:rPr>
              <a:t>MANDATE</a:t>
            </a:r>
            <a:endParaRPr lang="en-US" sz="1600" dirty="0">
              <a:latin typeface="Arial" panose="020B0604020202020204" pitchFamily="34" charset="0"/>
              <a:cs typeface="Arial" panose="020B0604020202020204" pitchFamily="34" charset="0"/>
            </a:endParaRPr>
          </a:p>
        </p:txBody>
      </p:sp>
      <p:sp>
        <p:nvSpPr>
          <p:cNvPr id="15" name="Text 13">
            <a:extLst>
              <a:ext uri="{FF2B5EF4-FFF2-40B4-BE49-F238E27FC236}">
                <a16:creationId xmlns:a16="http://schemas.microsoft.com/office/drawing/2014/main" id="{41A63950-E42C-0B6A-A1F2-024713A74D61}"/>
              </a:ext>
            </a:extLst>
          </p:cNvPr>
          <p:cNvSpPr/>
          <p:nvPr/>
        </p:nvSpPr>
        <p:spPr>
          <a:xfrm>
            <a:off x="365760" y="3169920"/>
            <a:ext cx="11460480" cy="2865120"/>
          </a:xfrm>
          <a:prstGeom prst="rect">
            <a:avLst/>
          </a:prstGeom>
          <a:noFill/>
          <a:ln/>
        </p:spPr>
        <p:txBody>
          <a:bodyPr wrap="square" rtlCol="0" anchor="ctr"/>
          <a:lstStyle/>
          <a:p>
            <a:r>
              <a:rPr lang="en-ZA" sz="1600" dirty="0">
                <a:latin typeface="Arial" panose="020B0604020202020204" pitchFamily="34" charset="0"/>
                <a:cs typeface="Arial" panose="020B0604020202020204" pitchFamily="34" charset="0"/>
              </a:rPr>
              <a:t>Support Council`s strategic goals and objectives by conducting insourced conciliation hearings. Conduct arbitration hearings, deal with preliminary processes and applications that are filed with Council, control the vetting of awards and rulings to ensure quality and legal compliance. Provide guidance and support to panellists. Provide guidance to the Dispute Management Unit, interact with stakeholders in the dispute resolution process and labour relations in general.</a:t>
            </a:r>
            <a:endParaRPr lang="en-ZA" sz="1600" i="1" dirty="0">
              <a:latin typeface="Arial" panose="020B0604020202020204" pitchFamily="34" charset="0"/>
              <a:cs typeface="Arial" panose="020B0604020202020204" pitchFamily="34" charset="0"/>
            </a:endParaRPr>
          </a:p>
        </p:txBody>
      </p:sp>
      <p:pic>
        <p:nvPicPr>
          <p:cNvPr id="20" name="Graphic 19" descr="Badge Tick with solid fill">
            <a:extLst>
              <a:ext uri="{FF2B5EF4-FFF2-40B4-BE49-F238E27FC236}">
                <a16:creationId xmlns:a16="http://schemas.microsoft.com/office/drawing/2014/main" id="{760908D6-1F0F-5713-4CC7-D731CD55A49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5760" y="2485139"/>
            <a:ext cx="654072" cy="662425"/>
          </a:xfrm>
          <a:prstGeom prst="rect">
            <a:avLst/>
          </a:prstGeom>
        </p:spPr>
      </p:pic>
      <p:sp>
        <p:nvSpPr>
          <p:cNvPr id="6" name="Oval 5">
            <a:extLst>
              <a:ext uri="{FF2B5EF4-FFF2-40B4-BE49-F238E27FC236}">
                <a16:creationId xmlns:a16="http://schemas.microsoft.com/office/drawing/2014/main" id="{4FEC6B23-9291-B500-2989-08165C330233}"/>
              </a:ext>
            </a:extLst>
          </p:cNvPr>
          <p:cNvSpPr/>
          <p:nvPr/>
        </p:nvSpPr>
        <p:spPr>
          <a:xfrm>
            <a:off x="11168925" y="290390"/>
            <a:ext cx="844610" cy="833493"/>
          </a:xfrm>
          <a:prstGeom prst="ellipse">
            <a:avLst/>
          </a:prstGeom>
          <a:solidFill>
            <a:srgbClr val="FFFFFF"/>
          </a:solidFill>
          <a:ln w="9525" cap="flat" cmpd="sng" algn="ctr">
            <a:no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srgbClr val="000000"/>
              </a:solidFill>
              <a:effectLst/>
              <a:uLnTx/>
              <a:uFillTx/>
              <a:latin typeface="Arial"/>
              <a:ea typeface="+mn-ea"/>
              <a:cs typeface="+mn-cs"/>
            </a:endParaRPr>
          </a:p>
        </p:txBody>
      </p:sp>
      <p:pic>
        <p:nvPicPr>
          <p:cNvPr id="8" name="Graphic 7" descr="Scales of justice with solid fill">
            <a:extLst>
              <a:ext uri="{FF2B5EF4-FFF2-40B4-BE49-F238E27FC236}">
                <a16:creationId xmlns:a16="http://schemas.microsoft.com/office/drawing/2014/main" id="{AC6A62B4-F697-3475-DBC5-D3CE6F2C93B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168925" y="290389"/>
            <a:ext cx="833494" cy="833494"/>
          </a:xfrm>
          <a:prstGeom prst="rect">
            <a:avLst/>
          </a:prstGeom>
        </p:spPr>
      </p:pic>
    </p:spTree>
    <p:extLst>
      <p:ext uri="{BB962C8B-B14F-4D97-AF65-F5344CB8AC3E}">
        <p14:creationId xmlns:p14="http://schemas.microsoft.com/office/powerpoint/2010/main" val="21347576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6EA94-04CB-CBBB-E60A-3893E6D88DC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FC32AF4-4FBE-1698-519C-B24C509763C5}"/>
              </a:ext>
            </a:extLst>
          </p:cNvPr>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8AF61771-17A2-4E56-203C-6D73C8664197}"/>
              </a:ext>
            </a:extLst>
          </p:cNvPr>
          <p:cNvSpPr/>
          <p:nvPr/>
        </p:nvSpPr>
        <p:spPr>
          <a:xfrm>
            <a:off x="487680" y="121920"/>
            <a:ext cx="11216640" cy="670560"/>
          </a:xfrm>
          <a:prstGeom prst="rect">
            <a:avLst/>
          </a:prstGeom>
          <a:noFill/>
          <a:ln/>
        </p:spPr>
        <p:txBody>
          <a:bodyPr wrap="square" lIns="0" tIns="0" rIns="0" bIns="0" rtlCol="0" anchor="ctr"/>
          <a:lstStyle/>
          <a:p>
            <a:r>
              <a:rPr lang="en-GB" sz="2800" b="1" dirty="0">
                <a:solidFill>
                  <a:schemeClr val="bg1"/>
                </a:solidFill>
                <a:latin typeface="Arial" panose="020B0604020202020204" pitchFamily="34" charset="0"/>
                <a:cs typeface="Arial" panose="020B0604020202020204" pitchFamily="34" charset="0"/>
              </a:rPr>
              <a:t>A breakdown of attendance of representatives of the Applicant</a:t>
            </a:r>
            <a:endParaRPr lang="en-US" sz="2667" dirty="0">
              <a:solidFill>
                <a:schemeClr val="bg1"/>
              </a:solidFill>
              <a:latin typeface="Arial" panose="020B0604020202020204" pitchFamily="34" charset="0"/>
              <a:cs typeface="Arial" panose="020B0604020202020204" pitchFamily="34" charset="0"/>
            </a:endParaRPr>
          </a:p>
        </p:txBody>
      </p:sp>
      <p:sp>
        <p:nvSpPr>
          <p:cNvPr id="5" name="Shape 3">
            <a:extLst>
              <a:ext uri="{FF2B5EF4-FFF2-40B4-BE49-F238E27FC236}">
                <a16:creationId xmlns:a16="http://schemas.microsoft.com/office/drawing/2014/main" id="{E0450412-0FA0-CBB5-0BA6-C53A959BF9D8}"/>
              </a:ext>
            </a:extLst>
          </p:cNvPr>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2400">
              <a:latin typeface="Arial" panose="020B0604020202020204" pitchFamily="34" charset="0"/>
              <a:cs typeface="Arial" panose="020B0604020202020204" pitchFamily="34" charset="0"/>
            </a:endParaRPr>
          </a:p>
        </p:txBody>
      </p:sp>
      <p:graphicFrame>
        <p:nvGraphicFramePr>
          <p:cNvPr id="6" name="Table 5">
            <a:extLst>
              <a:ext uri="{FF2B5EF4-FFF2-40B4-BE49-F238E27FC236}">
                <a16:creationId xmlns:a16="http://schemas.microsoft.com/office/drawing/2014/main" id="{E56DB06C-A077-3029-189B-1EF9027FDF05}"/>
              </a:ext>
            </a:extLst>
          </p:cNvPr>
          <p:cNvGraphicFramePr>
            <a:graphicFrameLocks noGrp="1"/>
          </p:cNvGraphicFramePr>
          <p:nvPr>
            <p:extLst>
              <p:ext uri="{D42A27DB-BD31-4B8C-83A1-F6EECF244321}">
                <p14:modId xmlns:p14="http://schemas.microsoft.com/office/powerpoint/2010/main" val="3495011967"/>
              </p:ext>
            </p:extLst>
          </p:nvPr>
        </p:nvGraphicFramePr>
        <p:xfrm>
          <a:off x="152401" y="1678719"/>
          <a:ext cx="11887198" cy="4973622"/>
        </p:xfrm>
        <a:graphic>
          <a:graphicData uri="http://schemas.openxmlformats.org/drawingml/2006/table">
            <a:tbl>
              <a:tblPr/>
              <a:tblGrid>
                <a:gridCol w="1698168">
                  <a:extLst>
                    <a:ext uri="{9D8B030D-6E8A-4147-A177-3AD203B41FA5}">
                      <a16:colId xmlns:a16="http://schemas.microsoft.com/office/drawing/2014/main" val="4075709303"/>
                    </a:ext>
                  </a:extLst>
                </a:gridCol>
                <a:gridCol w="975960">
                  <a:extLst>
                    <a:ext uri="{9D8B030D-6E8A-4147-A177-3AD203B41FA5}">
                      <a16:colId xmlns:a16="http://schemas.microsoft.com/office/drawing/2014/main" val="387839980"/>
                    </a:ext>
                  </a:extLst>
                </a:gridCol>
                <a:gridCol w="1288268">
                  <a:extLst>
                    <a:ext uri="{9D8B030D-6E8A-4147-A177-3AD203B41FA5}">
                      <a16:colId xmlns:a16="http://schemas.microsoft.com/office/drawing/2014/main" val="3417382874"/>
                    </a:ext>
                  </a:extLst>
                </a:gridCol>
                <a:gridCol w="1288268">
                  <a:extLst>
                    <a:ext uri="{9D8B030D-6E8A-4147-A177-3AD203B41FA5}">
                      <a16:colId xmlns:a16="http://schemas.microsoft.com/office/drawing/2014/main" val="2836820916"/>
                    </a:ext>
                  </a:extLst>
                </a:gridCol>
                <a:gridCol w="1542019">
                  <a:extLst>
                    <a:ext uri="{9D8B030D-6E8A-4147-A177-3AD203B41FA5}">
                      <a16:colId xmlns:a16="http://schemas.microsoft.com/office/drawing/2014/main" val="1988514669"/>
                    </a:ext>
                  </a:extLst>
                </a:gridCol>
                <a:gridCol w="975960">
                  <a:extLst>
                    <a:ext uri="{9D8B030D-6E8A-4147-A177-3AD203B41FA5}">
                      <a16:colId xmlns:a16="http://schemas.microsoft.com/office/drawing/2014/main" val="2720388758"/>
                    </a:ext>
                  </a:extLst>
                </a:gridCol>
                <a:gridCol w="1288268">
                  <a:extLst>
                    <a:ext uri="{9D8B030D-6E8A-4147-A177-3AD203B41FA5}">
                      <a16:colId xmlns:a16="http://schemas.microsoft.com/office/drawing/2014/main" val="4095646618"/>
                    </a:ext>
                  </a:extLst>
                </a:gridCol>
                <a:gridCol w="1288268">
                  <a:extLst>
                    <a:ext uri="{9D8B030D-6E8A-4147-A177-3AD203B41FA5}">
                      <a16:colId xmlns:a16="http://schemas.microsoft.com/office/drawing/2014/main" val="1971022839"/>
                    </a:ext>
                  </a:extLst>
                </a:gridCol>
                <a:gridCol w="1542019">
                  <a:extLst>
                    <a:ext uri="{9D8B030D-6E8A-4147-A177-3AD203B41FA5}">
                      <a16:colId xmlns:a16="http://schemas.microsoft.com/office/drawing/2014/main" val="4096569841"/>
                    </a:ext>
                  </a:extLst>
                </a:gridCol>
              </a:tblGrid>
              <a:tr h="272240">
                <a:tc>
                  <a:txBody>
                    <a:bodyPr/>
                    <a:lstStyle/>
                    <a:p>
                      <a:pPr algn="ctr" rtl="0" fontAlgn="base">
                        <a:lnSpc>
                          <a:spcPts val="1463"/>
                        </a:lnSpc>
                        <a:buNone/>
                      </a:pPr>
                      <a:r>
                        <a:rPr lang="en-ZA" sz="1600" b="1" i="0" dirty="0">
                          <a:effectLst/>
                          <a:latin typeface="Arial Nova Light" panose="020B0304020202020204" pitchFamily="34" charset="0"/>
                        </a:rPr>
                        <a:t>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noFill/>
                  </a:tcPr>
                </a:tc>
                <a:tc gridSpan="4">
                  <a:txBody>
                    <a:bodyPr/>
                    <a:lstStyle/>
                    <a:p>
                      <a:pPr algn="ctr" rtl="0" fontAlgn="base">
                        <a:lnSpc>
                          <a:spcPts val="1463"/>
                        </a:lnSpc>
                        <a:buNone/>
                      </a:pPr>
                      <a:r>
                        <a:rPr lang="en-ZA" sz="1600" b="1" i="0" dirty="0">
                          <a:solidFill>
                            <a:schemeClr val="bg1"/>
                          </a:solidFill>
                          <a:effectLst/>
                          <a:latin typeface="Arial Nova Light" panose="020B0304020202020204" pitchFamily="34" charset="0"/>
                        </a:rPr>
                        <a:t>Current Reporting Period </a:t>
                      </a:r>
                      <a:endParaRPr lang="en-ZA" sz="1600" b="1" i="0" dirty="0">
                        <a:solidFill>
                          <a:schemeClr val="bg1"/>
                        </a:solidFill>
                        <a:effectLst/>
                      </a:endParaRP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4">
                        <a:lumMod val="75000"/>
                      </a:schemeClr>
                    </a:solidFill>
                  </a:tcPr>
                </a:tc>
                <a:tc hMerge="1">
                  <a:txBody>
                    <a:bodyPr/>
                    <a:lstStyle/>
                    <a:p>
                      <a:endParaRPr lang="en-ZA"/>
                    </a:p>
                  </a:txBody>
                  <a:tcPr/>
                </a:tc>
                <a:tc hMerge="1">
                  <a:txBody>
                    <a:bodyPr/>
                    <a:lstStyle/>
                    <a:p>
                      <a:endParaRPr lang="en-ZA"/>
                    </a:p>
                  </a:txBody>
                  <a:tcPr/>
                </a:tc>
                <a:tc hMerge="1">
                  <a:txBody>
                    <a:bodyPr/>
                    <a:lstStyle/>
                    <a:p>
                      <a:endParaRPr lang="en-ZA"/>
                    </a:p>
                  </a:txBody>
                  <a:tcPr/>
                </a:tc>
                <a:tc gridSpan="4">
                  <a:txBody>
                    <a:bodyPr/>
                    <a:lstStyle/>
                    <a:p>
                      <a:pPr algn="ctr" rtl="0" fontAlgn="base">
                        <a:lnSpc>
                          <a:spcPts val="1463"/>
                        </a:lnSpc>
                        <a:buNone/>
                      </a:pPr>
                      <a:r>
                        <a:rPr lang="en-ZA" sz="1600" b="1" i="0" dirty="0">
                          <a:solidFill>
                            <a:schemeClr val="bg1"/>
                          </a:solidFill>
                          <a:effectLst/>
                          <a:latin typeface="Arial Nova Light" panose="020B0304020202020204" pitchFamily="34" charset="0"/>
                        </a:rPr>
                        <a:t>Previous Reporting Period </a:t>
                      </a:r>
                      <a:endParaRPr lang="en-ZA" sz="1600" b="1" i="0" dirty="0">
                        <a:solidFill>
                          <a:schemeClr val="bg1"/>
                        </a:solidFill>
                        <a:effectLst/>
                      </a:endParaRP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4">
                        <a:lumMod val="75000"/>
                      </a:schemeClr>
                    </a:solidFill>
                  </a:tcPr>
                </a:tc>
                <a:tc hMerge="1">
                  <a:txBody>
                    <a:bodyPr/>
                    <a:lstStyle/>
                    <a:p>
                      <a:endParaRPr lang="en-ZA"/>
                    </a:p>
                  </a:txBody>
                  <a:tcPr/>
                </a:tc>
                <a:tc hMerge="1">
                  <a:txBody>
                    <a:bodyPr/>
                    <a:lstStyle/>
                    <a:p>
                      <a:endParaRPr lang="en-ZA"/>
                    </a:p>
                  </a:txBody>
                  <a:tcPr/>
                </a:tc>
                <a:tc hMerge="1">
                  <a:txBody>
                    <a:bodyPr/>
                    <a:lstStyle/>
                    <a:p>
                      <a:endParaRPr lang="en-ZA"/>
                    </a:p>
                  </a:txBody>
                  <a:tcPr/>
                </a:tc>
                <a:extLst>
                  <a:ext uri="{0D108BD9-81ED-4DB2-BD59-A6C34878D82A}">
                    <a16:rowId xmlns:a16="http://schemas.microsoft.com/office/drawing/2014/main" val="2986599049"/>
                  </a:ext>
                </a:extLst>
              </a:tr>
              <a:tr h="662845">
                <a:tc>
                  <a:txBody>
                    <a:bodyPr/>
                    <a:lstStyle/>
                    <a:p>
                      <a:pPr algn="ctr" rtl="0" fontAlgn="base">
                        <a:lnSpc>
                          <a:spcPts val="1463"/>
                        </a:lnSpc>
                        <a:buNone/>
                      </a:pPr>
                      <a:r>
                        <a:rPr lang="en-ZA" sz="1600" b="1" kern="1200" dirty="0">
                          <a:solidFill>
                            <a:schemeClr val="bg1"/>
                          </a:solidFill>
                          <a:latin typeface="Arial" panose="020B0604020202020204" pitchFamily="34" charset="0"/>
                          <a:ea typeface="+mn-ea"/>
                          <a:cs typeface="Arial" panose="020B0604020202020204" pitchFamily="34" charset="0"/>
                        </a:rPr>
                        <a:t>Applicant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rgbClr val="548E86"/>
                    </a:solidFill>
                  </a:tcPr>
                </a:tc>
                <a:tc>
                  <a:txBody>
                    <a:bodyPr/>
                    <a:lstStyle/>
                    <a:p>
                      <a:pPr algn="ctr" rtl="0" fontAlgn="base">
                        <a:lnSpc>
                          <a:spcPts val="1463"/>
                        </a:lnSpc>
                        <a:buNone/>
                      </a:pPr>
                      <a:r>
                        <a:rPr lang="en-ZA" sz="1600" b="1" kern="1200" dirty="0">
                          <a:solidFill>
                            <a:schemeClr val="bg1"/>
                          </a:solidFill>
                          <a:latin typeface="Arial" panose="020B0604020202020204" pitchFamily="34" charset="0"/>
                          <a:ea typeface="+mn-ea"/>
                          <a:cs typeface="Arial" panose="020B0604020202020204" pitchFamily="34" charset="0"/>
                        </a:rPr>
                        <a:t>Total Cases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rgbClr val="548E86"/>
                    </a:solidFill>
                  </a:tcPr>
                </a:tc>
                <a:tc>
                  <a:txBody>
                    <a:bodyPr/>
                    <a:lstStyle/>
                    <a:p>
                      <a:pPr algn="ctr" rtl="0" fontAlgn="base">
                        <a:lnSpc>
                          <a:spcPts val="1463"/>
                        </a:lnSpc>
                        <a:buNone/>
                      </a:pPr>
                      <a:r>
                        <a:rPr lang="en-ZA" sz="1600" b="1" kern="1200" dirty="0">
                          <a:solidFill>
                            <a:schemeClr val="bg1"/>
                          </a:solidFill>
                          <a:latin typeface="Arial" panose="020B0604020202020204" pitchFamily="34" charset="0"/>
                          <a:ea typeface="+mn-ea"/>
                          <a:cs typeface="Arial" panose="020B0604020202020204" pitchFamily="34" charset="0"/>
                        </a:rPr>
                        <a:t>Cases Attended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rgbClr val="548E86"/>
                    </a:solidFill>
                  </a:tcPr>
                </a:tc>
                <a:tc>
                  <a:txBody>
                    <a:bodyPr/>
                    <a:lstStyle/>
                    <a:p>
                      <a:pPr algn="ctr" rtl="0" fontAlgn="base">
                        <a:lnSpc>
                          <a:spcPts val="1463"/>
                        </a:lnSpc>
                        <a:buNone/>
                      </a:pPr>
                      <a:r>
                        <a:rPr lang="en-ZA" sz="1600" b="1" kern="1200" dirty="0">
                          <a:solidFill>
                            <a:schemeClr val="bg1"/>
                          </a:solidFill>
                          <a:latin typeface="Arial" panose="020B0604020202020204" pitchFamily="34" charset="0"/>
                          <a:ea typeface="+mn-ea"/>
                          <a:cs typeface="Arial" panose="020B0604020202020204" pitchFamily="34" charset="0"/>
                        </a:rPr>
                        <a:t>Cases Not Attended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rgbClr val="548E86"/>
                    </a:solidFill>
                  </a:tcPr>
                </a:tc>
                <a:tc>
                  <a:txBody>
                    <a:bodyPr/>
                    <a:lstStyle/>
                    <a:p>
                      <a:pPr algn="ctr" rtl="0" fontAlgn="base">
                        <a:lnSpc>
                          <a:spcPts val="1463"/>
                        </a:lnSpc>
                        <a:buNone/>
                      </a:pPr>
                      <a:r>
                        <a:rPr lang="en-ZA" sz="1600" b="1" kern="1200" dirty="0">
                          <a:solidFill>
                            <a:schemeClr val="bg1"/>
                          </a:solidFill>
                          <a:latin typeface="Arial" panose="020B0604020202020204" pitchFamily="34" charset="0"/>
                          <a:ea typeface="+mn-ea"/>
                          <a:cs typeface="Arial" panose="020B0604020202020204" pitchFamily="34" charset="0"/>
                        </a:rPr>
                        <a:t>Attendance Percentage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rgbClr val="548E86"/>
                    </a:solidFill>
                  </a:tcPr>
                </a:tc>
                <a:tc>
                  <a:txBody>
                    <a:bodyPr/>
                    <a:lstStyle/>
                    <a:p>
                      <a:pPr algn="ctr" rtl="0" fontAlgn="base">
                        <a:lnSpc>
                          <a:spcPts val="1463"/>
                        </a:lnSpc>
                        <a:buNone/>
                      </a:pPr>
                      <a:r>
                        <a:rPr lang="en-ZA" sz="1600" b="1" kern="1200" dirty="0">
                          <a:solidFill>
                            <a:schemeClr val="bg1"/>
                          </a:solidFill>
                          <a:latin typeface="Arial" panose="020B0604020202020204" pitchFamily="34" charset="0"/>
                          <a:ea typeface="+mn-ea"/>
                          <a:cs typeface="Arial" panose="020B0604020202020204" pitchFamily="34" charset="0"/>
                        </a:rPr>
                        <a:t>Total Cases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rgbClr val="548E86"/>
                    </a:solidFill>
                  </a:tcPr>
                </a:tc>
                <a:tc>
                  <a:txBody>
                    <a:bodyPr/>
                    <a:lstStyle/>
                    <a:p>
                      <a:pPr algn="ctr" rtl="0" fontAlgn="base">
                        <a:lnSpc>
                          <a:spcPts val="1463"/>
                        </a:lnSpc>
                        <a:buNone/>
                      </a:pPr>
                      <a:r>
                        <a:rPr lang="en-ZA" sz="1600" b="1" kern="1200" dirty="0">
                          <a:solidFill>
                            <a:schemeClr val="bg1"/>
                          </a:solidFill>
                          <a:latin typeface="Arial" panose="020B0604020202020204" pitchFamily="34" charset="0"/>
                          <a:ea typeface="+mn-ea"/>
                          <a:cs typeface="Arial" panose="020B0604020202020204" pitchFamily="34" charset="0"/>
                        </a:rPr>
                        <a:t>Cases Attended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rgbClr val="548E86"/>
                    </a:solidFill>
                  </a:tcPr>
                </a:tc>
                <a:tc>
                  <a:txBody>
                    <a:bodyPr/>
                    <a:lstStyle/>
                    <a:p>
                      <a:pPr algn="ctr" rtl="0" fontAlgn="base">
                        <a:lnSpc>
                          <a:spcPts val="1463"/>
                        </a:lnSpc>
                        <a:buNone/>
                      </a:pPr>
                      <a:r>
                        <a:rPr lang="en-ZA" sz="1600" b="1" kern="1200" dirty="0">
                          <a:solidFill>
                            <a:schemeClr val="bg1"/>
                          </a:solidFill>
                          <a:latin typeface="Arial" panose="020B0604020202020204" pitchFamily="34" charset="0"/>
                          <a:ea typeface="+mn-ea"/>
                          <a:cs typeface="Arial" panose="020B0604020202020204" pitchFamily="34" charset="0"/>
                        </a:rPr>
                        <a:t>Cases Not Attended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rgbClr val="548E86"/>
                    </a:solidFill>
                  </a:tcPr>
                </a:tc>
                <a:tc>
                  <a:txBody>
                    <a:bodyPr/>
                    <a:lstStyle/>
                    <a:p>
                      <a:pPr algn="ctr" rtl="0" fontAlgn="base">
                        <a:lnSpc>
                          <a:spcPts val="1463"/>
                        </a:lnSpc>
                        <a:buNone/>
                      </a:pPr>
                      <a:r>
                        <a:rPr lang="en-ZA" sz="1600" b="1" kern="1200" dirty="0">
                          <a:solidFill>
                            <a:schemeClr val="bg1"/>
                          </a:solidFill>
                          <a:latin typeface="Arial" panose="020B0604020202020204" pitchFamily="34" charset="0"/>
                          <a:ea typeface="+mn-ea"/>
                          <a:cs typeface="Arial" panose="020B0604020202020204" pitchFamily="34" charset="0"/>
                        </a:rPr>
                        <a:t>Attendance Percentage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rgbClr val="548E86"/>
                    </a:solidFill>
                  </a:tcPr>
                </a:tc>
                <a:extLst>
                  <a:ext uri="{0D108BD9-81ED-4DB2-BD59-A6C34878D82A}">
                    <a16:rowId xmlns:a16="http://schemas.microsoft.com/office/drawing/2014/main" val="3307795049"/>
                  </a:ext>
                </a:extLst>
              </a:tr>
              <a:tr h="294738">
                <a:tc>
                  <a:txBody>
                    <a:bodyPr/>
                    <a:lstStyle/>
                    <a:p>
                      <a:pPr algn="l" rtl="0" fontAlgn="base">
                        <a:lnSpc>
                          <a:spcPts val="1463"/>
                        </a:lnSpc>
                        <a:buNone/>
                      </a:pPr>
                      <a:r>
                        <a:rPr lang="en-ZA" sz="1600" b="1" i="0">
                          <a:effectLst/>
                          <a:latin typeface="Arial" panose="020B0604020202020204" pitchFamily="34" charset="0"/>
                          <a:cs typeface="Arial" panose="020B0604020202020204" pitchFamily="34" charset="0"/>
                        </a:rPr>
                        <a:t>INDIVIDUAL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noFill/>
                  </a:tcPr>
                </a:tc>
                <a:tc>
                  <a:txBody>
                    <a:bodyPr/>
                    <a:lstStyle/>
                    <a:p>
                      <a:pPr algn="ctr" rtl="0" fontAlgn="base">
                        <a:lnSpc>
                          <a:spcPts val="1463"/>
                        </a:lnSpc>
                        <a:buNone/>
                      </a:pPr>
                      <a:r>
                        <a:rPr lang="en-ZA" sz="1600" b="0" i="0" dirty="0">
                          <a:solidFill>
                            <a:schemeClr val="bg1"/>
                          </a:solidFill>
                          <a:effectLst/>
                          <a:latin typeface="Arial" panose="020B0604020202020204" pitchFamily="34" charset="0"/>
                          <a:cs typeface="Arial" panose="020B0604020202020204" pitchFamily="34" charset="0"/>
                        </a:rPr>
                        <a:t>16 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dirty="0">
                          <a:solidFill>
                            <a:schemeClr val="bg1"/>
                          </a:solidFill>
                          <a:effectLst/>
                          <a:latin typeface="Arial" panose="020B0604020202020204" pitchFamily="34" charset="0"/>
                          <a:cs typeface="Arial" panose="020B0604020202020204" pitchFamily="34" charset="0"/>
                        </a:rPr>
                        <a:t>13 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dirty="0">
                          <a:solidFill>
                            <a:schemeClr val="bg1"/>
                          </a:solidFill>
                          <a:effectLst/>
                          <a:latin typeface="Arial" panose="020B0604020202020204" pitchFamily="34" charset="0"/>
                          <a:cs typeface="Arial" panose="020B0604020202020204" pitchFamily="34" charset="0"/>
                        </a:rPr>
                        <a:t>2 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dirty="0">
                          <a:solidFill>
                            <a:schemeClr val="bg1"/>
                          </a:solidFill>
                          <a:effectLst/>
                          <a:latin typeface="Arial" panose="020B0604020202020204" pitchFamily="34" charset="0"/>
                          <a:cs typeface="Arial" panose="020B0604020202020204" pitchFamily="34" charset="0"/>
                        </a:rPr>
                        <a:t>81%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9 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dirty="0">
                          <a:solidFill>
                            <a:schemeClr val="bg1"/>
                          </a:solidFill>
                          <a:effectLst/>
                          <a:latin typeface="Arial" panose="020B0604020202020204" pitchFamily="34" charset="0"/>
                          <a:cs typeface="Arial" panose="020B0604020202020204" pitchFamily="34" charset="0"/>
                        </a:rPr>
                        <a:t>8 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dirty="0">
                          <a:solidFill>
                            <a:schemeClr val="bg1"/>
                          </a:solidFill>
                          <a:effectLst/>
                          <a:latin typeface="Arial" panose="020B0604020202020204" pitchFamily="34" charset="0"/>
                          <a:cs typeface="Arial" panose="020B0604020202020204" pitchFamily="34" charset="0"/>
                        </a:rPr>
                        <a:t>1 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89%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extLst>
                  <a:ext uri="{0D108BD9-81ED-4DB2-BD59-A6C34878D82A}">
                    <a16:rowId xmlns:a16="http://schemas.microsoft.com/office/drawing/2014/main" val="395544366"/>
                  </a:ext>
                </a:extLst>
              </a:tr>
              <a:tr h="294738">
                <a:tc>
                  <a:txBody>
                    <a:bodyPr/>
                    <a:lstStyle/>
                    <a:p>
                      <a:pPr algn="l" rtl="0" fontAlgn="base">
                        <a:lnSpc>
                          <a:spcPts val="1463"/>
                        </a:lnSpc>
                        <a:buNone/>
                      </a:pPr>
                      <a:r>
                        <a:rPr lang="en-ZA" sz="1600" b="1" i="0">
                          <a:effectLst/>
                          <a:latin typeface="Arial" panose="020B0604020202020204" pitchFamily="34" charset="0"/>
                          <a:cs typeface="Arial" panose="020B0604020202020204" pitchFamily="34" charset="0"/>
                        </a:rPr>
                        <a:t>DENOSA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no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4 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dirty="0">
                          <a:solidFill>
                            <a:schemeClr val="bg1"/>
                          </a:solidFill>
                          <a:effectLst/>
                          <a:latin typeface="Arial" panose="020B0604020202020204" pitchFamily="34" charset="0"/>
                          <a:cs typeface="Arial" panose="020B0604020202020204" pitchFamily="34" charset="0"/>
                        </a:rPr>
                        <a:t>4 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dirty="0">
                          <a:solidFill>
                            <a:schemeClr val="bg1"/>
                          </a:solidFill>
                          <a:effectLst/>
                          <a:latin typeface="Arial" panose="020B0604020202020204" pitchFamily="34" charset="0"/>
                          <a:cs typeface="Arial" panose="020B0604020202020204" pitchFamily="34" charset="0"/>
                        </a:rPr>
                        <a:t>0 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dirty="0">
                          <a:solidFill>
                            <a:schemeClr val="bg1"/>
                          </a:solidFill>
                          <a:effectLst/>
                          <a:latin typeface="Arial" panose="020B0604020202020204" pitchFamily="34" charset="0"/>
                          <a:cs typeface="Arial" panose="020B0604020202020204" pitchFamily="34" charset="0"/>
                        </a:rPr>
                        <a:t>100%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dirty="0">
                          <a:solidFill>
                            <a:schemeClr val="bg1"/>
                          </a:solidFill>
                          <a:effectLst/>
                          <a:latin typeface="Arial" panose="020B0604020202020204" pitchFamily="34" charset="0"/>
                          <a:cs typeface="Arial" panose="020B0604020202020204" pitchFamily="34" charset="0"/>
                        </a:rPr>
                        <a:t>3 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3 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dirty="0">
                          <a:solidFill>
                            <a:schemeClr val="bg1"/>
                          </a:solidFill>
                          <a:effectLst/>
                          <a:latin typeface="Arial" panose="020B0604020202020204" pitchFamily="34" charset="0"/>
                          <a:cs typeface="Arial" panose="020B0604020202020204" pitchFamily="34" charset="0"/>
                        </a:rPr>
                        <a:t>0 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100%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extLst>
                  <a:ext uri="{0D108BD9-81ED-4DB2-BD59-A6C34878D82A}">
                    <a16:rowId xmlns:a16="http://schemas.microsoft.com/office/drawing/2014/main" val="3760080118"/>
                  </a:ext>
                </a:extLst>
              </a:tr>
              <a:tr h="294738">
                <a:tc>
                  <a:txBody>
                    <a:bodyPr/>
                    <a:lstStyle/>
                    <a:p>
                      <a:pPr algn="l" rtl="0" fontAlgn="base">
                        <a:lnSpc>
                          <a:spcPts val="1463"/>
                        </a:lnSpc>
                        <a:buNone/>
                      </a:pPr>
                      <a:r>
                        <a:rPr lang="en-ZA" sz="1600" b="1" i="0" dirty="0">
                          <a:effectLst/>
                          <a:latin typeface="Arial" panose="020B0604020202020204" pitchFamily="34" charset="0"/>
                          <a:cs typeface="Arial" panose="020B0604020202020204" pitchFamily="34" charset="0"/>
                        </a:rPr>
                        <a:t>HOSPERSA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no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19 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14 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dirty="0">
                          <a:solidFill>
                            <a:schemeClr val="bg1"/>
                          </a:solidFill>
                          <a:effectLst/>
                          <a:latin typeface="Arial" panose="020B0604020202020204" pitchFamily="34" charset="0"/>
                          <a:cs typeface="Arial" panose="020B0604020202020204" pitchFamily="34" charset="0"/>
                        </a:rPr>
                        <a:t>5 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dirty="0">
                          <a:solidFill>
                            <a:schemeClr val="bg1"/>
                          </a:solidFill>
                          <a:effectLst/>
                          <a:latin typeface="Arial" panose="020B0604020202020204" pitchFamily="34" charset="0"/>
                          <a:cs typeface="Arial" panose="020B0604020202020204" pitchFamily="34" charset="0"/>
                        </a:rPr>
                        <a:t>74%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dirty="0">
                          <a:solidFill>
                            <a:schemeClr val="bg1"/>
                          </a:solidFill>
                          <a:effectLst/>
                          <a:latin typeface="Arial" panose="020B0604020202020204" pitchFamily="34" charset="0"/>
                          <a:cs typeface="Arial" panose="020B0604020202020204" pitchFamily="34" charset="0"/>
                        </a:rPr>
                        <a:t>8 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dirty="0">
                          <a:solidFill>
                            <a:schemeClr val="bg1"/>
                          </a:solidFill>
                          <a:effectLst/>
                          <a:latin typeface="Arial" panose="020B0604020202020204" pitchFamily="34" charset="0"/>
                          <a:cs typeface="Arial" panose="020B0604020202020204" pitchFamily="34" charset="0"/>
                        </a:rPr>
                        <a:t>8 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dirty="0">
                          <a:solidFill>
                            <a:schemeClr val="bg1"/>
                          </a:solidFill>
                          <a:effectLst/>
                          <a:latin typeface="Arial" panose="020B0604020202020204" pitchFamily="34" charset="0"/>
                          <a:cs typeface="Arial" panose="020B0604020202020204" pitchFamily="34" charset="0"/>
                        </a:rPr>
                        <a:t>0 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100%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extLst>
                  <a:ext uri="{0D108BD9-81ED-4DB2-BD59-A6C34878D82A}">
                    <a16:rowId xmlns:a16="http://schemas.microsoft.com/office/drawing/2014/main" val="242698258"/>
                  </a:ext>
                </a:extLst>
              </a:tr>
              <a:tr h="294738">
                <a:tc>
                  <a:txBody>
                    <a:bodyPr/>
                    <a:lstStyle/>
                    <a:p>
                      <a:pPr algn="l" rtl="0" fontAlgn="base">
                        <a:lnSpc>
                          <a:spcPts val="1463"/>
                        </a:lnSpc>
                        <a:buNone/>
                      </a:pPr>
                      <a:r>
                        <a:rPr lang="en-ZA" sz="1600" b="1" i="0">
                          <a:effectLst/>
                          <a:latin typeface="Arial" panose="020B0604020202020204" pitchFamily="34" charset="0"/>
                          <a:cs typeface="Arial" panose="020B0604020202020204" pitchFamily="34" charset="0"/>
                        </a:rPr>
                        <a:t>NAPTOSA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no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dirty="0">
                          <a:solidFill>
                            <a:schemeClr val="bg1"/>
                          </a:solidFill>
                          <a:effectLst/>
                          <a:latin typeface="Arial" panose="020B0604020202020204" pitchFamily="34" charset="0"/>
                          <a:cs typeface="Arial" panose="020B0604020202020204" pitchFamily="34" charset="0"/>
                        </a:rPr>
                        <a:t>-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1 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dirty="0">
                          <a:solidFill>
                            <a:schemeClr val="bg1"/>
                          </a:solidFill>
                          <a:effectLst/>
                          <a:latin typeface="Arial" panose="020B0604020202020204" pitchFamily="34" charset="0"/>
                          <a:cs typeface="Arial" panose="020B0604020202020204" pitchFamily="34" charset="0"/>
                        </a:rPr>
                        <a:t>1 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dirty="0">
                          <a:solidFill>
                            <a:schemeClr val="bg1"/>
                          </a:solidFill>
                          <a:effectLst/>
                          <a:latin typeface="Arial" panose="020B0604020202020204" pitchFamily="34" charset="0"/>
                          <a:cs typeface="Arial" panose="020B0604020202020204" pitchFamily="34" charset="0"/>
                        </a:rPr>
                        <a:t>0 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dirty="0">
                          <a:solidFill>
                            <a:schemeClr val="bg1"/>
                          </a:solidFill>
                          <a:effectLst/>
                          <a:latin typeface="Arial" panose="020B0604020202020204" pitchFamily="34" charset="0"/>
                          <a:cs typeface="Arial" panose="020B0604020202020204" pitchFamily="34" charset="0"/>
                        </a:rPr>
                        <a:t>100%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extLst>
                  <a:ext uri="{0D108BD9-81ED-4DB2-BD59-A6C34878D82A}">
                    <a16:rowId xmlns:a16="http://schemas.microsoft.com/office/drawing/2014/main" val="1106324415"/>
                  </a:ext>
                </a:extLst>
              </a:tr>
              <a:tr h="294738">
                <a:tc>
                  <a:txBody>
                    <a:bodyPr/>
                    <a:lstStyle/>
                    <a:p>
                      <a:pPr algn="just" rtl="0" fontAlgn="base">
                        <a:lnSpc>
                          <a:spcPts val="1463"/>
                        </a:lnSpc>
                        <a:buNone/>
                      </a:pPr>
                      <a:r>
                        <a:rPr lang="en-ZA" sz="1600" b="1" i="0">
                          <a:effectLst/>
                          <a:latin typeface="Arial" panose="020B0604020202020204" pitchFamily="34" charset="0"/>
                          <a:cs typeface="Arial" panose="020B0604020202020204" pitchFamily="34" charset="0"/>
                        </a:rPr>
                        <a:t>NUPSAW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no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12 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7 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dirty="0">
                          <a:solidFill>
                            <a:schemeClr val="bg1"/>
                          </a:solidFill>
                          <a:effectLst/>
                          <a:latin typeface="Arial" panose="020B0604020202020204" pitchFamily="34" charset="0"/>
                          <a:cs typeface="Arial" panose="020B0604020202020204" pitchFamily="34" charset="0"/>
                        </a:rPr>
                        <a:t>5 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58%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dirty="0">
                          <a:solidFill>
                            <a:schemeClr val="bg1"/>
                          </a:solidFill>
                          <a:effectLst/>
                          <a:latin typeface="Arial" panose="020B0604020202020204" pitchFamily="34" charset="0"/>
                          <a:cs typeface="Arial" panose="020B0604020202020204" pitchFamily="34" charset="0"/>
                        </a:rPr>
                        <a:t>4 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dirty="0">
                          <a:solidFill>
                            <a:schemeClr val="bg1"/>
                          </a:solidFill>
                          <a:effectLst/>
                          <a:latin typeface="Arial" panose="020B0604020202020204" pitchFamily="34" charset="0"/>
                          <a:cs typeface="Arial" panose="020B0604020202020204" pitchFamily="34" charset="0"/>
                        </a:rPr>
                        <a:t>4 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dirty="0">
                          <a:solidFill>
                            <a:schemeClr val="bg1"/>
                          </a:solidFill>
                          <a:effectLst/>
                          <a:latin typeface="Arial" panose="020B0604020202020204" pitchFamily="34" charset="0"/>
                          <a:cs typeface="Arial" panose="020B0604020202020204" pitchFamily="34" charset="0"/>
                        </a:rPr>
                        <a:t>0 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dirty="0">
                          <a:solidFill>
                            <a:schemeClr val="bg1"/>
                          </a:solidFill>
                          <a:effectLst/>
                          <a:latin typeface="Arial" panose="020B0604020202020204" pitchFamily="34" charset="0"/>
                          <a:cs typeface="Arial" panose="020B0604020202020204" pitchFamily="34" charset="0"/>
                        </a:rPr>
                        <a:t>100%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extLst>
                  <a:ext uri="{0D108BD9-81ED-4DB2-BD59-A6C34878D82A}">
                    <a16:rowId xmlns:a16="http://schemas.microsoft.com/office/drawing/2014/main" val="1576246695"/>
                  </a:ext>
                </a:extLst>
              </a:tr>
              <a:tr h="294738">
                <a:tc>
                  <a:txBody>
                    <a:bodyPr/>
                    <a:lstStyle/>
                    <a:p>
                      <a:pPr algn="just" rtl="0" fontAlgn="base">
                        <a:lnSpc>
                          <a:spcPts val="1463"/>
                        </a:lnSpc>
                        <a:buNone/>
                      </a:pPr>
                      <a:r>
                        <a:rPr lang="en-ZA" sz="1600" b="1" i="0" dirty="0">
                          <a:effectLst/>
                          <a:latin typeface="Arial" panose="020B0604020202020204" pitchFamily="34" charset="0"/>
                          <a:cs typeface="Arial" panose="020B0604020202020204" pitchFamily="34" charset="0"/>
                        </a:rPr>
                        <a:t>NEHAWU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no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36 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31 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5 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dirty="0">
                          <a:solidFill>
                            <a:schemeClr val="bg1"/>
                          </a:solidFill>
                          <a:effectLst/>
                          <a:latin typeface="Arial" panose="020B0604020202020204" pitchFamily="34" charset="0"/>
                          <a:cs typeface="Arial" panose="020B0604020202020204" pitchFamily="34" charset="0"/>
                        </a:rPr>
                        <a:t>86%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34 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dirty="0">
                          <a:solidFill>
                            <a:schemeClr val="bg1"/>
                          </a:solidFill>
                          <a:effectLst/>
                          <a:latin typeface="Arial" panose="020B0604020202020204" pitchFamily="34" charset="0"/>
                          <a:cs typeface="Arial" panose="020B0604020202020204" pitchFamily="34" charset="0"/>
                        </a:rPr>
                        <a:t>33 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dirty="0">
                          <a:solidFill>
                            <a:schemeClr val="bg1"/>
                          </a:solidFill>
                          <a:effectLst/>
                          <a:latin typeface="Arial" panose="020B0604020202020204" pitchFamily="34" charset="0"/>
                          <a:cs typeface="Arial" panose="020B0604020202020204" pitchFamily="34" charset="0"/>
                        </a:rPr>
                        <a:t>1 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dirty="0">
                          <a:solidFill>
                            <a:schemeClr val="bg1"/>
                          </a:solidFill>
                          <a:effectLst/>
                          <a:latin typeface="Arial" panose="020B0604020202020204" pitchFamily="34" charset="0"/>
                          <a:cs typeface="Arial" panose="020B0604020202020204" pitchFamily="34" charset="0"/>
                        </a:rPr>
                        <a:t>97%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extLst>
                  <a:ext uri="{0D108BD9-81ED-4DB2-BD59-A6C34878D82A}">
                    <a16:rowId xmlns:a16="http://schemas.microsoft.com/office/drawing/2014/main" val="3542936690"/>
                  </a:ext>
                </a:extLst>
              </a:tr>
              <a:tr h="294738">
                <a:tc>
                  <a:txBody>
                    <a:bodyPr/>
                    <a:lstStyle/>
                    <a:p>
                      <a:pPr algn="just" rtl="0" fontAlgn="base">
                        <a:lnSpc>
                          <a:spcPts val="1463"/>
                        </a:lnSpc>
                        <a:buNone/>
                      </a:pPr>
                      <a:r>
                        <a:rPr lang="en-ZA" sz="1600" b="1" i="0">
                          <a:effectLst/>
                          <a:latin typeface="Arial" panose="020B0604020202020204" pitchFamily="34" charset="0"/>
                          <a:cs typeface="Arial" panose="020B0604020202020204" pitchFamily="34" charset="0"/>
                        </a:rPr>
                        <a:t>POPCRU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no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14 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12 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dirty="0">
                          <a:solidFill>
                            <a:schemeClr val="bg1"/>
                          </a:solidFill>
                          <a:effectLst/>
                          <a:latin typeface="Arial" panose="020B0604020202020204" pitchFamily="34" charset="0"/>
                          <a:cs typeface="Arial" panose="020B0604020202020204" pitchFamily="34" charset="0"/>
                        </a:rPr>
                        <a:t>2 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86%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14 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dirty="0">
                          <a:solidFill>
                            <a:schemeClr val="bg1"/>
                          </a:solidFill>
                          <a:effectLst/>
                          <a:latin typeface="Arial" panose="020B0604020202020204" pitchFamily="34" charset="0"/>
                          <a:cs typeface="Arial" panose="020B0604020202020204" pitchFamily="34" charset="0"/>
                        </a:rPr>
                        <a:t>12 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dirty="0">
                          <a:solidFill>
                            <a:schemeClr val="bg1"/>
                          </a:solidFill>
                          <a:effectLst/>
                          <a:latin typeface="Arial" panose="020B0604020202020204" pitchFamily="34" charset="0"/>
                          <a:cs typeface="Arial" panose="020B0604020202020204" pitchFamily="34" charset="0"/>
                        </a:rPr>
                        <a:t>2 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dirty="0">
                          <a:solidFill>
                            <a:schemeClr val="bg1"/>
                          </a:solidFill>
                          <a:effectLst/>
                          <a:latin typeface="Arial" panose="020B0604020202020204" pitchFamily="34" charset="0"/>
                          <a:cs typeface="Arial" panose="020B0604020202020204" pitchFamily="34" charset="0"/>
                        </a:rPr>
                        <a:t>86%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extLst>
                  <a:ext uri="{0D108BD9-81ED-4DB2-BD59-A6C34878D82A}">
                    <a16:rowId xmlns:a16="http://schemas.microsoft.com/office/drawing/2014/main" val="221748772"/>
                  </a:ext>
                </a:extLst>
              </a:tr>
              <a:tr h="294738">
                <a:tc>
                  <a:txBody>
                    <a:bodyPr/>
                    <a:lstStyle/>
                    <a:p>
                      <a:pPr algn="just" rtl="0" fontAlgn="base">
                        <a:lnSpc>
                          <a:spcPts val="1463"/>
                        </a:lnSpc>
                        <a:buNone/>
                      </a:pPr>
                      <a:r>
                        <a:rPr lang="en-ZA" sz="1600" b="1" i="0" dirty="0">
                          <a:effectLst/>
                          <a:latin typeface="Arial" panose="020B0604020202020204" pitchFamily="34" charset="0"/>
                          <a:cs typeface="Arial" panose="020B0604020202020204" pitchFamily="34" charset="0"/>
                        </a:rPr>
                        <a:t>PSA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no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57 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48 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9 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84%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69 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58 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dirty="0">
                          <a:solidFill>
                            <a:schemeClr val="bg1"/>
                          </a:solidFill>
                          <a:effectLst/>
                          <a:latin typeface="Arial" panose="020B0604020202020204" pitchFamily="34" charset="0"/>
                          <a:cs typeface="Arial" panose="020B0604020202020204" pitchFamily="34" charset="0"/>
                        </a:rPr>
                        <a:t>11 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dirty="0">
                          <a:solidFill>
                            <a:schemeClr val="bg1"/>
                          </a:solidFill>
                          <a:effectLst/>
                          <a:latin typeface="Arial" panose="020B0604020202020204" pitchFamily="34" charset="0"/>
                          <a:cs typeface="Arial" panose="020B0604020202020204" pitchFamily="34" charset="0"/>
                        </a:rPr>
                        <a:t>84%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extLst>
                  <a:ext uri="{0D108BD9-81ED-4DB2-BD59-A6C34878D82A}">
                    <a16:rowId xmlns:a16="http://schemas.microsoft.com/office/drawing/2014/main" val="3767271253"/>
                  </a:ext>
                </a:extLst>
              </a:tr>
              <a:tr h="265473">
                <a:tc>
                  <a:txBody>
                    <a:bodyPr/>
                    <a:lstStyle/>
                    <a:p>
                      <a:pPr algn="just" rtl="0" fontAlgn="base">
                        <a:lnSpc>
                          <a:spcPts val="1463"/>
                        </a:lnSpc>
                        <a:buNone/>
                      </a:pPr>
                      <a:r>
                        <a:rPr lang="en-ZA" sz="1600" b="1" i="0">
                          <a:effectLst/>
                          <a:latin typeface="Arial" panose="020B0604020202020204" pitchFamily="34" charset="0"/>
                          <a:cs typeface="Arial" panose="020B0604020202020204" pitchFamily="34" charset="0"/>
                        </a:rPr>
                        <a:t>SADTU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no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1 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1 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0 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dirty="0">
                          <a:solidFill>
                            <a:schemeClr val="bg1"/>
                          </a:solidFill>
                          <a:effectLst/>
                          <a:latin typeface="Arial" panose="020B0604020202020204" pitchFamily="34" charset="0"/>
                          <a:cs typeface="Arial" panose="020B0604020202020204" pitchFamily="34" charset="0"/>
                        </a:rPr>
                        <a:t>100%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extLst>
                  <a:ext uri="{0D108BD9-81ED-4DB2-BD59-A6C34878D82A}">
                    <a16:rowId xmlns:a16="http://schemas.microsoft.com/office/drawing/2014/main" val="2500045815"/>
                  </a:ext>
                </a:extLst>
              </a:tr>
              <a:tr h="294738">
                <a:tc>
                  <a:txBody>
                    <a:bodyPr/>
                    <a:lstStyle/>
                    <a:p>
                      <a:pPr algn="just" rtl="0" fontAlgn="base">
                        <a:lnSpc>
                          <a:spcPts val="1463"/>
                        </a:lnSpc>
                        <a:buNone/>
                      </a:pPr>
                      <a:r>
                        <a:rPr lang="en-ZA" sz="1600" b="1" i="0">
                          <a:effectLst/>
                          <a:latin typeface="Arial" panose="020B0604020202020204" pitchFamily="34" charset="0"/>
                          <a:cs typeface="Arial" panose="020B0604020202020204" pitchFamily="34" charset="0"/>
                        </a:rPr>
                        <a:t>SAPU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no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20 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19 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1 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95%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11 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9 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2 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dirty="0">
                          <a:solidFill>
                            <a:schemeClr val="bg1"/>
                          </a:solidFill>
                          <a:effectLst/>
                          <a:latin typeface="Arial" panose="020B0604020202020204" pitchFamily="34" charset="0"/>
                          <a:cs typeface="Arial" panose="020B0604020202020204" pitchFamily="34" charset="0"/>
                        </a:rPr>
                        <a:t>82%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extLst>
                  <a:ext uri="{0D108BD9-81ED-4DB2-BD59-A6C34878D82A}">
                    <a16:rowId xmlns:a16="http://schemas.microsoft.com/office/drawing/2014/main" val="108028926"/>
                  </a:ext>
                </a:extLst>
              </a:tr>
              <a:tr h="294738">
                <a:tc>
                  <a:txBody>
                    <a:bodyPr/>
                    <a:lstStyle/>
                    <a:p>
                      <a:pPr algn="just" rtl="0" fontAlgn="base">
                        <a:lnSpc>
                          <a:spcPts val="1463"/>
                        </a:lnSpc>
                        <a:buNone/>
                      </a:pPr>
                      <a:r>
                        <a:rPr lang="en-ZA" sz="1600" b="1" i="0">
                          <a:effectLst/>
                          <a:latin typeface="Arial" panose="020B0604020202020204" pitchFamily="34" charset="0"/>
                          <a:cs typeface="Arial" panose="020B0604020202020204" pitchFamily="34" charset="0"/>
                        </a:rPr>
                        <a:t>SOLIDARITY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no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4 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4 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0 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dirty="0">
                          <a:solidFill>
                            <a:schemeClr val="bg1"/>
                          </a:solidFill>
                          <a:effectLst/>
                          <a:latin typeface="Arial" panose="020B0604020202020204" pitchFamily="34" charset="0"/>
                          <a:cs typeface="Arial" panose="020B0604020202020204" pitchFamily="34" charset="0"/>
                        </a:rPr>
                        <a:t>100%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extLst>
                  <a:ext uri="{0D108BD9-81ED-4DB2-BD59-A6C34878D82A}">
                    <a16:rowId xmlns:a16="http://schemas.microsoft.com/office/drawing/2014/main" val="1673529338"/>
                  </a:ext>
                </a:extLst>
              </a:tr>
              <a:tr h="265473">
                <a:tc>
                  <a:txBody>
                    <a:bodyPr/>
                    <a:lstStyle/>
                    <a:p>
                      <a:pPr algn="just" rtl="0" fontAlgn="base">
                        <a:lnSpc>
                          <a:spcPts val="1463"/>
                        </a:lnSpc>
                        <a:buNone/>
                      </a:pPr>
                      <a:r>
                        <a:rPr lang="en-ZA" sz="1600" b="1" i="0" dirty="0">
                          <a:effectLst/>
                          <a:latin typeface="Arial" panose="020B0604020202020204" pitchFamily="34" charset="0"/>
                          <a:cs typeface="Arial" panose="020B0604020202020204" pitchFamily="34" charset="0"/>
                        </a:rPr>
                        <a:t>SAOU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no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1 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1 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0 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dirty="0">
                          <a:solidFill>
                            <a:schemeClr val="bg1"/>
                          </a:solidFill>
                          <a:effectLst/>
                          <a:latin typeface="Arial" panose="020B0604020202020204" pitchFamily="34" charset="0"/>
                          <a:cs typeface="Arial" panose="020B0604020202020204" pitchFamily="34" charset="0"/>
                        </a:rPr>
                        <a:t>100%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extLst>
                  <a:ext uri="{0D108BD9-81ED-4DB2-BD59-A6C34878D82A}">
                    <a16:rowId xmlns:a16="http://schemas.microsoft.com/office/drawing/2014/main" val="939229621"/>
                  </a:ext>
                </a:extLst>
              </a:tr>
              <a:tr h="265473">
                <a:tc>
                  <a:txBody>
                    <a:bodyPr/>
                    <a:lstStyle/>
                    <a:p>
                      <a:pPr algn="just" rtl="0" fontAlgn="base">
                        <a:lnSpc>
                          <a:spcPts val="1463"/>
                        </a:lnSpc>
                        <a:buNone/>
                      </a:pPr>
                      <a:r>
                        <a:rPr lang="en-ZA" sz="1600" b="1" i="0" dirty="0">
                          <a:effectLst/>
                          <a:latin typeface="Arial" panose="020B0604020202020204" pitchFamily="34" charset="0"/>
                          <a:cs typeface="Arial" panose="020B0604020202020204" pitchFamily="34" charset="0"/>
                        </a:rPr>
                        <a:t>SAEPU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no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1 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1 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a:solidFill>
                            <a:schemeClr val="bg1"/>
                          </a:solidFill>
                          <a:effectLst/>
                          <a:latin typeface="Arial" panose="020B0604020202020204" pitchFamily="34" charset="0"/>
                          <a:cs typeface="Arial" panose="020B0604020202020204" pitchFamily="34" charset="0"/>
                        </a:rPr>
                        <a:t>0 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0" i="0" dirty="0">
                          <a:solidFill>
                            <a:schemeClr val="bg1"/>
                          </a:solidFill>
                          <a:effectLst/>
                          <a:latin typeface="Arial" panose="020B0604020202020204" pitchFamily="34" charset="0"/>
                          <a:cs typeface="Arial" panose="020B0604020202020204" pitchFamily="34" charset="0"/>
                        </a:rPr>
                        <a:t>100%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extLst>
                  <a:ext uri="{0D108BD9-81ED-4DB2-BD59-A6C34878D82A}">
                    <a16:rowId xmlns:a16="http://schemas.microsoft.com/office/drawing/2014/main" val="3325362765"/>
                  </a:ext>
                </a:extLst>
              </a:tr>
              <a:tr h="294738">
                <a:tc>
                  <a:txBody>
                    <a:bodyPr/>
                    <a:lstStyle/>
                    <a:p>
                      <a:pPr algn="just" rtl="0" fontAlgn="base">
                        <a:lnSpc>
                          <a:spcPts val="1463"/>
                        </a:lnSpc>
                        <a:buNone/>
                      </a:pPr>
                      <a:r>
                        <a:rPr lang="en-ZA" sz="1600" b="1" i="0">
                          <a:effectLst/>
                          <a:latin typeface="Arial" panose="020B0604020202020204" pitchFamily="34" charset="0"/>
                          <a:cs typeface="Arial" panose="020B0604020202020204" pitchFamily="34" charset="0"/>
                        </a:rPr>
                        <a:t>TOTAL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noFill/>
                  </a:tcPr>
                </a:tc>
                <a:tc>
                  <a:txBody>
                    <a:bodyPr/>
                    <a:lstStyle/>
                    <a:p>
                      <a:pPr algn="ctr" rtl="0" fontAlgn="base">
                        <a:lnSpc>
                          <a:spcPts val="1463"/>
                        </a:lnSpc>
                        <a:buNone/>
                      </a:pPr>
                      <a:r>
                        <a:rPr lang="en-ZA" sz="1600" b="1" i="0">
                          <a:solidFill>
                            <a:schemeClr val="bg1"/>
                          </a:solidFill>
                          <a:effectLst/>
                          <a:latin typeface="Arial" panose="020B0604020202020204" pitchFamily="34" charset="0"/>
                          <a:cs typeface="Arial" panose="020B0604020202020204" pitchFamily="34" charset="0"/>
                        </a:rPr>
                        <a:t>178</a:t>
                      </a:r>
                      <a:r>
                        <a:rPr lang="en-ZA" sz="1600" b="0" i="0">
                          <a:solidFill>
                            <a:schemeClr val="bg1"/>
                          </a:solidFill>
                          <a:effectLst/>
                          <a:latin typeface="Arial" panose="020B0604020202020204" pitchFamily="34" charset="0"/>
                          <a:cs typeface="Arial" panose="020B0604020202020204" pitchFamily="34" charset="0"/>
                        </a:rPr>
                        <a:t>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1" i="0" dirty="0">
                          <a:solidFill>
                            <a:schemeClr val="bg1"/>
                          </a:solidFill>
                          <a:effectLst/>
                          <a:latin typeface="Arial" panose="020B0604020202020204" pitchFamily="34" charset="0"/>
                          <a:cs typeface="Arial" panose="020B0604020202020204" pitchFamily="34" charset="0"/>
                        </a:rPr>
                        <a:t>148</a:t>
                      </a:r>
                      <a:r>
                        <a:rPr lang="en-ZA" sz="1600" b="0" i="0" dirty="0">
                          <a:solidFill>
                            <a:schemeClr val="bg1"/>
                          </a:solidFill>
                          <a:effectLst/>
                          <a:latin typeface="Arial" panose="020B0604020202020204" pitchFamily="34" charset="0"/>
                          <a:cs typeface="Arial" panose="020B0604020202020204" pitchFamily="34" charset="0"/>
                        </a:rPr>
                        <a:t>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1" i="0" dirty="0">
                          <a:solidFill>
                            <a:schemeClr val="bg1"/>
                          </a:solidFill>
                          <a:effectLst/>
                          <a:latin typeface="Arial" panose="020B0604020202020204" pitchFamily="34" charset="0"/>
                          <a:cs typeface="Arial" panose="020B0604020202020204" pitchFamily="34" charset="0"/>
                        </a:rPr>
                        <a:t>30</a:t>
                      </a:r>
                      <a:r>
                        <a:rPr lang="en-ZA" sz="1600" b="0" i="0" dirty="0">
                          <a:solidFill>
                            <a:schemeClr val="bg1"/>
                          </a:solidFill>
                          <a:effectLst/>
                          <a:latin typeface="Arial" panose="020B0604020202020204" pitchFamily="34" charset="0"/>
                          <a:cs typeface="Arial" panose="020B0604020202020204" pitchFamily="34" charset="0"/>
                        </a:rPr>
                        <a:t>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1" i="0">
                          <a:solidFill>
                            <a:schemeClr val="bg1"/>
                          </a:solidFill>
                          <a:effectLst/>
                          <a:latin typeface="Arial" panose="020B0604020202020204" pitchFamily="34" charset="0"/>
                          <a:cs typeface="Arial" panose="020B0604020202020204" pitchFamily="34" charset="0"/>
                        </a:rPr>
                        <a:t>83%</a:t>
                      </a:r>
                      <a:r>
                        <a:rPr lang="en-ZA" sz="1600" b="0" i="0">
                          <a:solidFill>
                            <a:schemeClr val="bg1"/>
                          </a:solidFill>
                          <a:effectLst/>
                          <a:latin typeface="Arial" panose="020B0604020202020204" pitchFamily="34" charset="0"/>
                          <a:cs typeface="Arial" panose="020B0604020202020204" pitchFamily="34" charset="0"/>
                        </a:rPr>
                        <a:t>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1" i="0" dirty="0">
                          <a:solidFill>
                            <a:schemeClr val="bg1"/>
                          </a:solidFill>
                          <a:effectLst/>
                          <a:latin typeface="Arial" panose="020B0604020202020204" pitchFamily="34" charset="0"/>
                          <a:cs typeface="Arial" panose="020B0604020202020204" pitchFamily="34" charset="0"/>
                        </a:rPr>
                        <a:t>160</a:t>
                      </a:r>
                      <a:r>
                        <a:rPr lang="en-ZA" sz="1600" b="0" i="0" dirty="0">
                          <a:solidFill>
                            <a:schemeClr val="bg1"/>
                          </a:solidFill>
                          <a:effectLst/>
                          <a:latin typeface="Arial" panose="020B0604020202020204" pitchFamily="34" charset="0"/>
                          <a:cs typeface="Arial" panose="020B0604020202020204" pitchFamily="34" charset="0"/>
                        </a:rPr>
                        <a:t>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1" i="0" dirty="0">
                          <a:solidFill>
                            <a:schemeClr val="bg1"/>
                          </a:solidFill>
                          <a:effectLst/>
                          <a:latin typeface="Arial" panose="020B0604020202020204" pitchFamily="34" charset="0"/>
                          <a:cs typeface="Arial" panose="020B0604020202020204" pitchFamily="34" charset="0"/>
                        </a:rPr>
                        <a:t>143</a:t>
                      </a:r>
                      <a:r>
                        <a:rPr lang="en-ZA" sz="1600" b="0" i="0" dirty="0">
                          <a:solidFill>
                            <a:schemeClr val="bg1"/>
                          </a:solidFill>
                          <a:effectLst/>
                          <a:latin typeface="Arial" panose="020B0604020202020204" pitchFamily="34" charset="0"/>
                          <a:cs typeface="Arial" panose="020B0604020202020204" pitchFamily="34" charset="0"/>
                        </a:rPr>
                        <a:t>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1" i="0">
                          <a:solidFill>
                            <a:schemeClr val="bg1"/>
                          </a:solidFill>
                          <a:effectLst/>
                          <a:latin typeface="Arial" panose="020B0604020202020204" pitchFamily="34" charset="0"/>
                          <a:cs typeface="Arial" panose="020B0604020202020204" pitchFamily="34" charset="0"/>
                        </a:rPr>
                        <a:t>17</a:t>
                      </a:r>
                      <a:r>
                        <a:rPr lang="en-ZA" sz="1600" b="0" i="0">
                          <a:solidFill>
                            <a:schemeClr val="bg1"/>
                          </a:solidFill>
                          <a:effectLst/>
                          <a:latin typeface="Arial" panose="020B0604020202020204" pitchFamily="34" charset="0"/>
                          <a:cs typeface="Arial" panose="020B0604020202020204" pitchFamily="34" charset="0"/>
                        </a:rPr>
                        <a:t>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tc>
                  <a:txBody>
                    <a:bodyPr/>
                    <a:lstStyle/>
                    <a:p>
                      <a:pPr algn="ctr" rtl="0" fontAlgn="base">
                        <a:lnSpc>
                          <a:spcPts val="1463"/>
                        </a:lnSpc>
                        <a:buNone/>
                      </a:pPr>
                      <a:r>
                        <a:rPr lang="en-ZA" sz="1600" b="1" i="0" dirty="0">
                          <a:solidFill>
                            <a:schemeClr val="bg1"/>
                          </a:solidFill>
                          <a:effectLst/>
                          <a:latin typeface="Arial" panose="020B0604020202020204" pitchFamily="34" charset="0"/>
                          <a:cs typeface="Arial" panose="020B0604020202020204" pitchFamily="34" charset="0"/>
                        </a:rPr>
                        <a:t>89%</a:t>
                      </a:r>
                      <a:r>
                        <a:rPr lang="en-ZA" sz="1600" b="0" i="0" dirty="0">
                          <a:solidFill>
                            <a:schemeClr val="bg1"/>
                          </a:solidFill>
                          <a:effectLst/>
                          <a:latin typeface="Arial" panose="020B0604020202020204" pitchFamily="34" charset="0"/>
                          <a:cs typeface="Arial" panose="020B0604020202020204" pitchFamily="34" charset="0"/>
                        </a:rPr>
                        <a:t> </a:t>
                      </a:r>
                    </a:p>
                  </a:txBody>
                  <a:tcPr marL="56654" marR="56654" marT="28327" marB="28327">
                    <a:lnL w="6350" cap="flat" cmpd="sng" algn="ctr">
                      <a:solidFill>
                        <a:srgbClr val="B8CCE4"/>
                      </a:solidFill>
                      <a:prstDash val="solid"/>
                      <a:round/>
                      <a:headEnd type="none" w="med" len="med"/>
                      <a:tailEnd type="none" w="med" len="med"/>
                    </a:lnL>
                    <a:lnR w="6350" cap="flat" cmpd="sng" algn="ctr">
                      <a:solidFill>
                        <a:srgbClr val="B8CCE4"/>
                      </a:solidFill>
                      <a:prstDash val="solid"/>
                      <a:round/>
                      <a:headEnd type="none" w="med" len="med"/>
                      <a:tailEnd type="none" w="med" len="med"/>
                    </a:lnR>
                    <a:lnT w="6350" cap="flat" cmpd="sng" algn="ctr">
                      <a:solidFill>
                        <a:srgbClr val="B8CCE4"/>
                      </a:solidFill>
                      <a:prstDash val="solid"/>
                      <a:round/>
                      <a:headEnd type="none" w="med" len="med"/>
                      <a:tailEnd type="none" w="med" len="med"/>
                    </a:lnT>
                    <a:lnB w="6350" cap="flat" cmpd="sng" algn="ctr">
                      <a:solidFill>
                        <a:srgbClr val="B8CCE4"/>
                      </a:solidFill>
                      <a:prstDash val="solid"/>
                      <a:round/>
                      <a:headEnd type="none" w="med" len="med"/>
                      <a:tailEnd type="none" w="med" len="med"/>
                    </a:lnB>
                    <a:solidFill>
                      <a:schemeClr val="accent5">
                        <a:lumMod val="50000"/>
                      </a:schemeClr>
                    </a:solidFill>
                  </a:tcPr>
                </a:tc>
                <a:extLst>
                  <a:ext uri="{0D108BD9-81ED-4DB2-BD59-A6C34878D82A}">
                    <a16:rowId xmlns:a16="http://schemas.microsoft.com/office/drawing/2014/main" val="2167849594"/>
                  </a:ext>
                </a:extLst>
              </a:tr>
            </a:tbl>
          </a:graphicData>
        </a:graphic>
      </p:graphicFrame>
    </p:spTree>
    <p:extLst>
      <p:ext uri="{BB962C8B-B14F-4D97-AF65-F5344CB8AC3E}">
        <p14:creationId xmlns:p14="http://schemas.microsoft.com/office/powerpoint/2010/main" val="15577200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14714"/>
            <a:ext cx="12192000" cy="1341120"/>
          </a:xfrm>
          <a:prstGeom prst="rect">
            <a:avLst/>
          </a:prstGeom>
          <a:solidFill>
            <a:srgbClr val="1A3A5C"/>
          </a:solidFill>
          <a:ln w="12700">
            <a:solidFill>
              <a:srgbClr val="1A3A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Conciliation and Arbitration Statistics</a:t>
            </a:r>
            <a:endParaRPr kumimoji="0" lang="en-US" sz="2667"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5" name="Shape 3"/>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9" name="Shape 7"/>
          <p:cNvSpPr/>
          <p:nvPr/>
        </p:nvSpPr>
        <p:spPr>
          <a:xfrm>
            <a:off x="365760" y="1919478"/>
            <a:ext cx="5669280" cy="3230880"/>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13" name="Shape 11"/>
          <p:cNvSpPr/>
          <p:nvPr/>
        </p:nvSpPr>
        <p:spPr>
          <a:xfrm>
            <a:off x="6278880" y="1932432"/>
            <a:ext cx="5486400" cy="2381420"/>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14" name="Shape 12"/>
          <p:cNvSpPr/>
          <p:nvPr/>
        </p:nvSpPr>
        <p:spPr>
          <a:xfrm>
            <a:off x="6278880" y="1932432"/>
            <a:ext cx="5486400" cy="512064"/>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5" name="Text 13"/>
          <p:cNvSpPr/>
          <p:nvPr/>
        </p:nvSpPr>
        <p:spPr>
          <a:xfrm>
            <a:off x="6278880" y="1919478"/>
            <a:ext cx="5486400" cy="512064"/>
          </a:xfrm>
          <a:prstGeom prst="rect">
            <a:avLst/>
          </a:prstGeom>
          <a:noFill/>
          <a:ln/>
        </p:spPr>
        <p:txBody>
          <a:bodyPr wrap="square" lIns="0" tIns="0" rIns="0" bIns="0" rtlCol="0" anchor="ctr"/>
          <a:lstStyle/>
          <a:p>
            <a:pPr algn="ctr"/>
            <a:r>
              <a:rPr lang="en-GB" sz="1600" b="1" dirty="0">
                <a:solidFill>
                  <a:schemeClr val="bg1"/>
                </a:solidFill>
                <a:latin typeface="Arial" panose="020B0604020202020204" pitchFamily="34" charset="0"/>
                <a:cs typeface="Arial" panose="020B0604020202020204" pitchFamily="34" charset="0"/>
              </a:rPr>
              <a:t>Comparison of the number of arbitrations conducted</a:t>
            </a:r>
            <a:endParaRPr lang="en-US" sz="1600" b="1" dirty="0">
              <a:solidFill>
                <a:schemeClr val="bg1"/>
              </a:solidFill>
              <a:latin typeface="Arial" panose="020B0604020202020204" pitchFamily="34" charset="0"/>
              <a:cs typeface="Arial" panose="020B0604020202020204" pitchFamily="34" charset="0"/>
            </a:endParaRPr>
          </a:p>
        </p:txBody>
      </p:sp>
      <p:sp>
        <p:nvSpPr>
          <p:cNvPr id="20" name="Shape 12">
            <a:extLst>
              <a:ext uri="{FF2B5EF4-FFF2-40B4-BE49-F238E27FC236}">
                <a16:creationId xmlns:a16="http://schemas.microsoft.com/office/drawing/2014/main" id="{7625DD24-D261-2EE6-C625-0FF0865D7B66}"/>
              </a:ext>
            </a:extLst>
          </p:cNvPr>
          <p:cNvSpPr/>
          <p:nvPr/>
        </p:nvSpPr>
        <p:spPr>
          <a:xfrm>
            <a:off x="386080" y="1918820"/>
            <a:ext cx="5648960" cy="512064"/>
          </a:xfrm>
          <a:prstGeom prst="rect">
            <a:avLst/>
          </a:prstGeom>
          <a:solidFill>
            <a:srgbClr val="1A3A5C"/>
          </a:solidFill>
          <a:ln w="12700">
            <a:solidFill>
              <a:srgbClr val="1A3A5C"/>
            </a:solidFill>
            <a:prstDash val="solid"/>
          </a:ln>
        </p:spPr>
        <p:txBody>
          <a:bodyPr/>
          <a:lstStyle/>
          <a:p>
            <a:pPr algn="ctr"/>
            <a:r>
              <a:rPr lang="en-GB" sz="1600" b="1" dirty="0">
                <a:solidFill>
                  <a:schemeClr val="bg1"/>
                </a:solidFill>
                <a:latin typeface="Arial" panose="020B0604020202020204" pitchFamily="34" charset="0"/>
                <a:cs typeface="Arial" panose="020B0604020202020204" pitchFamily="34" charset="0"/>
              </a:rPr>
              <a:t>Outcomes of the conciliations conducted</a:t>
            </a:r>
            <a:endParaRPr lang="en-US" sz="1600" dirty="0">
              <a:solidFill>
                <a:schemeClr val="bg1"/>
              </a:solidFill>
              <a:latin typeface="Arial" panose="020B0604020202020204" pitchFamily="34" charset="0"/>
              <a:cs typeface="Arial" panose="020B0604020202020204" pitchFamily="34" charset="0"/>
            </a:endParaRPr>
          </a:p>
        </p:txBody>
      </p:sp>
      <p:pic>
        <p:nvPicPr>
          <p:cNvPr id="10" name="Picture 9" descr="Chart 1, Chart element">
            <a:extLst>
              <a:ext uri="{FF2B5EF4-FFF2-40B4-BE49-F238E27FC236}">
                <a16:creationId xmlns:a16="http://schemas.microsoft.com/office/drawing/2014/main" id="{F55299A3-7A97-F1CE-10F1-346BC2292B6E}"/>
              </a:ext>
            </a:extLst>
          </p:cNvPr>
          <p:cNvPicPr>
            <a:picLocks noChangeAspect="1"/>
          </p:cNvPicPr>
          <p:nvPr/>
        </p:nvPicPr>
        <p:blipFill>
          <a:blip r:embed="rId3"/>
          <a:stretch>
            <a:fillRect/>
          </a:stretch>
        </p:blipFill>
        <p:spPr>
          <a:xfrm>
            <a:off x="365760" y="2354683"/>
            <a:ext cx="5669280" cy="2891131"/>
          </a:xfrm>
          <a:prstGeom prst="rect">
            <a:avLst/>
          </a:prstGeom>
        </p:spPr>
      </p:pic>
      <p:pic>
        <p:nvPicPr>
          <p:cNvPr id="11" name="Picture 10" descr="Chart 1, Chart element">
            <a:extLst>
              <a:ext uri="{FF2B5EF4-FFF2-40B4-BE49-F238E27FC236}">
                <a16:creationId xmlns:a16="http://schemas.microsoft.com/office/drawing/2014/main" id="{2574965D-02CD-93C4-4B0B-E7694E242139}"/>
              </a:ext>
            </a:extLst>
          </p:cNvPr>
          <p:cNvPicPr>
            <a:picLocks noChangeAspect="1"/>
          </p:cNvPicPr>
          <p:nvPr/>
        </p:nvPicPr>
        <p:blipFill>
          <a:blip r:embed="rId4"/>
          <a:stretch>
            <a:fillRect/>
          </a:stretch>
        </p:blipFill>
        <p:spPr>
          <a:xfrm>
            <a:off x="6278880" y="2544148"/>
            <a:ext cx="5486400" cy="176970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6BD22-EB70-780D-F4D7-32DD06148FB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D2D350B-F83F-D949-0E00-1D520EAB591A}"/>
              </a:ext>
            </a:extLst>
          </p:cNvPr>
          <p:cNvSpPr/>
          <p:nvPr/>
        </p:nvSpPr>
        <p:spPr>
          <a:xfrm>
            <a:off x="0" y="0"/>
            <a:ext cx="12192000" cy="1341120"/>
          </a:xfrm>
          <a:prstGeom prst="rect">
            <a:avLst/>
          </a:prstGeom>
          <a:solidFill>
            <a:srgbClr val="1A3A5C"/>
          </a:solidFill>
          <a:ln w="12700">
            <a:solidFill>
              <a:srgbClr val="1A3A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Conciliation and Arbitration Statistics</a:t>
            </a:r>
            <a:endParaRPr kumimoji="0" lang="en-US" sz="2667"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5" name="Shape 3">
            <a:extLst>
              <a:ext uri="{FF2B5EF4-FFF2-40B4-BE49-F238E27FC236}">
                <a16:creationId xmlns:a16="http://schemas.microsoft.com/office/drawing/2014/main" id="{C58BA825-C0DB-F4DF-D302-6B1F8AF0CD5C}"/>
              </a:ext>
            </a:extLst>
          </p:cNvPr>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4" name="Shape 12">
            <a:extLst>
              <a:ext uri="{FF2B5EF4-FFF2-40B4-BE49-F238E27FC236}">
                <a16:creationId xmlns:a16="http://schemas.microsoft.com/office/drawing/2014/main" id="{901CC57A-A019-83FA-1920-013A933D0C0D}"/>
              </a:ext>
            </a:extLst>
          </p:cNvPr>
          <p:cNvSpPr/>
          <p:nvPr/>
        </p:nvSpPr>
        <p:spPr>
          <a:xfrm>
            <a:off x="6278880" y="1932432"/>
            <a:ext cx="5486400" cy="512064"/>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5" name="Text 13">
            <a:extLst>
              <a:ext uri="{FF2B5EF4-FFF2-40B4-BE49-F238E27FC236}">
                <a16:creationId xmlns:a16="http://schemas.microsoft.com/office/drawing/2014/main" id="{0EB318AA-0F10-CA19-7E7D-8C6DDB2FA34C}"/>
              </a:ext>
            </a:extLst>
          </p:cNvPr>
          <p:cNvSpPr/>
          <p:nvPr/>
        </p:nvSpPr>
        <p:spPr>
          <a:xfrm>
            <a:off x="6278880" y="1919478"/>
            <a:ext cx="5486400" cy="512064"/>
          </a:xfrm>
          <a:prstGeom prst="rect">
            <a:avLst/>
          </a:prstGeom>
          <a:noFill/>
          <a:ln/>
        </p:spPr>
        <p:txBody>
          <a:bodyPr wrap="square" lIns="0" tIns="0" rIns="0" bIns="0" rtlCol="0" anchor="ctr"/>
          <a:lstStyle/>
          <a:p>
            <a:pPr algn="ctr"/>
            <a:r>
              <a:rPr lang="en-GB" sz="1600" b="1" dirty="0">
                <a:solidFill>
                  <a:schemeClr val="bg1"/>
                </a:solidFill>
                <a:latin typeface="Arial" panose="020B0604020202020204" pitchFamily="34" charset="0"/>
                <a:cs typeface="Arial" panose="020B0604020202020204" pitchFamily="34" charset="0"/>
              </a:rPr>
              <a:t>Comparison of the number of arbitrations conducted</a:t>
            </a:r>
            <a:endParaRPr lang="en-US" sz="1600" b="1" dirty="0">
              <a:solidFill>
                <a:schemeClr val="bg1"/>
              </a:solidFill>
              <a:latin typeface="Arial" panose="020B0604020202020204" pitchFamily="34" charset="0"/>
              <a:cs typeface="Arial" panose="020B0604020202020204" pitchFamily="34" charset="0"/>
            </a:endParaRPr>
          </a:p>
        </p:txBody>
      </p:sp>
      <p:sp>
        <p:nvSpPr>
          <p:cNvPr id="20" name="Shape 12">
            <a:extLst>
              <a:ext uri="{FF2B5EF4-FFF2-40B4-BE49-F238E27FC236}">
                <a16:creationId xmlns:a16="http://schemas.microsoft.com/office/drawing/2014/main" id="{AF13CE3F-C3B3-751D-E963-FB251747BFB9}"/>
              </a:ext>
            </a:extLst>
          </p:cNvPr>
          <p:cNvSpPr/>
          <p:nvPr/>
        </p:nvSpPr>
        <p:spPr>
          <a:xfrm>
            <a:off x="386080" y="1918820"/>
            <a:ext cx="5648960" cy="512064"/>
          </a:xfrm>
          <a:prstGeom prst="rect">
            <a:avLst/>
          </a:prstGeom>
          <a:solidFill>
            <a:srgbClr val="1A3A5C"/>
          </a:solidFill>
          <a:ln w="12700">
            <a:solidFill>
              <a:srgbClr val="1A3A5C"/>
            </a:solidFill>
            <a:prstDash val="solid"/>
          </a:ln>
        </p:spPr>
        <p:txBody>
          <a:bodyPr/>
          <a:lstStyle/>
          <a:p>
            <a:pPr algn="ctr"/>
            <a:r>
              <a:rPr lang="en-GB" sz="1600" b="1" dirty="0">
                <a:solidFill>
                  <a:schemeClr val="bg1"/>
                </a:solidFill>
                <a:latin typeface="Arial" panose="020B0604020202020204" pitchFamily="34" charset="0"/>
                <a:cs typeface="Arial" panose="020B0604020202020204" pitchFamily="34" charset="0"/>
              </a:rPr>
              <a:t>Outcomes of the conciliations conducted</a:t>
            </a:r>
            <a:endParaRPr lang="en-US" sz="1600" dirty="0">
              <a:solidFill>
                <a:schemeClr val="bg1"/>
              </a:solidFill>
              <a:latin typeface="Arial" panose="020B0604020202020204" pitchFamily="34" charset="0"/>
              <a:cs typeface="Arial" panose="020B0604020202020204" pitchFamily="34" charset="0"/>
            </a:endParaRPr>
          </a:p>
        </p:txBody>
      </p:sp>
      <p:pic>
        <p:nvPicPr>
          <p:cNvPr id="3" name="Picture 2" descr="Chart 1, Chart element">
            <a:extLst>
              <a:ext uri="{FF2B5EF4-FFF2-40B4-BE49-F238E27FC236}">
                <a16:creationId xmlns:a16="http://schemas.microsoft.com/office/drawing/2014/main" id="{40D29E09-28C0-8ACB-5038-1D066FDD555E}"/>
              </a:ext>
            </a:extLst>
          </p:cNvPr>
          <p:cNvPicPr>
            <a:picLocks noChangeAspect="1"/>
          </p:cNvPicPr>
          <p:nvPr/>
        </p:nvPicPr>
        <p:blipFill>
          <a:blip r:embed="rId3"/>
          <a:stretch>
            <a:fillRect/>
          </a:stretch>
        </p:blipFill>
        <p:spPr>
          <a:xfrm>
            <a:off x="426720" y="2558742"/>
            <a:ext cx="5608320" cy="1657540"/>
          </a:xfrm>
          <a:prstGeom prst="rect">
            <a:avLst/>
          </a:prstGeom>
        </p:spPr>
      </p:pic>
      <p:pic>
        <p:nvPicPr>
          <p:cNvPr id="4" name="Picture 3" descr="Chart 1, Chart element">
            <a:extLst>
              <a:ext uri="{FF2B5EF4-FFF2-40B4-BE49-F238E27FC236}">
                <a16:creationId xmlns:a16="http://schemas.microsoft.com/office/drawing/2014/main" id="{E265540A-00C4-8EAD-23AD-1231583FD521}"/>
              </a:ext>
            </a:extLst>
          </p:cNvPr>
          <p:cNvPicPr>
            <a:picLocks noChangeAspect="1"/>
          </p:cNvPicPr>
          <p:nvPr/>
        </p:nvPicPr>
        <p:blipFill>
          <a:blip r:embed="rId4"/>
          <a:stretch>
            <a:fillRect/>
          </a:stretch>
        </p:blipFill>
        <p:spPr>
          <a:xfrm>
            <a:off x="6278880" y="2558742"/>
            <a:ext cx="5486400" cy="1740515"/>
          </a:xfrm>
          <a:prstGeom prst="rect">
            <a:avLst/>
          </a:prstGeom>
        </p:spPr>
      </p:pic>
    </p:spTree>
    <p:extLst>
      <p:ext uri="{BB962C8B-B14F-4D97-AF65-F5344CB8AC3E}">
        <p14:creationId xmlns:p14="http://schemas.microsoft.com/office/powerpoint/2010/main" val="23624493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51B40-3B93-4307-6255-19EC9C504FD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6F508FE-566C-E3CE-9D36-9F376CA068B0}"/>
              </a:ext>
            </a:extLst>
          </p:cNvPr>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F83D50CF-4ECE-5A21-B3E7-200ADB805771}"/>
              </a:ext>
            </a:extLst>
          </p:cNvPr>
          <p:cNvSpPr/>
          <p:nvPr/>
        </p:nvSpPr>
        <p:spPr>
          <a:xfrm>
            <a:off x="487680" y="121920"/>
            <a:ext cx="11216640" cy="670560"/>
          </a:xfrm>
          <a:prstGeom prst="rect">
            <a:avLst/>
          </a:prstGeom>
          <a:noFill/>
          <a:ln/>
        </p:spPr>
        <p:txBody>
          <a:bodyPr wrap="square" lIns="0" tIns="0" rIns="0" bIns="0" rtlCol="0" anchor="ctr"/>
          <a:lstStyle/>
          <a:p>
            <a:r>
              <a:rPr lang="en-ZA" sz="2800" b="1" dirty="0">
                <a:solidFill>
                  <a:schemeClr val="bg1"/>
                </a:solidFill>
                <a:latin typeface="Arial" panose="020B0604020202020204" pitchFamily="34" charset="0"/>
                <a:cs typeface="Arial" panose="020B0604020202020204" pitchFamily="34" charset="0"/>
              </a:rPr>
              <a:t>STRATEGIC MONITORING &amp; EVALUATION </a:t>
            </a:r>
          </a:p>
        </p:txBody>
      </p:sp>
      <p:sp>
        <p:nvSpPr>
          <p:cNvPr id="4" name="Text 2">
            <a:extLst>
              <a:ext uri="{FF2B5EF4-FFF2-40B4-BE49-F238E27FC236}">
                <a16:creationId xmlns:a16="http://schemas.microsoft.com/office/drawing/2014/main" id="{2FAA9A1E-38E8-1966-FC92-519B10F0D148}"/>
              </a:ext>
            </a:extLst>
          </p:cNvPr>
          <p:cNvSpPr/>
          <p:nvPr/>
        </p:nvSpPr>
        <p:spPr>
          <a:xfrm>
            <a:off x="487680" y="755904"/>
            <a:ext cx="11216640" cy="487680"/>
          </a:xfrm>
          <a:prstGeom prst="rect">
            <a:avLst/>
          </a:prstGeom>
          <a:noFill/>
          <a:ln/>
        </p:spPr>
        <p:txBody>
          <a:bodyPr wrap="square" lIns="0" tIns="0" rIns="0" bIns="0" rtlCol="0" anchor="ctr"/>
          <a:lstStyle/>
          <a:p>
            <a:endParaRPr lang="en-US" sz="1600" dirty="0">
              <a:solidFill>
                <a:schemeClr val="bg1"/>
              </a:solidFill>
              <a:latin typeface="Arial" panose="020B0604020202020204" pitchFamily="34" charset="0"/>
              <a:cs typeface="Arial" panose="020B0604020202020204" pitchFamily="34" charset="0"/>
            </a:endParaRPr>
          </a:p>
        </p:txBody>
      </p:sp>
      <p:sp>
        <p:nvSpPr>
          <p:cNvPr id="5" name="Shape 3">
            <a:extLst>
              <a:ext uri="{FF2B5EF4-FFF2-40B4-BE49-F238E27FC236}">
                <a16:creationId xmlns:a16="http://schemas.microsoft.com/office/drawing/2014/main" id="{3804EBB9-D168-BB6B-6F27-227935FA5D64}"/>
              </a:ext>
            </a:extLst>
          </p:cNvPr>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2" name="Shape 10">
            <a:extLst>
              <a:ext uri="{FF2B5EF4-FFF2-40B4-BE49-F238E27FC236}">
                <a16:creationId xmlns:a16="http://schemas.microsoft.com/office/drawing/2014/main" id="{22E860FD-AC76-BC72-9B80-AC5F5A3ECEA4}"/>
              </a:ext>
            </a:extLst>
          </p:cNvPr>
          <p:cNvSpPr/>
          <p:nvPr/>
        </p:nvSpPr>
        <p:spPr>
          <a:xfrm>
            <a:off x="365760" y="2560320"/>
            <a:ext cx="11460480" cy="3596640"/>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13" name="Shape 11">
            <a:extLst>
              <a:ext uri="{FF2B5EF4-FFF2-40B4-BE49-F238E27FC236}">
                <a16:creationId xmlns:a16="http://schemas.microsoft.com/office/drawing/2014/main" id="{44A6DFFA-6CCF-D0C6-C167-1FAF42A31A81}"/>
              </a:ext>
            </a:extLst>
          </p:cNvPr>
          <p:cNvSpPr/>
          <p:nvPr/>
        </p:nvSpPr>
        <p:spPr>
          <a:xfrm>
            <a:off x="365760" y="2560320"/>
            <a:ext cx="11460480" cy="512064"/>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4" name="Text 12">
            <a:extLst>
              <a:ext uri="{FF2B5EF4-FFF2-40B4-BE49-F238E27FC236}">
                <a16:creationId xmlns:a16="http://schemas.microsoft.com/office/drawing/2014/main" id="{05BA7F5B-8FFB-A712-6997-B0CF96FFEBCD}"/>
              </a:ext>
            </a:extLst>
          </p:cNvPr>
          <p:cNvSpPr/>
          <p:nvPr/>
        </p:nvSpPr>
        <p:spPr>
          <a:xfrm>
            <a:off x="4328160" y="2560320"/>
            <a:ext cx="3413760" cy="512064"/>
          </a:xfrm>
          <a:prstGeom prst="rect">
            <a:avLst/>
          </a:prstGeom>
          <a:noFill/>
          <a:ln/>
        </p:spPr>
        <p:txBody>
          <a:bodyPr wrap="square" lIns="0" tIns="0" rIns="0" bIns="0" rtlCol="0" anchor="ctr"/>
          <a:lstStyle/>
          <a:p>
            <a:pPr algn="ctr"/>
            <a:r>
              <a:rPr lang="en-US" sz="1600" b="1" dirty="0">
                <a:solidFill>
                  <a:srgbClr val="FFFFFF"/>
                </a:solidFill>
                <a:latin typeface="Arial" panose="020B0604020202020204" pitchFamily="34" charset="0"/>
                <a:ea typeface="Calibri" pitchFamily="34" charset="-122"/>
                <a:cs typeface="Arial" panose="020B0604020202020204" pitchFamily="34" charset="0"/>
              </a:rPr>
              <a:t>MANDATE</a:t>
            </a:r>
            <a:endParaRPr lang="en-US" sz="1600" dirty="0">
              <a:latin typeface="Arial" panose="020B0604020202020204" pitchFamily="34" charset="0"/>
              <a:cs typeface="Arial" panose="020B0604020202020204" pitchFamily="34" charset="0"/>
            </a:endParaRPr>
          </a:p>
        </p:txBody>
      </p:sp>
      <p:sp>
        <p:nvSpPr>
          <p:cNvPr id="15" name="Text 13">
            <a:extLst>
              <a:ext uri="{FF2B5EF4-FFF2-40B4-BE49-F238E27FC236}">
                <a16:creationId xmlns:a16="http://schemas.microsoft.com/office/drawing/2014/main" id="{A0E94E2B-D12F-E818-247F-976C71E88EBC}"/>
              </a:ext>
            </a:extLst>
          </p:cNvPr>
          <p:cNvSpPr/>
          <p:nvPr/>
        </p:nvSpPr>
        <p:spPr>
          <a:xfrm>
            <a:off x="365760" y="3169920"/>
            <a:ext cx="11460480" cy="2865120"/>
          </a:xfrm>
          <a:prstGeom prst="rect">
            <a:avLst/>
          </a:prstGeom>
          <a:noFill/>
          <a:ln/>
        </p:spPr>
        <p:txBody>
          <a:bodyPr wrap="square" rtlCol="0" anchor="ctr"/>
          <a:lstStyle/>
          <a:p>
            <a:pPr algn="ctr"/>
            <a:r>
              <a:rPr lang="en-ZA" sz="1600" dirty="0"/>
              <a:t> </a:t>
            </a:r>
            <a:r>
              <a:rPr lang="en-ZA" sz="1600" dirty="0">
                <a:latin typeface="Arial" panose="020B0604020202020204" pitchFamily="34" charset="0"/>
                <a:cs typeface="Arial" panose="020B0604020202020204" pitchFamily="34" charset="0"/>
              </a:rPr>
              <a:t>To provide</a:t>
            </a:r>
            <a:r>
              <a:rPr lang="en-ZA" sz="1600" dirty="0"/>
              <a:t>  </a:t>
            </a:r>
            <a:r>
              <a:rPr lang="en-GB" sz="1600" dirty="0">
                <a:latin typeface="Arial" panose="020B0604020202020204" pitchFamily="34" charset="0"/>
                <a:ea typeface="Calibri" panose="020F0502020204030204" pitchFamily="34" charset="0"/>
              </a:rPr>
              <a:t>a technical support function through the monitoring &amp; tracking of all activities across different structures of Council (Council, EXCO, Chambers, Committees, Units). This includes the development of     implementation plans, tracking of associated timelines &amp; reporting thereof. The Unit also guides research &amp; strategic initiatives of the organisation </a:t>
            </a:r>
            <a:endParaRPr lang="en-ZA" sz="1600" i="1" dirty="0"/>
          </a:p>
        </p:txBody>
      </p:sp>
      <p:pic>
        <p:nvPicPr>
          <p:cNvPr id="20" name="Graphic 19" descr="Badge Tick with solid fill">
            <a:extLst>
              <a:ext uri="{FF2B5EF4-FFF2-40B4-BE49-F238E27FC236}">
                <a16:creationId xmlns:a16="http://schemas.microsoft.com/office/drawing/2014/main" id="{056B083E-B299-267F-CC9E-A7CEE28FB63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5760" y="2485139"/>
            <a:ext cx="654072" cy="662425"/>
          </a:xfrm>
          <a:prstGeom prst="rect">
            <a:avLst/>
          </a:prstGeom>
        </p:spPr>
      </p:pic>
      <p:sp>
        <p:nvSpPr>
          <p:cNvPr id="6" name="Oval 5">
            <a:extLst>
              <a:ext uri="{FF2B5EF4-FFF2-40B4-BE49-F238E27FC236}">
                <a16:creationId xmlns:a16="http://schemas.microsoft.com/office/drawing/2014/main" id="{98EDA661-D50E-D8A0-8B99-4F6F06A590A5}"/>
              </a:ext>
            </a:extLst>
          </p:cNvPr>
          <p:cNvSpPr/>
          <p:nvPr/>
        </p:nvSpPr>
        <p:spPr>
          <a:xfrm>
            <a:off x="11168925" y="290390"/>
            <a:ext cx="844610" cy="833493"/>
          </a:xfrm>
          <a:prstGeom prst="ellipse">
            <a:avLst/>
          </a:prstGeom>
          <a:solidFill>
            <a:srgbClr val="FFFFFF"/>
          </a:solidFill>
          <a:ln w="9525" cap="flat" cmpd="sng" algn="ctr">
            <a:no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srgbClr val="000000"/>
              </a:solidFill>
              <a:effectLst/>
              <a:uLnTx/>
              <a:uFillTx/>
              <a:latin typeface="Arial"/>
              <a:ea typeface="+mn-ea"/>
              <a:cs typeface="+mn-cs"/>
            </a:endParaRPr>
          </a:p>
        </p:txBody>
      </p:sp>
      <p:pic>
        <p:nvPicPr>
          <p:cNvPr id="7" name="Graphic 6" descr="Clipboard with solid fill">
            <a:extLst>
              <a:ext uri="{FF2B5EF4-FFF2-40B4-BE49-F238E27FC236}">
                <a16:creationId xmlns:a16="http://schemas.microsoft.com/office/drawing/2014/main" id="{62CB4808-BEA7-4123-34CB-6FE37334A99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296734" y="412641"/>
            <a:ext cx="588991" cy="588991"/>
          </a:xfrm>
          <a:prstGeom prst="rect">
            <a:avLst/>
          </a:prstGeom>
        </p:spPr>
      </p:pic>
    </p:spTree>
    <p:extLst>
      <p:ext uri="{BB962C8B-B14F-4D97-AF65-F5344CB8AC3E}">
        <p14:creationId xmlns:p14="http://schemas.microsoft.com/office/powerpoint/2010/main" val="3293966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C61EC-BBB0-10FC-3CA8-C43D3C30AB4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CF5EB1C-3A5E-B91C-2AEF-04F91BD192E2}"/>
              </a:ext>
            </a:extLst>
          </p:cNvPr>
          <p:cNvSpPr/>
          <p:nvPr/>
        </p:nvSpPr>
        <p:spPr>
          <a:xfrm>
            <a:off x="0" y="-40004"/>
            <a:ext cx="12192000" cy="1341120"/>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EEA83940-EE35-77BD-2BDF-5F20CEE573BB}"/>
              </a:ext>
            </a:extLst>
          </p:cNvPr>
          <p:cNvSpPr/>
          <p:nvPr/>
        </p:nvSpPr>
        <p:spPr>
          <a:xfrm>
            <a:off x="335280" y="521823"/>
            <a:ext cx="11216640" cy="670560"/>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4" name="Text 2">
            <a:extLst>
              <a:ext uri="{FF2B5EF4-FFF2-40B4-BE49-F238E27FC236}">
                <a16:creationId xmlns:a16="http://schemas.microsoft.com/office/drawing/2014/main" id="{B8F66BD6-4EF0-F336-0563-E532EA31EE96}"/>
              </a:ext>
            </a:extLst>
          </p:cNvPr>
          <p:cNvSpPr/>
          <p:nvPr/>
        </p:nvSpPr>
        <p:spPr>
          <a:xfrm>
            <a:off x="341376" y="142876"/>
            <a:ext cx="11216640" cy="487680"/>
          </a:xfrm>
          <a:prstGeom prst="rect">
            <a:avLst/>
          </a:prstGeom>
          <a:noFill/>
          <a:ln/>
        </p:spPr>
        <p:txBody>
          <a:bodyPr wrap="square" lIns="0" tIns="0" rIns="0" bIns="0" rtlCol="0" anchor="ctr"/>
          <a:lstStyle/>
          <a:p>
            <a:r>
              <a:rPr lang="en-GB" sz="2400" b="1" dirty="0">
                <a:solidFill>
                  <a:schemeClr val="bg1"/>
                </a:solidFill>
                <a:latin typeface="Arial" panose="020B0604020202020204" pitchFamily="34" charset="0"/>
                <a:cs typeface="Arial" panose="020B0604020202020204" pitchFamily="34" charset="0"/>
              </a:rPr>
              <a:t>RESEARCH PROJECTS</a:t>
            </a:r>
          </a:p>
        </p:txBody>
      </p:sp>
      <p:sp>
        <p:nvSpPr>
          <p:cNvPr id="5" name="Shape 3">
            <a:extLst>
              <a:ext uri="{FF2B5EF4-FFF2-40B4-BE49-F238E27FC236}">
                <a16:creationId xmlns:a16="http://schemas.microsoft.com/office/drawing/2014/main" id="{0EDBDF6A-F6D3-6E60-D436-6B25D0E39DA9}"/>
              </a:ext>
            </a:extLst>
          </p:cNvPr>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3" name="Shape 11">
            <a:extLst>
              <a:ext uri="{FF2B5EF4-FFF2-40B4-BE49-F238E27FC236}">
                <a16:creationId xmlns:a16="http://schemas.microsoft.com/office/drawing/2014/main" id="{CC52D7F8-A346-6EE6-EA49-6682361AB724}"/>
              </a:ext>
            </a:extLst>
          </p:cNvPr>
          <p:cNvSpPr/>
          <p:nvPr/>
        </p:nvSpPr>
        <p:spPr>
          <a:xfrm>
            <a:off x="335279" y="2831446"/>
            <a:ext cx="5730242" cy="3957543"/>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14" name="Shape 12">
            <a:extLst>
              <a:ext uri="{FF2B5EF4-FFF2-40B4-BE49-F238E27FC236}">
                <a16:creationId xmlns:a16="http://schemas.microsoft.com/office/drawing/2014/main" id="{D6B854F9-DD12-9C7E-A548-D8B003904B20}"/>
              </a:ext>
            </a:extLst>
          </p:cNvPr>
          <p:cNvSpPr/>
          <p:nvPr/>
        </p:nvSpPr>
        <p:spPr>
          <a:xfrm>
            <a:off x="335280" y="1472432"/>
            <a:ext cx="5730241" cy="1386460"/>
          </a:xfrm>
          <a:prstGeom prst="rect">
            <a:avLst/>
          </a:prstGeom>
          <a:solidFill>
            <a:srgbClr val="006E7F"/>
          </a:solidFill>
          <a:ln w="12700">
            <a:solidFill>
              <a:srgbClr val="006E7F"/>
            </a:solidFill>
            <a:prstDash val="solid"/>
          </a:ln>
        </p:spPr>
        <p:txBody>
          <a:bodyPr/>
          <a:lstStyle/>
          <a:p>
            <a:endParaRPr lang="en-ZA" sz="1600" dirty="0">
              <a:latin typeface="Arial" panose="020B0604020202020204" pitchFamily="34" charset="0"/>
              <a:cs typeface="Arial" panose="020B0604020202020204" pitchFamily="34" charset="0"/>
            </a:endParaRPr>
          </a:p>
        </p:txBody>
      </p:sp>
      <p:sp>
        <p:nvSpPr>
          <p:cNvPr id="16" name="Text 14">
            <a:extLst>
              <a:ext uri="{FF2B5EF4-FFF2-40B4-BE49-F238E27FC236}">
                <a16:creationId xmlns:a16="http://schemas.microsoft.com/office/drawing/2014/main" id="{E7CCE62D-C561-F395-5A82-A5AF32B0DF41}"/>
              </a:ext>
            </a:extLst>
          </p:cNvPr>
          <p:cNvSpPr/>
          <p:nvPr/>
        </p:nvSpPr>
        <p:spPr>
          <a:xfrm>
            <a:off x="2284013" y="1434551"/>
            <a:ext cx="1832773" cy="1326543"/>
          </a:xfrm>
          <a:prstGeom prst="rect">
            <a:avLst/>
          </a:prstGeom>
          <a:noFill/>
          <a:ln/>
        </p:spPr>
        <p:txBody>
          <a:bodyPr wrap="square" lIns="0" tIns="0" rIns="0" bIns="0" rtlCol="0" anchor="ctr"/>
          <a:lstStyle/>
          <a:p>
            <a:pPr algn="ctr"/>
            <a:r>
              <a:rPr lang="en-US" sz="1600" b="1" dirty="0">
                <a:solidFill>
                  <a:srgbClr val="FFFFFF"/>
                </a:solidFill>
                <a:latin typeface="Arial" panose="020B0604020202020204" pitchFamily="34" charset="0"/>
                <a:ea typeface="Calibri" pitchFamily="34" charset="-122"/>
                <a:cs typeface="Arial" panose="020B0604020202020204" pitchFamily="34" charset="0"/>
              </a:rPr>
              <a:t>TRADE UNION RESEARCH</a:t>
            </a:r>
          </a:p>
        </p:txBody>
      </p:sp>
      <p:sp>
        <p:nvSpPr>
          <p:cNvPr id="17" name="Text 15">
            <a:extLst>
              <a:ext uri="{FF2B5EF4-FFF2-40B4-BE49-F238E27FC236}">
                <a16:creationId xmlns:a16="http://schemas.microsoft.com/office/drawing/2014/main" id="{B5A4376A-34D7-CE33-1389-961FD535D3E6}"/>
              </a:ext>
            </a:extLst>
          </p:cNvPr>
          <p:cNvSpPr/>
          <p:nvPr/>
        </p:nvSpPr>
        <p:spPr>
          <a:xfrm>
            <a:off x="563945" y="3264133"/>
            <a:ext cx="5023619" cy="3072044"/>
          </a:xfrm>
          <a:prstGeom prst="rect">
            <a:avLst/>
          </a:prstGeom>
          <a:noFill/>
          <a:ln/>
        </p:spPr>
        <p:txBody>
          <a:bodyPr wrap="square" rtlCol="0" anchor="ctr"/>
          <a:lstStyle/>
          <a:p>
            <a:pPr marL="285750" indent="-285750">
              <a:lnSpc>
                <a:spcPct val="150000"/>
              </a:lnSpc>
              <a:buFont typeface="Arial" panose="020B0604020202020204" pitchFamily="34" charset="0"/>
              <a:buChar char="•"/>
            </a:pPr>
            <a:r>
              <a:rPr lang="en-GB" sz="1600" dirty="0">
                <a:solidFill>
                  <a:schemeClr val="tx1">
                    <a:lumMod val="85000"/>
                    <a:lumOff val="15000"/>
                  </a:schemeClr>
                </a:solidFill>
                <a:latin typeface="Arial" panose="020B0604020202020204" pitchFamily="34" charset="0"/>
                <a:cs typeface="Arial" panose="020B0604020202020204" pitchFamily="34" charset="0"/>
              </a:rPr>
              <a:t>Analysis of Trade Union Dual Membership Trends (Annual) </a:t>
            </a:r>
          </a:p>
          <a:p>
            <a:pPr marL="285750" indent="-285750">
              <a:lnSpc>
                <a:spcPct val="150000"/>
              </a:lnSpc>
              <a:buFont typeface="Arial" panose="020B0604020202020204" pitchFamily="34" charset="0"/>
              <a:buChar char="•"/>
            </a:pPr>
            <a:r>
              <a:rPr lang="en-GB" sz="1600" dirty="0">
                <a:solidFill>
                  <a:schemeClr val="tx1">
                    <a:lumMod val="85000"/>
                    <a:lumOff val="15000"/>
                  </a:schemeClr>
                </a:solidFill>
                <a:latin typeface="Arial" panose="020B0604020202020204" pitchFamily="34" charset="0"/>
                <a:cs typeface="Arial" panose="020B0604020202020204" pitchFamily="34" charset="0"/>
              </a:rPr>
              <a:t>Analysis of Trade Union Membership Trends (Quarterly) </a:t>
            </a:r>
          </a:p>
          <a:p>
            <a:pPr marL="285750" indent="-285750">
              <a:lnSpc>
                <a:spcPct val="150000"/>
              </a:lnSpc>
              <a:buFont typeface="Arial" panose="020B0604020202020204" pitchFamily="34" charset="0"/>
              <a:buChar char="•"/>
            </a:pPr>
            <a:r>
              <a:rPr lang="en-GB" sz="1600" dirty="0">
                <a:solidFill>
                  <a:schemeClr val="tx1">
                    <a:lumMod val="85000"/>
                    <a:lumOff val="15000"/>
                  </a:schemeClr>
                </a:solidFill>
                <a:latin typeface="Arial" panose="020B0604020202020204" pitchFamily="34" charset="0"/>
                <a:cs typeface="Arial" panose="020B0604020202020204" pitchFamily="34" charset="0"/>
              </a:rPr>
              <a:t>Agency Shop Agreement Report – Strategic Analysis of Trade Union Recruitment Opportunities </a:t>
            </a:r>
          </a:p>
          <a:p>
            <a:pPr marL="285750" indent="-285750">
              <a:lnSpc>
                <a:spcPct val="150000"/>
              </a:lnSpc>
              <a:buFont typeface="Arial" panose="020B0604020202020204" pitchFamily="34" charset="0"/>
              <a:buChar char="•"/>
            </a:pPr>
            <a:r>
              <a:rPr lang="en-GB" sz="1600" dirty="0">
                <a:solidFill>
                  <a:schemeClr val="tx1">
                    <a:lumMod val="85000"/>
                    <a:lumOff val="15000"/>
                  </a:schemeClr>
                </a:solidFill>
                <a:latin typeface="Arial" panose="020B0604020202020204" pitchFamily="34" charset="0"/>
                <a:cs typeface="Arial" panose="020B0604020202020204" pitchFamily="34" charset="0"/>
              </a:rPr>
              <a:t>Research on Recruitment Policies in the Public Service – Trade Union Observer Status </a:t>
            </a:r>
          </a:p>
          <a:p>
            <a:pPr marL="285750" indent="-285750">
              <a:lnSpc>
                <a:spcPct val="150000"/>
              </a:lnSpc>
              <a:buFont typeface="Arial" panose="020B0604020202020204" pitchFamily="34" charset="0"/>
              <a:buChar char="•"/>
            </a:pPr>
            <a:r>
              <a:rPr lang="en-GB" sz="1600" dirty="0">
                <a:solidFill>
                  <a:schemeClr val="tx1">
                    <a:lumMod val="85000"/>
                    <a:lumOff val="15000"/>
                  </a:schemeClr>
                </a:solidFill>
                <a:latin typeface="Arial" panose="020B0604020202020204" pitchFamily="34" charset="0"/>
                <a:cs typeface="Arial" panose="020B0604020202020204" pitchFamily="34" charset="0"/>
              </a:rPr>
              <a:t>Research on Uniform Policies in the Public Service </a:t>
            </a:r>
          </a:p>
        </p:txBody>
      </p:sp>
      <p:sp>
        <p:nvSpPr>
          <p:cNvPr id="21" name="Text 19">
            <a:extLst>
              <a:ext uri="{FF2B5EF4-FFF2-40B4-BE49-F238E27FC236}">
                <a16:creationId xmlns:a16="http://schemas.microsoft.com/office/drawing/2014/main" id="{BFC8A8D1-237B-598F-1227-488FCAC3BE53}"/>
              </a:ext>
            </a:extLst>
          </p:cNvPr>
          <p:cNvSpPr/>
          <p:nvPr/>
        </p:nvSpPr>
        <p:spPr>
          <a:xfrm>
            <a:off x="3725691" y="2106978"/>
            <a:ext cx="3476404" cy="1386460"/>
          </a:xfrm>
          <a:prstGeom prst="rect">
            <a:avLst/>
          </a:prstGeom>
          <a:noFill/>
          <a:ln/>
        </p:spPr>
        <p:txBody>
          <a:bodyPr wrap="square" lIns="0" tIns="0" rIns="0" bIns="0" rtlCol="0" anchor="ctr"/>
          <a:lstStyle/>
          <a:p>
            <a:pPr algn="ctr"/>
            <a:endParaRPr lang="en-US" sz="1600" b="1" dirty="0">
              <a:solidFill>
                <a:srgbClr val="FFFFFF"/>
              </a:solidFill>
              <a:latin typeface="Arial" panose="020B0604020202020204" pitchFamily="34" charset="0"/>
              <a:ea typeface="Calibri" pitchFamily="34" charset="-122"/>
              <a:cs typeface="Arial" panose="020B0604020202020204" pitchFamily="34" charset="0"/>
            </a:endParaRPr>
          </a:p>
        </p:txBody>
      </p:sp>
      <p:sp>
        <p:nvSpPr>
          <p:cNvPr id="22" name="Text 20">
            <a:extLst>
              <a:ext uri="{FF2B5EF4-FFF2-40B4-BE49-F238E27FC236}">
                <a16:creationId xmlns:a16="http://schemas.microsoft.com/office/drawing/2014/main" id="{64A1941B-F477-2B5F-4564-1F8DE2F06DA8}"/>
              </a:ext>
            </a:extLst>
          </p:cNvPr>
          <p:cNvSpPr/>
          <p:nvPr/>
        </p:nvSpPr>
        <p:spPr>
          <a:xfrm>
            <a:off x="3983062" y="3705296"/>
            <a:ext cx="3219033" cy="1718153"/>
          </a:xfrm>
          <a:prstGeom prst="rect">
            <a:avLst/>
          </a:prstGeom>
          <a:noFill/>
          <a:ln/>
        </p:spPr>
        <p:txBody>
          <a:bodyPr wrap="square" rtlCol="0" anchor="ctr"/>
          <a:lstStyle/>
          <a:p>
            <a:endParaRPr lang="en-ZA" sz="1600" dirty="0">
              <a:latin typeface="Arial" panose="020B0604020202020204" pitchFamily="34" charset="0"/>
              <a:cs typeface="Arial" panose="020B0604020202020204" pitchFamily="34" charset="0"/>
            </a:endParaRPr>
          </a:p>
        </p:txBody>
      </p:sp>
      <p:sp>
        <p:nvSpPr>
          <p:cNvPr id="23" name="Shape 21">
            <a:extLst>
              <a:ext uri="{FF2B5EF4-FFF2-40B4-BE49-F238E27FC236}">
                <a16:creationId xmlns:a16="http://schemas.microsoft.com/office/drawing/2014/main" id="{645CF578-7299-3C46-FF4D-5DA1374BDDD1}"/>
              </a:ext>
            </a:extLst>
          </p:cNvPr>
          <p:cNvSpPr/>
          <p:nvPr/>
        </p:nvSpPr>
        <p:spPr>
          <a:xfrm>
            <a:off x="6918385" y="2872578"/>
            <a:ext cx="4633535" cy="3842546"/>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24" name="Shape 22">
            <a:extLst>
              <a:ext uri="{FF2B5EF4-FFF2-40B4-BE49-F238E27FC236}">
                <a16:creationId xmlns:a16="http://schemas.microsoft.com/office/drawing/2014/main" id="{37254591-0F24-851E-E67F-E959BE8FB7FA}"/>
              </a:ext>
            </a:extLst>
          </p:cNvPr>
          <p:cNvSpPr/>
          <p:nvPr/>
        </p:nvSpPr>
        <p:spPr>
          <a:xfrm>
            <a:off x="6918385" y="1501792"/>
            <a:ext cx="4633535" cy="1370786"/>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26" name="Text 24">
            <a:extLst>
              <a:ext uri="{FF2B5EF4-FFF2-40B4-BE49-F238E27FC236}">
                <a16:creationId xmlns:a16="http://schemas.microsoft.com/office/drawing/2014/main" id="{5401E930-F922-26B1-5115-CDC95C7C1B7E}"/>
              </a:ext>
            </a:extLst>
          </p:cNvPr>
          <p:cNvSpPr/>
          <p:nvPr/>
        </p:nvSpPr>
        <p:spPr>
          <a:xfrm>
            <a:off x="8211024" y="1777857"/>
            <a:ext cx="2048256" cy="785312"/>
          </a:xfrm>
          <a:prstGeom prst="rect">
            <a:avLst/>
          </a:prstGeom>
          <a:noFill/>
          <a:ln/>
        </p:spPr>
        <p:txBody>
          <a:bodyPr wrap="square" lIns="0" tIns="0" rIns="0" bIns="0" rtlCol="0" anchor="ctr"/>
          <a:lstStyle/>
          <a:p>
            <a:pPr algn="ctr"/>
            <a:r>
              <a:rPr lang="en-ZA" sz="1600" b="1" dirty="0">
                <a:solidFill>
                  <a:schemeClr val="accent5">
                    <a:lumMod val="50000"/>
                  </a:schemeClr>
                </a:solidFill>
                <a:latin typeface="Arial" panose="020B0604020202020204" pitchFamily="34" charset="0"/>
                <a:cs typeface="Arial" panose="020B0604020202020204" pitchFamily="34" charset="0"/>
              </a:rPr>
              <a:t>HEALTHCARE GOVERNANCE RESEARCH</a:t>
            </a:r>
          </a:p>
        </p:txBody>
      </p:sp>
      <p:sp>
        <p:nvSpPr>
          <p:cNvPr id="27" name="Text 25">
            <a:extLst>
              <a:ext uri="{FF2B5EF4-FFF2-40B4-BE49-F238E27FC236}">
                <a16:creationId xmlns:a16="http://schemas.microsoft.com/office/drawing/2014/main" id="{E20A31D6-A907-13BF-7A53-440371879B52}"/>
              </a:ext>
            </a:extLst>
          </p:cNvPr>
          <p:cNvSpPr/>
          <p:nvPr/>
        </p:nvSpPr>
        <p:spPr>
          <a:xfrm>
            <a:off x="7457913" y="3179585"/>
            <a:ext cx="3538708" cy="2623788"/>
          </a:xfrm>
          <a:prstGeom prst="rect">
            <a:avLst/>
          </a:prstGeom>
          <a:noFill/>
          <a:ln/>
        </p:spPr>
        <p:txBody>
          <a:bodyPr wrap="square" rtlCol="0" anchor="ctr"/>
          <a:lstStyle/>
          <a:p>
            <a:pPr marL="285750" indent="-285750">
              <a:lnSpc>
                <a:spcPct val="150000"/>
              </a:lnSpc>
              <a:buFont typeface="Arial" panose="020B0604020202020204" pitchFamily="34" charset="0"/>
              <a:buChar char="•"/>
            </a:pPr>
            <a:r>
              <a:rPr lang="en-GB" sz="1600" dirty="0">
                <a:latin typeface="Arial" panose="020B0604020202020204" pitchFamily="34" charset="0"/>
                <a:cs typeface="Arial" panose="020B0604020202020204" pitchFamily="34" charset="0"/>
              </a:rPr>
              <a:t>Government Employees Medical Scheme (GEMS) Review Report </a:t>
            </a:r>
          </a:p>
          <a:p>
            <a:pPr marL="285750" indent="-285750">
              <a:lnSpc>
                <a:spcPct val="150000"/>
              </a:lnSpc>
              <a:buFont typeface="Arial" panose="020B0604020202020204" pitchFamily="34" charset="0"/>
              <a:buChar char="•"/>
            </a:pPr>
            <a:r>
              <a:rPr lang="en-GB" sz="1600" dirty="0">
                <a:latin typeface="Arial" panose="020B0604020202020204" pitchFamily="34" charset="0"/>
                <a:cs typeface="Arial" panose="020B0604020202020204" pitchFamily="34" charset="0"/>
              </a:rPr>
              <a:t>GEMS Customer Perceptions Survey </a:t>
            </a:r>
          </a:p>
        </p:txBody>
      </p:sp>
    </p:spTree>
    <p:extLst>
      <p:ext uri="{BB962C8B-B14F-4D97-AF65-F5344CB8AC3E}">
        <p14:creationId xmlns:p14="http://schemas.microsoft.com/office/powerpoint/2010/main" val="35272446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8E480-A1FC-CC20-DEA9-63F4AB0203D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7AB3749-FDAB-3C97-6F97-9FA4CE2F4288}"/>
              </a:ext>
            </a:extLst>
          </p:cNvPr>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D9729C6F-5A98-0088-90AC-D4E9679BAF95}"/>
              </a:ext>
            </a:extLst>
          </p:cNvPr>
          <p:cNvSpPr/>
          <p:nvPr/>
        </p:nvSpPr>
        <p:spPr>
          <a:xfrm>
            <a:off x="335280" y="521823"/>
            <a:ext cx="11216640" cy="670560"/>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4" name="Text 2">
            <a:extLst>
              <a:ext uri="{FF2B5EF4-FFF2-40B4-BE49-F238E27FC236}">
                <a16:creationId xmlns:a16="http://schemas.microsoft.com/office/drawing/2014/main" id="{97C445F1-608F-980E-3F9D-D7BD5432AE74}"/>
              </a:ext>
            </a:extLst>
          </p:cNvPr>
          <p:cNvSpPr/>
          <p:nvPr/>
        </p:nvSpPr>
        <p:spPr>
          <a:xfrm>
            <a:off x="341376" y="142876"/>
            <a:ext cx="11216640" cy="487680"/>
          </a:xfrm>
          <a:prstGeom prst="rect">
            <a:avLst/>
          </a:prstGeom>
          <a:noFill/>
          <a:ln/>
        </p:spPr>
        <p:txBody>
          <a:bodyPr wrap="square" lIns="0" tIns="0" rIns="0" bIns="0" rtlCol="0" anchor="ctr"/>
          <a:lstStyle/>
          <a:p>
            <a:r>
              <a:rPr lang="en-GB" sz="2400" b="1" dirty="0">
                <a:solidFill>
                  <a:schemeClr val="bg1"/>
                </a:solidFill>
                <a:latin typeface="Arial" panose="020B0604020202020204" pitchFamily="34" charset="0"/>
                <a:cs typeface="Arial" panose="020B0604020202020204" pitchFamily="34" charset="0"/>
              </a:rPr>
              <a:t>RESEARCH PROJECTS</a:t>
            </a:r>
          </a:p>
        </p:txBody>
      </p:sp>
      <p:sp>
        <p:nvSpPr>
          <p:cNvPr id="5" name="Shape 3">
            <a:extLst>
              <a:ext uri="{FF2B5EF4-FFF2-40B4-BE49-F238E27FC236}">
                <a16:creationId xmlns:a16="http://schemas.microsoft.com/office/drawing/2014/main" id="{5F25EA1D-8C10-7B6E-BEE5-AAD9501C303D}"/>
              </a:ext>
            </a:extLst>
          </p:cNvPr>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3" name="Shape 11">
            <a:extLst>
              <a:ext uri="{FF2B5EF4-FFF2-40B4-BE49-F238E27FC236}">
                <a16:creationId xmlns:a16="http://schemas.microsoft.com/office/drawing/2014/main" id="{80845B18-ADB5-C4C8-680B-034BB95F894E}"/>
              </a:ext>
            </a:extLst>
          </p:cNvPr>
          <p:cNvSpPr/>
          <p:nvPr/>
        </p:nvSpPr>
        <p:spPr>
          <a:xfrm>
            <a:off x="335279" y="2831446"/>
            <a:ext cx="5159747" cy="3957543"/>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14" name="Shape 12">
            <a:extLst>
              <a:ext uri="{FF2B5EF4-FFF2-40B4-BE49-F238E27FC236}">
                <a16:creationId xmlns:a16="http://schemas.microsoft.com/office/drawing/2014/main" id="{D553116F-C614-1EDF-6DE0-0FBBB7E5A3A8}"/>
              </a:ext>
            </a:extLst>
          </p:cNvPr>
          <p:cNvSpPr/>
          <p:nvPr/>
        </p:nvSpPr>
        <p:spPr>
          <a:xfrm>
            <a:off x="335281" y="1472432"/>
            <a:ext cx="5159746" cy="1386460"/>
          </a:xfrm>
          <a:prstGeom prst="rect">
            <a:avLst/>
          </a:prstGeom>
          <a:solidFill>
            <a:srgbClr val="006E7F"/>
          </a:solidFill>
          <a:ln w="12700">
            <a:solidFill>
              <a:srgbClr val="006E7F"/>
            </a:solidFill>
            <a:prstDash val="solid"/>
          </a:ln>
        </p:spPr>
        <p:txBody>
          <a:bodyPr/>
          <a:lstStyle/>
          <a:p>
            <a:endParaRPr lang="en-ZA" sz="1600" dirty="0">
              <a:latin typeface="Arial" panose="020B0604020202020204" pitchFamily="34" charset="0"/>
              <a:cs typeface="Arial" panose="020B0604020202020204" pitchFamily="34" charset="0"/>
            </a:endParaRPr>
          </a:p>
        </p:txBody>
      </p:sp>
      <p:sp>
        <p:nvSpPr>
          <p:cNvPr id="16" name="Text 14">
            <a:extLst>
              <a:ext uri="{FF2B5EF4-FFF2-40B4-BE49-F238E27FC236}">
                <a16:creationId xmlns:a16="http://schemas.microsoft.com/office/drawing/2014/main" id="{7895FFAD-E5C7-734A-1F09-8EF8E3AEFC62}"/>
              </a:ext>
            </a:extLst>
          </p:cNvPr>
          <p:cNvSpPr/>
          <p:nvPr/>
        </p:nvSpPr>
        <p:spPr>
          <a:xfrm>
            <a:off x="2284013" y="1434551"/>
            <a:ext cx="1832773" cy="1326543"/>
          </a:xfrm>
          <a:prstGeom prst="rect">
            <a:avLst/>
          </a:prstGeom>
          <a:noFill/>
          <a:ln/>
        </p:spPr>
        <p:txBody>
          <a:bodyPr wrap="square" lIns="0" tIns="0" rIns="0" bIns="0" rtlCol="0" anchor="ctr"/>
          <a:lstStyle/>
          <a:p>
            <a:pPr algn="ctr"/>
            <a:r>
              <a:rPr lang="en-US" sz="1600" b="1" dirty="0">
                <a:solidFill>
                  <a:srgbClr val="FFFFFF"/>
                </a:solidFill>
                <a:latin typeface="Arial" panose="020B0604020202020204" pitchFamily="34" charset="0"/>
                <a:ea typeface="Calibri" pitchFamily="34" charset="-122"/>
                <a:cs typeface="Arial" panose="020B0604020202020204" pitchFamily="34" charset="0"/>
              </a:rPr>
              <a:t>SKILLS DEVELOPMENT RESEARCH</a:t>
            </a:r>
          </a:p>
        </p:txBody>
      </p:sp>
      <p:sp>
        <p:nvSpPr>
          <p:cNvPr id="17" name="Text 15">
            <a:extLst>
              <a:ext uri="{FF2B5EF4-FFF2-40B4-BE49-F238E27FC236}">
                <a16:creationId xmlns:a16="http://schemas.microsoft.com/office/drawing/2014/main" id="{71513EF6-1FDA-E14F-0A7E-FCB5ED1739F4}"/>
              </a:ext>
            </a:extLst>
          </p:cNvPr>
          <p:cNvSpPr/>
          <p:nvPr/>
        </p:nvSpPr>
        <p:spPr>
          <a:xfrm>
            <a:off x="563945" y="3264133"/>
            <a:ext cx="5023619" cy="3072044"/>
          </a:xfrm>
          <a:prstGeom prst="rect">
            <a:avLst/>
          </a:prstGeom>
          <a:noFill/>
          <a:ln/>
        </p:spPr>
        <p:txBody>
          <a:bodyPr wrap="square" rtlCol="0" anchor="ctr"/>
          <a:lstStyle/>
          <a:p>
            <a:pPr marL="285750" indent="-285750">
              <a:lnSpc>
                <a:spcPct val="150000"/>
              </a:lnSpc>
              <a:buFont typeface="Arial" panose="020B0604020202020204" pitchFamily="34" charset="0"/>
              <a:buChar char="•"/>
            </a:pPr>
            <a:r>
              <a:rPr lang="en-GB" sz="1600" dirty="0">
                <a:solidFill>
                  <a:schemeClr val="tx1">
                    <a:lumMod val="85000"/>
                    <a:lumOff val="15000"/>
                  </a:schemeClr>
                </a:solidFill>
                <a:latin typeface="Arial" panose="020B0604020202020204" pitchFamily="34" charset="0"/>
                <a:cs typeface="Arial" panose="020B0604020202020204" pitchFamily="34" charset="0"/>
              </a:rPr>
              <a:t>CCPMP Skills Audit – Mpumalanga Chamber </a:t>
            </a:r>
          </a:p>
          <a:p>
            <a:pPr marL="285750" indent="-285750">
              <a:lnSpc>
                <a:spcPct val="150000"/>
              </a:lnSpc>
              <a:buFont typeface="Arial" panose="020B0604020202020204" pitchFamily="34" charset="0"/>
              <a:buChar char="•"/>
            </a:pPr>
            <a:r>
              <a:rPr lang="en-GB" sz="1600" dirty="0">
                <a:solidFill>
                  <a:schemeClr val="tx1">
                    <a:lumMod val="85000"/>
                    <a:lumOff val="15000"/>
                  </a:schemeClr>
                </a:solidFill>
                <a:latin typeface="Arial" panose="020B0604020202020204" pitchFamily="34" charset="0"/>
                <a:cs typeface="Arial" panose="020B0604020202020204" pitchFamily="34" charset="0"/>
              </a:rPr>
              <a:t>PSETA Training Initiatives Learner Withdrawal Survey </a:t>
            </a:r>
          </a:p>
        </p:txBody>
      </p:sp>
      <p:sp>
        <p:nvSpPr>
          <p:cNvPr id="21" name="Text 19">
            <a:extLst>
              <a:ext uri="{FF2B5EF4-FFF2-40B4-BE49-F238E27FC236}">
                <a16:creationId xmlns:a16="http://schemas.microsoft.com/office/drawing/2014/main" id="{D79E0B6A-6A9B-342B-7D92-DC455AFF8345}"/>
              </a:ext>
            </a:extLst>
          </p:cNvPr>
          <p:cNvSpPr/>
          <p:nvPr/>
        </p:nvSpPr>
        <p:spPr>
          <a:xfrm>
            <a:off x="3725691" y="2106978"/>
            <a:ext cx="3476404" cy="1386460"/>
          </a:xfrm>
          <a:prstGeom prst="rect">
            <a:avLst/>
          </a:prstGeom>
          <a:noFill/>
          <a:ln/>
        </p:spPr>
        <p:txBody>
          <a:bodyPr wrap="square" lIns="0" tIns="0" rIns="0" bIns="0" rtlCol="0" anchor="ctr"/>
          <a:lstStyle/>
          <a:p>
            <a:pPr algn="ctr"/>
            <a:endParaRPr lang="en-US" sz="1600" b="1" dirty="0">
              <a:solidFill>
                <a:srgbClr val="FFFFFF"/>
              </a:solidFill>
              <a:latin typeface="Arial" panose="020B0604020202020204" pitchFamily="34" charset="0"/>
              <a:ea typeface="Calibri" pitchFamily="34" charset="-122"/>
              <a:cs typeface="Arial" panose="020B0604020202020204" pitchFamily="34" charset="0"/>
            </a:endParaRPr>
          </a:p>
        </p:txBody>
      </p:sp>
      <p:sp>
        <p:nvSpPr>
          <p:cNvPr id="22" name="Text 20">
            <a:extLst>
              <a:ext uri="{FF2B5EF4-FFF2-40B4-BE49-F238E27FC236}">
                <a16:creationId xmlns:a16="http://schemas.microsoft.com/office/drawing/2014/main" id="{2A766DB1-8DBA-0AF0-C480-7CDC990B5FE5}"/>
              </a:ext>
            </a:extLst>
          </p:cNvPr>
          <p:cNvSpPr/>
          <p:nvPr/>
        </p:nvSpPr>
        <p:spPr>
          <a:xfrm>
            <a:off x="3983062" y="3705296"/>
            <a:ext cx="3219033" cy="1718153"/>
          </a:xfrm>
          <a:prstGeom prst="rect">
            <a:avLst/>
          </a:prstGeom>
          <a:noFill/>
          <a:ln/>
        </p:spPr>
        <p:txBody>
          <a:bodyPr wrap="square" rtlCol="0" anchor="ctr"/>
          <a:lstStyle/>
          <a:p>
            <a:endParaRPr lang="en-ZA" sz="1600" dirty="0">
              <a:latin typeface="Arial" panose="020B0604020202020204" pitchFamily="34" charset="0"/>
              <a:cs typeface="Arial" panose="020B0604020202020204" pitchFamily="34" charset="0"/>
            </a:endParaRPr>
          </a:p>
        </p:txBody>
      </p:sp>
      <p:sp>
        <p:nvSpPr>
          <p:cNvPr id="23" name="Shape 21">
            <a:extLst>
              <a:ext uri="{FF2B5EF4-FFF2-40B4-BE49-F238E27FC236}">
                <a16:creationId xmlns:a16="http://schemas.microsoft.com/office/drawing/2014/main" id="{46A75CDA-01FD-65F6-575A-C40B40D4B20E}"/>
              </a:ext>
            </a:extLst>
          </p:cNvPr>
          <p:cNvSpPr/>
          <p:nvPr/>
        </p:nvSpPr>
        <p:spPr>
          <a:xfrm>
            <a:off x="6936704" y="2761094"/>
            <a:ext cx="4633535" cy="3842546"/>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24" name="Shape 22">
            <a:extLst>
              <a:ext uri="{FF2B5EF4-FFF2-40B4-BE49-F238E27FC236}">
                <a16:creationId xmlns:a16="http://schemas.microsoft.com/office/drawing/2014/main" id="{B0E84D36-87F1-DD92-105E-BB9E2FE5DE32}"/>
              </a:ext>
            </a:extLst>
          </p:cNvPr>
          <p:cNvSpPr/>
          <p:nvPr/>
        </p:nvSpPr>
        <p:spPr>
          <a:xfrm>
            <a:off x="6918385" y="1501792"/>
            <a:ext cx="4633535" cy="1370786"/>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26" name="Text 24">
            <a:extLst>
              <a:ext uri="{FF2B5EF4-FFF2-40B4-BE49-F238E27FC236}">
                <a16:creationId xmlns:a16="http://schemas.microsoft.com/office/drawing/2014/main" id="{4B0F9020-D007-58B3-AF78-C650A77EF590}"/>
              </a:ext>
            </a:extLst>
          </p:cNvPr>
          <p:cNvSpPr/>
          <p:nvPr/>
        </p:nvSpPr>
        <p:spPr>
          <a:xfrm>
            <a:off x="8211024" y="1777857"/>
            <a:ext cx="2048256" cy="785312"/>
          </a:xfrm>
          <a:prstGeom prst="rect">
            <a:avLst/>
          </a:prstGeom>
          <a:noFill/>
          <a:ln/>
        </p:spPr>
        <p:txBody>
          <a:bodyPr wrap="square" lIns="0" tIns="0" rIns="0" bIns="0" rtlCol="0" anchor="ctr"/>
          <a:lstStyle/>
          <a:p>
            <a:pPr algn="ctr"/>
            <a:r>
              <a:rPr lang="en-GB" sz="1600" b="1" dirty="0">
                <a:solidFill>
                  <a:schemeClr val="accent5">
                    <a:lumMod val="50000"/>
                  </a:schemeClr>
                </a:solidFill>
                <a:latin typeface="Arial" panose="020B0604020202020204" pitchFamily="34" charset="0"/>
                <a:cs typeface="Arial" panose="020B0604020202020204" pitchFamily="34" charset="0"/>
              </a:rPr>
              <a:t>TRAINING IMPACT AND PROGRAMME EVALUATION</a:t>
            </a:r>
          </a:p>
        </p:txBody>
      </p:sp>
      <p:sp>
        <p:nvSpPr>
          <p:cNvPr id="27" name="Text 25">
            <a:extLst>
              <a:ext uri="{FF2B5EF4-FFF2-40B4-BE49-F238E27FC236}">
                <a16:creationId xmlns:a16="http://schemas.microsoft.com/office/drawing/2014/main" id="{B0B9F29D-1D4B-3585-9E1E-5B48A9A72C86}"/>
              </a:ext>
            </a:extLst>
          </p:cNvPr>
          <p:cNvSpPr/>
          <p:nvPr/>
        </p:nvSpPr>
        <p:spPr>
          <a:xfrm>
            <a:off x="7541933" y="2972290"/>
            <a:ext cx="3538708" cy="2623788"/>
          </a:xfrm>
          <a:prstGeom prst="rect">
            <a:avLst/>
          </a:prstGeom>
          <a:noFill/>
          <a:ln/>
        </p:spPr>
        <p:txBody>
          <a:bodyPr wrap="square" rtlCol="0" anchor="ctr"/>
          <a:lstStyle/>
          <a:p>
            <a:pPr marL="285750" indent="-285750">
              <a:lnSpc>
                <a:spcPct val="150000"/>
              </a:lnSpc>
              <a:buFont typeface="Arial" panose="020B0604020202020204" pitchFamily="34" charset="0"/>
              <a:buChar char="•"/>
            </a:pPr>
            <a:r>
              <a:rPr lang="en-GB" sz="1600" dirty="0">
                <a:latin typeface="Arial" panose="020B0604020202020204" pitchFamily="34" charset="0"/>
                <a:cs typeface="Arial" panose="020B0604020202020204" pitchFamily="34" charset="0"/>
              </a:rPr>
              <a:t>Public Administration Leadership Training Programme – Longitudinal Study </a:t>
            </a:r>
          </a:p>
          <a:p>
            <a:pPr marL="285750" indent="-285750">
              <a:lnSpc>
                <a:spcPct val="150000"/>
              </a:lnSpc>
              <a:buFont typeface="Arial" panose="020B0604020202020204" pitchFamily="34" charset="0"/>
              <a:buChar char="•"/>
            </a:pPr>
            <a:r>
              <a:rPr lang="en-GB" sz="1600" dirty="0">
                <a:latin typeface="Arial" panose="020B0604020202020204" pitchFamily="34" charset="0"/>
                <a:cs typeface="Arial" panose="020B0604020202020204" pitchFamily="34" charset="0"/>
              </a:rPr>
              <a:t>Impact Evaluation Report – Labour Dispute Training Programme </a:t>
            </a:r>
          </a:p>
        </p:txBody>
      </p:sp>
    </p:spTree>
    <p:extLst>
      <p:ext uri="{BB962C8B-B14F-4D97-AF65-F5344CB8AC3E}">
        <p14:creationId xmlns:p14="http://schemas.microsoft.com/office/powerpoint/2010/main" val="39673540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9B363-6D1F-7D98-C534-187C965156F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337A815-FC9A-15B9-AEAC-4D7BD3D4C313}"/>
              </a:ext>
            </a:extLst>
          </p:cNvPr>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D6878BFD-4529-F071-2604-AC93EFA5F73F}"/>
              </a:ext>
            </a:extLst>
          </p:cNvPr>
          <p:cNvSpPr/>
          <p:nvPr/>
        </p:nvSpPr>
        <p:spPr>
          <a:xfrm>
            <a:off x="335280" y="521823"/>
            <a:ext cx="11216640" cy="670560"/>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4" name="Text 2">
            <a:extLst>
              <a:ext uri="{FF2B5EF4-FFF2-40B4-BE49-F238E27FC236}">
                <a16:creationId xmlns:a16="http://schemas.microsoft.com/office/drawing/2014/main" id="{E96CAD74-7EC0-17EF-20C0-3BA8579F6A04}"/>
              </a:ext>
            </a:extLst>
          </p:cNvPr>
          <p:cNvSpPr/>
          <p:nvPr/>
        </p:nvSpPr>
        <p:spPr>
          <a:xfrm>
            <a:off x="341376" y="142876"/>
            <a:ext cx="11216640" cy="487680"/>
          </a:xfrm>
          <a:prstGeom prst="rect">
            <a:avLst/>
          </a:prstGeom>
          <a:noFill/>
          <a:ln/>
        </p:spPr>
        <p:txBody>
          <a:bodyPr wrap="square" lIns="0" tIns="0" rIns="0" bIns="0" rtlCol="0" anchor="ctr"/>
          <a:lstStyle/>
          <a:p>
            <a:r>
              <a:rPr lang="en-GB" sz="2400" b="1" dirty="0">
                <a:solidFill>
                  <a:schemeClr val="bg1"/>
                </a:solidFill>
                <a:latin typeface="Arial" panose="020B0604020202020204" pitchFamily="34" charset="0"/>
                <a:cs typeface="Arial" panose="020B0604020202020204" pitchFamily="34" charset="0"/>
              </a:rPr>
              <a:t>RESEARCH PROJECTS CONDUCTED AND CONCLUDED</a:t>
            </a:r>
          </a:p>
        </p:txBody>
      </p:sp>
      <p:sp>
        <p:nvSpPr>
          <p:cNvPr id="5" name="Shape 3">
            <a:extLst>
              <a:ext uri="{FF2B5EF4-FFF2-40B4-BE49-F238E27FC236}">
                <a16:creationId xmlns:a16="http://schemas.microsoft.com/office/drawing/2014/main" id="{1C6A6CE2-197E-9D43-1857-D5395B35658F}"/>
              </a:ext>
            </a:extLst>
          </p:cNvPr>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3" name="Shape 11">
            <a:extLst>
              <a:ext uri="{FF2B5EF4-FFF2-40B4-BE49-F238E27FC236}">
                <a16:creationId xmlns:a16="http://schemas.microsoft.com/office/drawing/2014/main" id="{35E1061A-5EA3-0D83-2483-7934F9A38589}"/>
              </a:ext>
            </a:extLst>
          </p:cNvPr>
          <p:cNvSpPr/>
          <p:nvPr/>
        </p:nvSpPr>
        <p:spPr>
          <a:xfrm>
            <a:off x="353600" y="2800208"/>
            <a:ext cx="5141428" cy="3957543"/>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14" name="Shape 12">
            <a:extLst>
              <a:ext uri="{FF2B5EF4-FFF2-40B4-BE49-F238E27FC236}">
                <a16:creationId xmlns:a16="http://schemas.microsoft.com/office/drawing/2014/main" id="{95BA185D-7446-89B8-7693-ECC87DF40A31}"/>
              </a:ext>
            </a:extLst>
          </p:cNvPr>
          <p:cNvSpPr/>
          <p:nvPr/>
        </p:nvSpPr>
        <p:spPr>
          <a:xfrm>
            <a:off x="335281" y="1472432"/>
            <a:ext cx="5159746" cy="1386460"/>
          </a:xfrm>
          <a:prstGeom prst="rect">
            <a:avLst/>
          </a:prstGeom>
          <a:solidFill>
            <a:srgbClr val="006E7F"/>
          </a:solidFill>
          <a:ln w="12700">
            <a:solidFill>
              <a:srgbClr val="006E7F"/>
            </a:solidFill>
            <a:prstDash val="solid"/>
          </a:ln>
        </p:spPr>
        <p:txBody>
          <a:bodyPr/>
          <a:lstStyle/>
          <a:p>
            <a:endParaRPr lang="en-ZA" sz="1600" dirty="0">
              <a:latin typeface="Arial" panose="020B0604020202020204" pitchFamily="34" charset="0"/>
              <a:cs typeface="Arial" panose="020B0604020202020204" pitchFamily="34" charset="0"/>
            </a:endParaRPr>
          </a:p>
        </p:txBody>
      </p:sp>
      <p:sp>
        <p:nvSpPr>
          <p:cNvPr id="16" name="Text 14">
            <a:extLst>
              <a:ext uri="{FF2B5EF4-FFF2-40B4-BE49-F238E27FC236}">
                <a16:creationId xmlns:a16="http://schemas.microsoft.com/office/drawing/2014/main" id="{3027B931-6B1F-36DB-55E4-D4BFD0E003CE}"/>
              </a:ext>
            </a:extLst>
          </p:cNvPr>
          <p:cNvSpPr/>
          <p:nvPr/>
        </p:nvSpPr>
        <p:spPr>
          <a:xfrm>
            <a:off x="1800375" y="1536950"/>
            <a:ext cx="1832773" cy="1326543"/>
          </a:xfrm>
          <a:prstGeom prst="rect">
            <a:avLst/>
          </a:prstGeom>
          <a:noFill/>
          <a:ln/>
        </p:spPr>
        <p:txBody>
          <a:bodyPr wrap="square" lIns="0" tIns="0" rIns="0" bIns="0" rtlCol="0" anchor="ctr"/>
          <a:lstStyle/>
          <a:p>
            <a:pPr algn="ctr"/>
            <a:r>
              <a:rPr lang="en-US" sz="1600" b="1" dirty="0">
                <a:solidFill>
                  <a:srgbClr val="FFFFFF"/>
                </a:solidFill>
                <a:latin typeface="Arial" panose="020B0604020202020204" pitchFamily="34" charset="0"/>
                <a:ea typeface="Calibri" pitchFamily="34" charset="-122"/>
                <a:cs typeface="Arial" panose="020B0604020202020204" pitchFamily="34" charset="0"/>
              </a:rPr>
              <a:t>DISPUTE MANAGEMENT RESEARCH</a:t>
            </a:r>
          </a:p>
        </p:txBody>
      </p:sp>
      <p:sp>
        <p:nvSpPr>
          <p:cNvPr id="17" name="Text 15">
            <a:extLst>
              <a:ext uri="{FF2B5EF4-FFF2-40B4-BE49-F238E27FC236}">
                <a16:creationId xmlns:a16="http://schemas.microsoft.com/office/drawing/2014/main" id="{AF314EDF-62DC-EDC2-BBBB-0E0A8A88E641}"/>
              </a:ext>
            </a:extLst>
          </p:cNvPr>
          <p:cNvSpPr/>
          <p:nvPr/>
        </p:nvSpPr>
        <p:spPr>
          <a:xfrm>
            <a:off x="563951" y="2800208"/>
            <a:ext cx="5023619" cy="3072044"/>
          </a:xfrm>
          <a:prstGeom prst="rect">
            <a:avLst/>
          </a:prstGeom>
          <a:noFill/>
          <a:ln/>
        </p:spPr>
        <p:txBody>
          <a:bodyPr wrap="square" rtlCol="0" anchor="ctr"/>
          <a:lstStyle/>
          <a:p>
            <a:pPr marL="285750" indent="-285750">
              <a:lnSpc>
                <a:spcPct val="150000"/>
              </a:lnSpc>
              <a:buFont typeface="Arial" panose="020B0604020202020204" pitchFamily="34" charset="0"/>
              <a:buChar char="•"/>
            </a:pPr>
            <a:r>
              <a:rPr lang="en-GB" sz="1600" dirty="0">
                <a:solidFill>
                  <a:schemeClr val="tx1">
                    <a:lumMod val="85000"/>
                    <a:lumOff val="15000"/>
                  </a:schemeClr>
                </a:solidFill>
                <a:latin typeface="Arial" panose="020B0604020202020204" pitchFamily="34" charset="0"/>
                <a:cs typeface="Arial" panose="020B0604020202020204" pitchFamily="34" charset="0"/>
              </a:rPr>
              <a:t>Evaluating the Dispute Referral Process</a:t>
            </a:r>
          </a:p>
        </p:txBody>
      </p:sp>
      <p:sp>
        <p:nvSpPr>
          <p:cNvPr id="21" name="Text 19">
            <a:extLst>
              <a:ext uri="{FF2B5EF4-FFF2-40B4-BE49-F238E27FC236}">
                <a16:creationId xmlns:a16="http://schemas.microsoft.com/office/drawing/2014/main" id="{5ECB34BF-8C38-AD9A-85CB-836F8A1F5EFA}"/>
              </a:ext>
            </a:extLst>
          </p:cNvPr>
          <p:cNvSpPr/>
          <p:nvPr/>
        </p:nvSpPr>
        <p:spPr>
          <a:xfrm>
            <a:off x="3725691" y="2106978"/>
            <a:ext cx="3476404" cy="1386460"/>
          </a:xfrm>
          <a:prstGeom prst="rect">
            <a:avLst/>
          </a:prstGeom>
          <a:noFill/>
          <a:ln/>
        </p:spPr>
        <p:txBody>
          <a:bodyPr wrap="square" lIns="0" tIns="0" rIns="0" bIns="0" rtlCol="0" anchor="ctr"/>
          <a:lstStyle/>
          <a:p>
            <a:pPr algn="ctr"/>
            <a:endParaRPr lang="en-US" sz="1600" b="1" dirty="0">
              <a:solidFill>
                <a:srgbClr val="FFFFFF"/>
              </a:solidFill>
              <a:latin typeface="Arial" panose="020B0604020202020204" pitchFamily="34" charset="0"/>
              <a:ea typeface="Calibri" pitchFamily="34" charset="-122"/>
              <a:cs typeface="Arial" panose="020B0604020202020204" pitchFamily="34" charset="0"/>
            </a:endParaRPr>
          </a:p>
        </p:txBody>
      </p:sp>
      <p:sp>
        <p:nvSpPr>
          <p:cNvPr id="22" name="Text 20">
            <a:extLst>
              <a:ext uri="{FF2B5EF4-FFF2-40B4-BE49-F238E27FC236}">
                <a16:creationId xmlns:a16="http://schemas.microsoft.com/office/drawing/2014/main" id="{DF20C44B-E880-CFC8-20EA-650DA5CCA72F}"/>
              </a:ext>
            </a:extLst>
          </p:cNvPr>
          <p:cNvSpPr/>
          <p:nvPr/>
        </p:nvSpPr>
        <p:spPr>
          <a:xfrm>
            <a:off x="3983062" y="3705296"/>
            <a:ext cx="3219033" cy="1718153"/>
          </a:xfrm>
          <a:prstGeom prst="rect">
            <a:avLst/>
          </a:prstGeom>
          <a:noFill/>
          <a:ln/>
        </p:spPr>
        <p:txBody>
          <a:bodyPr wrap="square" rtlCol="0" anchor="ctr"/>
          <a:lstStyle/>
          <a:p>
            <a:endParaRPr lang="en-ZA" sz="1600" dirty="0">
              <a:latin typeface="Arial" panose="020B0604020202020204" pitchFamily="34" charset="0"/>
              <a:cs typeface="Arial" panose="020B0604020202020204" pitchFamily="34" charset="0"/>
            </a:endParaRPr>
          </a:p>
        </p:txBody>
      </p:sp>
      <p:sp>
        <p:nvSpPr>
          <p:cNvPr id="23" name="Shape 21">
            <a:extLst>
              <a:ext uri="{FF2B5EF4-FFF2-40B4-BE49-F238E27FC236}">
                <a16:creationId xmlns:a16="http://schemas.microsoft.com/office/drawing/2014/main" id="{C507A8B6-1DB2-B526-30B4-285115C40084}"/>
              </a:ext>
            </a:extLst>
          </p:cNvPr>
          <p:cNvSpPr/>
          <p:nvPr/>
        </p:nvSpPr>
        <p:spPr>
          <a:xfrm>
            <a:off x="6960121" y="2743200"/>
            <a:ext cx="4633535" cy="3842546"/>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24" name="Shape 22">
            <a:extLst>
              <a:ext uri="{FF2B5EF4-FFF2-40B4-BE49-F238E27FC236}">
                <a16:creationId xmlns:a16="http://schemas.microsoft.com/office/drawing/2014/main" id="{A9359F1E-3501-B378-2B6C-B834EC20A28C}"/>
              </a:ext>
            </a:extLst>
          </p:cNvPr>
          <p:cNvSpPr/>
          <p:nvPr/>
        </p:nvSpPr>
        <p:spPr>
          <a:xfrm>
            <a:off x="6918385" y="1501792"/>
            <a:ext cx="4633535" cy="1370786"/>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26" name="Text 24">
            <a:extLst>
              <a:ext uri="{FF2B5EF4-FFF2-40B4-BE49-F238E27FC236}">
                <a16:creationId xmlns:a16="http://schemas.microsoft.com/office/drawing/2014/main" id="{023D3217-82B6-E6E2-5A06-2D9207118CB6}"/>
              </a:ext>
            </a:extLst>
          </p:cNvPr>
          <p:cNvSpPr/>
          <p:nvPr/>
        </p:nvSpPr>
        <p:spPr>
          <a:xfrm>
            <a:off x="8211024" y="1777857"/>
            <a:ext cx="2048256" cy="785312"/>
          </a:xfrm>
          <a:prstGeom prst="rect">
            <a:avLst/>
          </a:prstGeom>
          <a:noFill/>
          <a:ln/>
        </p:spPr>
        <p:txBody>
          <a:bodyPr wrap="square" lIns="0" tIns="0" rIns="0" bIns="0" rtlCol="0" anchor="ctr"/>
          <a:lstStyle/>
          <a:p>
            <a:pPr algn="ctr"/>
            <a:r>
              <a:rPr lang="en-GB" sz="1600" b="1" dirty="0">
                <a:solidFill>
                  <a:schemeClr val="accent5">
                    <a:lumMod val="50000"/>
                  </a:schemeClr>
                </a:solidFill>
                <a:latin typeface="Arial" panose="020B0604020202020204" pitchFamily="34" charset="0"/>
                <a:cs typeface="Arial" panose="020B0604020202020204" pitchFamily="34" charset="0"/>
              </a:rPr>
              <a:t>TRAINING IMPACT AND PROGRAMME EVALUATION</a:t>
            </a:r>
          </a:p>
        </p:txBody>
      </p:sp>
      <p:sp>
        <p:nvSpPr>
          <p:cNvPr id="27" name="Text 25">
            <a:extLst>
              <a:ext uri="{FF2B5EF4-FFF2-40B4-BE49-F238E27FC236}">
                <a16:creationId xmlns:a16="http://schemas.microsoft.com/office/drawing/2014/main" id="{85DA9087-20F2-3855-F621-E2B3E35F4FEB}"/>
              </a:ext>
            </a:extLst>
          </p:cNvPr>
          <p:cNvSpPr/>
          <p:nvPr/>
        </p:nvSpPr>
        <p:spPr>
          <a:xfrm>
            <a:off x="7267150" y="3130090"/>
            <a:ext cx="3936003" cy="3068766"/>
          </a:xfrm>
          <a:prstGeom prst="rect">
            <a:avLst/>
          </a:prstGeom>
          <a:noFill/>
          <a:ln/>
        </p:spPr>
        <p:txBody>
          <a:bodyPr wrap="square" rtlCol="0" anchor="ctr"/>
          <a:lstStyle/>
          <a:p>
            <a:pPr marL="285750" indent="-285750">
              <a:lnSpc>
                <a:spcPct val="150000"/>
              </a:lnSpc>
              <a:buFont typeface="Arial" panose="020B0604020202020204" pitchFamily="34" charset="0"/>
              <a:buChar char="•"/>
            </a:pPr>
            <a:r>
              <a:rPr lang="en-GB" sz="1600" dirty="0">
                <a:latin typeface="Arial" panose="020B0604020202020204" pitchFamily="34" charset="0"/>
                <a:cs typeface="Arial" panose="020B0604020202020204" pitchFamily="34" charset="0"/>
              </a:rPr>
              <a:t>Public Administration Leadership Training Programme – Longitudinal Study </a:t>
            </a:r>
          </a:p>
          <a:p>
            <a:pPr marL="285750" indent="-285750">
              <a:lnSpc>
                <a:spcPct val="150000"/>
              </a:lnSpc>
              <a:buFont typeface="Arial" panose="020B0604020202020204" pitchFamily="34" charset="0"/>
              <a:buChar char="•"/>
            </a:pPr>
            <a:r>
              <a:rPr lang="en-GB" sz="1600" dirty="0">
                <a:latin typeface="Arial" panose="020B0604020202020204" pitchFamily="34" charset="0"/>
                <a:cs typeface="Arial" panose="020B0604020202020204" pitchFamily="34" charset="0"/>
              </a:rPr>
              <a:t>Impact Evaluation Report – Labour Dispute Training Programme </a:t>
            </a:r>
          </a:p>
          <a:p>
            <a:pPr marL="285750" indent="-285750">
              <a:lnSpc>
                <a:spcPct val="150000"/>
              </a:lnSpc>
              <a:buFont typeface="Arial" panose="020B0604020202020204" pitchFamily="34" charset="0"/>
              <a:buChar char="•"/>
            </a:pPr>
            <a:r>
              <a:rPr lang="en-GB" sz="1600" dirty="0">
                <a:latin typeface="Arial" panose="020B0604020202020204" pitchFamily="34" charset="0"/>
                <a:cs typeface="Arial" panose="020B0604020202020204" pitchFamily="34" charset="0"/>
              </a:rPr>
              <a:t>PSCBC Corporate Social Responsibility (CSR) Evaluation </a:t>
            </a:r>
          </a:p>
          <a:p>
            <a:pPr marL="285750" indent="-285750">
              <a:lnSpc>
                <a:spcPct val="150000"/>
              </a:lnSpc>
              <a:buFont typeface="Arial" panose="020B0604020202020204" pitchFamily="34" charset="0"/>
              <a:buChar char="•"/>
            </a:pPr>
            <a:endParaRPr lang="en-GB" sz="16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endParaRPr lang="en-GB"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87676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FC204-C161-C5D5-AEBE-0E7D4EA1333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9F26EE2-5F62-903A-2687-4214D5712684}"/>
              </a:ext>
            </a:extLst>
          </p:cNvPr>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2DB6ABC0-9795-A915-6485-2409ECB70A39}"/>
              </a:ext>
            </a:extLst>
          </p:cNvPr>
          <p:cNvSpPr/>
          <p:nvPr/>
        </p:nvSpPr>
        <p:spPr>
          <a:xfrm>
            <a:off x="335280" y="521823"/>
            <a:ext cx="11216640" cy="670560"/>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4" name="Text 2">
            <a:extLst>
              <a:ext uri="{FF2B5EF4-FFF2-40B4-BE49-F238E27FC236}">
                <a16:creationId xmlns:a16="http://schemas.microsoft.com/office/drawing/2014/main" id="{86CCF59B-A3CD-688D-E2F4-87BE72D9313E}"/>
              </a:ext>
            </a:extLst>
          </p:cNvPr>
          <p:cNvSpPr/>
          <p:nvPr/>
        </p:nvSpPr>
        <p:spPr>
          <a:xfrm>
            <a:off x="341376" y="142876"/>
            <a:ext cx="11216640" cy="487680"/>
          </a:xfrm>
          <a:prstGeom prst="rect">
            <a:avLst/>
          </a:prstGeom>
          <a:noFill/>
          <a:ln/>
        </p:spPr>
        <p:txBody>
          <a:bodyPr wrap="square" lIns="0" tIns="0" rIns="0" bIns="0" rtlCol="0" anchor="ctr"/>
          <a:lstStyle/>
          <a:p>
            <a:r>
              <a:rPr lang="en-GB" sz="2400" b="1" dirty="0">
                <a:solidFill>
                  <a:schemeClr val="bg1"/>
                </a:solidFill>
                <a:latin typeface="Arial" panose="020B0604020202020204" pitchFamily="34" charset="0"/>
                <a:cs typeface="Arial" panose="020B0604020202020204" pitchFamily="34" charset="0"/>
              </a:rPr>
              <a:t>RESEARCH PROJECTS</a:t>
            </a:r>
          </a:p>
        </p:txBody>
      </p:sp>
      <p:sp>
        <p:nvSpPr>
          <p:cNvPr id="5" name="Shape 3">
            <a:extLst>
              <a:ext uri="{FF2B5EF4-FFF2-40B4-BE49-F238E27FC236}">
                <a16:creationId xmlns:a16="http://schemas.microsoft.com/office/drawing/2014/main" id="{B52C870D-0B39-3048-EFC0-D624127EB91B}"/>
              </a:ext>
            </a:extLst>
          </p:cNvPr>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3" name="Shape 11">
            <a:extLst>
              <a:ext uri="{FF2B5EF4-FFF2-40B4-BE49-F238E27FC236}">
                <a16:creationId xmlns:a16="http://schemas.microsoft.com/office/drawing/2014/main" id="{021D8576-A799-1963-4857-DDFBC34E1D1F}"/>
              </a:ext>
            </a:extLst>
          </p:cNvPr>
          <p:cNvSpPr/>
          <p:nvPr/>
        </p:nvSpPr>
        <p:spPr>
          <a:xfrm>
            <a:off x="353598" y="2743200"/>
            <a:ext cx="5141428" cy="3957543"/>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GB" sz="16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endParaRPr lang="en-GB" sz="16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endParaRPr lang="en-GB" sz="16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endParaRPr lang="en-GB" sz="16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GB" sz="1600" dirty="0">
                <a:latin typeface="Arial" panose="020B0604020202020204" pitchFamily="34" charset="0"/>
                <a:cs typeface="Arial" panose="020B0604020202020204" pitchFamily="34" charset="0"/>
              </a:rPr>
              <a:t>Breastfeeding and Child Care Facilities Research</a:t>
            </a:r>
          </a:p>
          <a:p>
            <a:pPr marL="285750" indent="-285750">
              <a:lnSpc>
                <a:spcPct val="150000"/>
              </a:lnSpc>
              <a:buFont typeface="Arial" panose="020B0604020202020204" pitchFamily="34" charset="0"/>
              <a:buChar char="•"/>
            </a:pPr>
            <a:r>
              <a:rPr lang="en-GB" sz="1600" dirty="0">
                <a:latin typeface="Arial" panose="020B0604020202020204" pitchFamily="34" charset="0"/>
                <a:cs typeface="Arial" panose="020B0604020202020204" pitchFamily="34" charset="0"/>
              </a:rPr>
              <a:t>Comprehensive Danger Insurance Research </a:t>
            </a:r>
          </a:p>
          <a:p>
            <a:pPr marL="285750" indent="-285750">
              <a:lnSpc>
                <a:spcPct val="150000"/>
              </a:lnSpc>
              <a:buFont typeface="Arial" panose="020B0604020202020204" pitchFamily="34" charset="0"/>
              <a:buChar char="•"/>
            </a:pPr>
            <a:r>
              <a:rPr lang="en-GB" sz="1600" dirty="0">
                <a:latin typeface="Arial" panose="020B0604020202020204" pitchFamily="34" charset="0"/>
                <a:cs typeface="Arial" panose="020B0604020202020204" pitchFamily="34" charset="0"/>
              </a:rPr>
              <a:t>Bursary Scheme Research </a:t>
            </a:r>
          </a:p>
          <a:p>
            <a:endParaRPr lang="en-GB" sz="1600" dirty="0">
              <a:latin typeface="Arial" panose="020B0604020202020204" pitchFamily="34" charset="0"/>
              <a:cs typeface="Arial" panose="020B0604020202020204" pitchFamily="34" charset="0"/>
            </a:endParaRPr>
          </a:p>
          <a:p>
            <a:r>
              <a:rPr lang="en-GB" sz="1600" dirty="0">
                <a:latin typeface="Arial" panose="020B0604020202020204" pitchFamily="34" charset="0"/>
                <a:cs typeface="Arial" panose="020B0604020202020204" pitchFamily="34" charset="0"/>
              </a:rPr>
              <a:t> </a:t>
            </a:r>
          </a:p>
        </p:txBody>
      </p:sp>
      <p:sp>
        <p:nvSpPr>
          <p:cNvPr id="14" name="Shape 12">
            <a:extLst>
              <a:ext uri="{FF2B5EF4-FFF2-40B4-BE49-F238E27FC236}">
                <a16:creationId xmlns:a16="http://schemas.microsoft.com/office/drawing/2014/main" id="{57C9CC83-0C88-665C-CDCE-C6919DB447D3}"/>
              </a:ext>
            </a:extLst>
          </p:cNvPr>
          <p:cNvSpPr/>
          <p:nvPr/>
        </p:nvSpPr>
        <p:spPr>
          <a:xfrm>
            <a:off x="335280" y="1456758"/>
            <a:ext cx="5159746" cy="1386460"/>
          </a:xfrm>
          <a:prstGeom prst="rect">
            <a:avLst/>
          </a:prstGeom>
          <a:solidFill>
            <a:srgbClr val="006E7F"/>
          </a:solidFill>
          <a:ln w="12700">
            <a:solidFill>
              <a:srgbClr val="006E7F"/>
            </a:solidFill>
            <a:prstDash val="solid"/>
          </a:ln>
        </p:spPr>
        <p:txBody>
          <a:bodyPr/>
          <a:lstStyle/>
          <a:p>
            <a:endParaRPr lang="en-ZA" sz="1600" dirty="0">
              <a:latin typeface="Arial" panose="020B0604020202020204" pitchFamily="34" charset="0"/>
              <a:cs typeface="Arial" panose="020B0604020202020204" pitchFamily="34" charset="0"/>
            </a:endParaRPr>
          </a:p>
        </p:txBody>
      </p:sp>
      <p:sp>
        <p:nvSpPr>
          <p:cNvPr id="16" name="Text 14">
            <a:extLst>
              <a:ext uri="{FF2B5EF4-FFF2-40B4-BE49-F238E27FC236}">
                <a16:creationId xmlns:a16="http://schemas.microsoft.com/office/drawing/2014/main" id="{7FC0C7F1-D641-6F61-458D-8CEBB6CCFF21}"/>
              </a:ext>
            </a:extLst>
          </p:cNvPr>
          <p:cNvSpPr/>
          <p:nvPr/>
        </p:nvSpPr>
        <p:spPr>
          <a:xfrm>
            <a:off x="1440611" y="1536950"/>
            <a:ext cx="2542451" cy="1326543"/>
          </a:xfrm>
          <a:prstGeom prst="rect">
            <a:avLst/>
          </a:prstGeom>
          <a:noFill/>
          <a:ln/>
        </p:spPr>
        <p:txBody>
          <a:bodyPr wrap="square" lIns="0" tIns="0" rIns="0" bIns="0" rtlCol="0" anchor="ctr"/>
          <a:lstStyle/>
          <a:p>
            <a:pPr algn="ctr"/>
            <a:r>
              <a:rPr lang="en-US" sz="1600" b="1" dirty="0">
                <a:solidFill>
                  <a:srgbClr val="FFFFFF"/>
                </a:solidFill>
                <a:latin typeface="Arial" panose="020B0604020202020204" pitchFamily="34" charset="0"/>
                <a:ea typeface="Calibri" pitchFamily="34" charset="-122"/>
                <a:cs typeface="Arial" panose="020B0604020202020204" pitchFamily="34" charset="0"/>
              </a:rPr>
              <a:t>RESEARCH PROJECTS IN PROGRESS</a:t>
            </a:r>
          </a:p>
        </p:txBody>
      </p:sp>
      <p:sp>
        <p:nvSpPr>
          <p:cNvPr id="17" name="Text 15">
            <a:extLst>
              <a:ext uri="{FF2B5EF4-FFF2-40B4-BE49-F238E27FC236}">
                <a16:creationId xmlns:a16="http://schemas.microsoft.com/office/drawing/2014/main" id="{DFA49DBE-2524-95F1-FB17-545D54EF467C}"/>
              </a:ext>
            </a:extLst>
          </p:cNvPr>
          <p:cNvSpPr/>
          <p:nvPr/>
        </p:nvSpPr>
        <p:spPr>
          <a:xfrm>
            <a:off x="563951" y="2800208"/>
            <a:ext cx="5023619" cy="3072044"/>
          </a:xfrm>
          <a:prstGeom prst="rect">
            <a:avLst/>
          </a:prstGeom>
          <a:noFill/>
          <a:ln/>
        </p:spPr>
        <p:txBody>
          <a:bodyPr wrap="square" rtlCol="0" anchor="ctr"/>
          <a:lstStyle/>
          <a:p>
            <a:pPr>
              <a:lnSpc>
                <a:spcPct val="150000"/>
              </a:lnSpc>
            </a:pPr>
            <a:endParaRPr lang="en-GB" sz="1600" dirty="0">
              <a:solidFill>
                <a:schemeClr val="tx1">
                  <a:lumMod val="85000"/>
                  <a:lumOff val="15000"/>
                </a:schemeClr>
              </a:solidFill>
              <a:latin typeface="Arial" panose="020B0604020202020204" pitchFamily="34" charset="0"/>
              <a:cs typeface="Arial" panose="020B0604020202020204" pitchFamily="34" charset="0"/>
            </a:endParaRPr>
          </a:p>
        </p:txBody>
      </p:sp>
      <p:sp>
        <p:nvSpPr>
          <p:cNvPr id="21" name="Text 19">
            <a:extLst>
              <a:ext uri="{FF2B5EF4-FFF2-40B4-BE49-F238E27FC236}">
                <a16:creationId xmlns:a16="http://schemas.microsoft.com/office/drawing/2014/main" id="{483F1C82-2A13-3587-53D0-E8C753D6BAEB}"/>
              </a:ext>
            </a:extLst>
          </p:cNvPr>
          <p:cNvSpPr/>
          <p:nvPr/>
        </p:nvSpPr>
        <p:spPr>
          <a:xfrm>
            <a:off x="3725691" y="2106978"/>
            <a:ext cx="3476404" cy="1386460"/>
          </a:xfrm>
          <a:prstGeom prst="rect">
            <a:avLst/>
          </a:prstGeom>
          <a:noFill/>
          <a:ln/>
        </p:spPr>
        <p:txBody>
          <a:bodyPr wrap="square" lIns="0" tIns="0" rIns="0" bIns="0" rtlCol="0" anchor="ctr"/>
          <a:lstStyle/>
          <a:p>
            <a:pPr algn="ctr"/>
            <a:endParaRPr lang="en-US" sz="1600" b="1" dirty="0">
              <a:solidFill>
                <a:srgbClr val="FFFFFF"/>
              </a:solidFill>
              <a:latin typeface="Arial" panose="020B0604020202020204" pitchFamily="34" charset="0"/>
              <a:ea typeface="Calibri" pitchFamily="34" charset="-122"/>
              <a:cs typeface="Arial" panose="020B0604020202020204" pitchFamily="34" charset="0"/>
            </a:endParaRPr>
          </a:p>
        </p:txBody>
      </p:sp>
      <p:sp>
        <p:nvSpPr>
          <p:cNvPr id="22" name="Text 20">
            <a:extLst>
              <a:ext uri="{FF2B5EF4-FFF2-40B4-BE49-F238E27FC236}">
                <a16:creationId xmlns:a16="http://schemas.microsoft.com/office/drawing/2014/main" id="{7A32B738-A11A-31F4-269A-ACA8A9D3292A}"/>
              </a:ext>
            </a:extLst>
          </p:cNvPr>
          <p:cNvSpPr/>
          <p:nvPr/>
        </p:nvSpPr>
        <p:spPr>
          <a:xfrm>
            <a:off x="3983062" y="3705296"/>
            <a:ext cx="3219033" cy="1718153"/>
          </a:xfrm>
          <a:prstGeom prst="rect">
            <a:avLst/>
          </a:prstGeom>
          <a:noFill/>
          <a:ln/>
        </p:spPr>
        <p:txBody>
          <a:bodyPr wrap="square" rtlCol="0" anchor="ctr"/>
          <a:lstStyle/>
          <a:p>
            <a:endParaRPr lang="en-ZA" sz="1600" dirty="0">
              <a:latin typeface="Arial" panose="020B0604020202020204" pitchFamily="34" charset="0"/>
              <a:cs typeface="Arial" panose="020B0604020202020204" pitchFamily="34" charset="0"/>
            </a:endParaRPr>
          </a:p>
        </p:txBody>
      </p:sp>
      <p:sp>
        <p:nvSpPr>
          <p:cNvPr id="23" name="Shape 21">
            <a:extLst>
              <a:ext uri="{FF2B5EF4-FFF2-40B4-BE49-F238E27FC236}">
                <a16:creationId xmlns:a16="http://schemas.microsoft.com/office/drawing/2014/main" id="{66F09DC8-4D55-78DC-C1C3-FCD7B49C588A}"/>
              </a:ext>
            </a:extLst>
          </p:cNvPr>
          <p:cNvSpPr/>
          <p:nvPr/>
        </p:nvSpPr>
        <p:spPr>
          <a:xfrm>
            <a:off x="6918385" y="2743200"/>
            <a:ext cx="4633535" cy="3842546"/>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24" name="Shape 22">
            <a:extLst>
              <a:ext uri="{FF2B5EF4-FFF2-40B4-BE49-F238E27FC236}">
                <a16:creationId xmlns:a16="http://schemas.microsoft.com/office/drawing/2014/main" id="{964F6534-E7D1-6455-8ABC-0E03A5325094}"/>
              </a:ext>
            </a:extLst>
          </p:cNvPr>
          <p:cNvSpPr/>
          <p:nvPr/>
        </p:nvSpPr>
        <p:spPr>
          <a:xfrm>
            <a:off x="6918385" y="1501792"/>
            <a:ext cx="4633535" cy="1370786"/>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26" name="Text 24">
            <a:extLst>
              <a:ext uri="{FF2B5EF4-FFF2-40B4-BE49-F238E27FC236}">
                <a16:creationId xmlns:a16="http://schemas.microsoft.com/office/drawing/2014/main" id="{59B0C7D1-1323-37CB-ED6C-B37DFCAEDBE3}"/>
              </a:ext>
            </a:extLst>
          </p:cNvPr>
          <p:cNvSpPr/>
          <p:nvPr/>
        </p:nvSpPr>
        <p:spPr>
          <a:xfrm>
            <a:off x="8211023" y="1777857"/>
            <a:ext cx="2540365" cy="785312"/>
          </a:xfrm>
          <a:prstGeom prst="rect">
            <a:avLst/>
          </a:prstGeom>
          <a:noFill/>
          <a:ln/>
        </p:spPr>
        <p:txBody>
          <a:bodyPr wrap="square" lIns="0" tIns="0" rIns="0" bIns="0" rtlCol="0" anchor="ctr"/>
          <a:lstStyle/>
          <a:p>
            <a:pPr algn="ctr"/>
            <a:r>
              <a:rPr lang="en-GB" sz="1600" b="1" dirty="0">
                <a:solidFill>
                  <a:schemeClr val="accent5">
                    <a:lumMod val="50000"/>
                  </a:schemeClr>
                </a:solidFill>
                <a:latin typeface="Arial" panose="020B0604020202020204" pitchFamily="34" charset="0"/>
                <a:cs typeface="Arial" panose="020B0604020202020204" pitchFamily="34" charset="0"/>
              </a:rPr>
              <a:t>OVERALL RESEARCH ACHIEVEMNET</a:t>
            </a:r>
          </a:p>
        </p:txBody>
      </p:sp>
      <p:sp>
        <p:nvSpPr>
          <p:cNvPr id="27" name="Text 25">
            <a:extLst>
              <a:ext uri="{FF2B5EF4-FFF2-40B4-BE49-F238E27FC236}">
                <a16:creationId xmlns:a16="http://schemas.microsoft.com/office/drawing/2014/main" id="{665748F3-4DEB-80A6-3F15-B78E974AF798}"/>
              </a:ext>
            </a:extLst>
          </p:cNvPr>
          <p:cNvSpPr/>
          <p:nvPr/>
        </p:nvSpPr>
        <p:spPr>
          <a:xfrm>
            <a:off x="7267150" y="3130090"/>
            <a:ext cx="4284770" cy="3068766"/>
          </a:xfrm>
          <a:prstGeom prst="rect">
            <a:avLst/>
          </a:prstGeom>
          <a:noFill/>
          <a:ln/>
        </p:spPr>
        <p:txBody>
          <a:bodyPr wrap="square" rtlCol="0" anchor="ctr"/>
          <a:lstStyle/>
          <a:p>
            <a:pPr marL="285750" indent="-285750">
              <a:lnSpc>
                <a:spcPct val="150000"/>
              </a:lnSpc>
              <a:buFont typeface="Arial" panose="020B0604020202020204" pitchFamily="34" charset="0"/>
              <a:buChar char="•"/>
            </a:pPr>
            <a:r>
              <a:rPr lang="en-GB" sz="1600" dirty="0">
                <a:latin typeface="Arial" panose="020B0604020202020204" pitchFamily="34" charset="0"/>
                <a:cs typeface="Arial" panose="020B0604020202020204" pitchFamily="34" charset="0"/>
              </a:rPr>
              <a:t>Total Concluded Research Outputs: 13</a:t>
            </a:r>
          </a:p>
          <a:p>
            <a:pPr marL="285750" indent="-285750">
              <a:lnSpc>
                <a:spcPct val="150000"/>
              </a:lnSpc>
              <a:buFont typeface="Arial" panose="020B0604020202020204" pitchFamily="34" charset="0"/>
              <a:buChar char="•"/>
            </a:pPr>
            <a:r>
              <a:rPr lang="en-GB" sz="1600" dirty="0">
                <a:latin typeface="Arial" panose="020B0604020202020204" pitchFamily="34" charset="0"/>
                <a:cs typeface="Arial" panose="020B0604020202020204" pitchFamily="34" charset="0"/>
              </a:rPr>
              <a:t>Total Research Projects In Progress: 3</a:t>
            </a:r>
            <a:br>
              <a:rPr lang="en-GB" sz="1600" dirty="0">
                <a:latin typeface="Arial" panose="020B0604020202020204" pitchFamily="34" charset="0"/>
                <a:cs typeface="Arial" panose="020B0604020202020204" pitchFamily="34" charset="0"/>
              </a:rPr>
            </a:br>
            <a:endParaRPr lang="en-GB" sz="16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endParaRPr lang="en-GB"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817556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BF376-1D84-83DD-7A12-917D90E00A9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C4B9256-4D06-7598-76B2-B6FD68A14B2A}"/>
              </a:ext>
            </a:extLst>
          </p:cNvPr>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E84BA422-F813-962D-4AD3-EE77FB58DA8D}"/>
              </a:ext>
            </a:extLst>
          </p:cNvPr>
          <p:cNvSpPr/>
          <p:nvPr/>
        </p:nvSpPr>
        <p:spPr>
          <a:xfrm>
            <a:off x="487680" y="121920"/>
            <a:ext cx="11216640" cy="670560"/>
          </a:xfrm>
          <a:prstGeom prst="rect">
            <a:avLst/>
          </a:prstGeom>
          <a:noFill/>
          <a:ln/>
        </p:spPr>
        <p:txBody>
          <a:bodyPr wrap="square" lIns="0" tIns="0" rIns="0" bIns="0" rtlCol="0" anchor="ctr"/>
          <a:lstStyle/>
          <a:p>
            <a:r>
              <a:rPr lang="en-ZA" sz="2800" b="1" dirty="0">
                <a:solidFill>
                  <a:schemeClr val="bg1"/>
                </a:solidFill>
                <a:latin typeface="Arial" panose="020B0604020202020204" pitchFamily="34" charset="0"/>
                <a:cs typeface="Arial" panose="020B0604020202020204" pitchFamily="34" charset="0"/>
              </a:rPr>
              <a:t>CORPORATE SERVICES </a:t>
            </a:r>
          </a:p>
        </p:txBody>
      </p:sp>
      <p:sp>
        <p:nvSpPr>
          <p:cNvPr id="4" name="Text 2">
            <a:extLst>
              <a:ext uri="{FF2B5EF4-FFF2-40B4-BE49-F238E27FC236}">
                <a16:creationId xmlns:a16="http://schemas.microsoft.com/office/drawing/2014/main" id="{18D49629-B482-AD65-7371-7D98FAAC5280}"/>
              </a:ext>
            </a:extLst>
          </p:cNvPr>
          <p:cNvSpPr/>
          <p:nvPr/>
        </p:nvSpPr>
        <p:spPr>
          <a:xfrm>
            <a:off x="487680" y="755904"/>
            <a:ext cx="11216640" cy="487680"/>
          </a:xfrm>
          <a:prstGeom prst="rect">
            <a:avLst/>
          </a:prstGeom>
          <a:noFill/>
          <a:ln/>
        </p:spPr>
        <p:txBody>
          <a:bodyPr wrap="square" lIns="0" tIns="0" rIns="0" bIns="0" rtlCol="0" anchor="ctr"/>
          <a:lstStyle/>
          <a:p>
            <a:endParaRPr lang="en-US" sz="1600" dirty="0">
              <a:solidFill>
                <a:schemeClr val="bg1"/>
              </a:solidFill>
              <a:latin typeface="Arial" panose="020B0604020202020204" pitchFamily="34" charset="0"/>
              <a:cs typeface="Arial" panose="020B0604020202020204" pitchFamily="34" charset="0"/>
            </a:endParaRPr>
          </a:p>
        </p:txBody>
      </p:sp>
      <p:sp>
        <p:nvSpPr>
          <p:cNvPr id="5" name="Shape 3">
            <a:extLst>
              <a:ext uri="{FF2B5EF4-FFF2-40B4-BE49-F238E27FC236}">
                <a16:creationId xmlns:a16="http://schemas.microsoft.com/office/drawing/2014/main" id="{744404CF-21F4-0383-4B76-03FFD8AE6327}"/>
              </a:ext>
            </a:extLst>
          </p:cNvPr>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2" name="Shape 10">
            <a:extLst>
              <a:ext uri="{FF2B5EF4-FFF2-40B4-BE49-F238E27FC236}">
                <a16:creationId xmlns:a16="http://schemas.microsoft.com/office/drawing/2014/main" id="{7E70AEBF-4A8D-0E7C-9BF2-5C11CE7A4271}"/>
              </a:ext>
            </a:extLst>
          </p:cNvPr>
          <p:cNvSpPr/>
          <p:nvPr/>
        </p:nvSpPr>
        <p:spPr>
          <a:xfrm>
            <a:off x="365760" y="2560320"/>
            <a:ext cx="11460480" cy="3596640"/>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13" name="Shape 11">
            <a:extLst>
              <a:ext uri="{FF2B5EF4-FFF2-40B4-BE49-F238E27FC236}">
                <a16:creationId xmlns:a16="http://schemas.microsoft.com/office/drawing/2014/main" id="{7C63D835-6014-F5A2-FC56-A001695FA68A}"/>
              </a:ext>
            </a:extLst>
          </p:cNvPr>
          <p:cNvSpPr/>
          <p:nvPr/>
        </p:nvSpPr>
        <p:spPr>
          <a:xfrm>
            <a:off x="365760" y="2560320"/>
            <a:ext cx="11460480" cy="512064"/>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4" name="Text 12">
            <a:extLst>
              <a:ext uri="{FF2B5EF4-FFF2-40B4-BE49-F238E27FC236}">
                <a16:creationId xmlns:a16="http://schemas.microsoft.com/office/drawing/2014/main" id="{F6776830-8939-A1A7-B047-CA0F29B259AF}"/>
              </a:ext>
            </a:extLst>
          </p:cNvPr>
          <p:cNvSpPr/>
          <p:nvPr/>
        </p:nvSpPr>
        <p:spPr>
          <a:xfrm>
            <a:off x="4328160" y="2560320"/>
            <a:ext cx="3413760" cy="512064"/>
          </a:xfrm>
          <a:prstGeom prst="rect">
            <a:avLst/>
          </a:prstGeom>
          <a:noFill/>
          <a:ln/>
        </p:spPr>
        <p:txBody>
          <a:bodyPr wrap="square" lIns="0" tIns="0" rIns="0" bIns="0" rtlCol="0" anchor="ctr"/>
          <a:lstStyle/>
          <a:p>
            <a:pPr algn="ctr"/>
            <a:r>
              <a:rPr lang="en-US" sz="1600" b="1" dirty="0">
                <a:solidFill>
                  <a:srgbClr val="FFFFFF"/>
                </a:solidFill>
                <a:latin typeface="Arial" panose="020B0604020202020204" pitchFamily="34" charset="0"/>
                <a:ea typeface="Calibri" pitchFamily="34" charset="-122"/>
                <a:cs typeface="Arial" panose="020B0604020202020204" pitchFamily="34" charset="0"/>
              </a:rPr>
              <a:t>MANDATE</a:t>
            </a:r>
            <a:endParaRPr lang="en-US" sz="1600" dirty="0">
              <a:latin typeface="Arial" panose="020B0604020202020204" pitchFamily="34" charset="0"/>
              <a:cs typeface="Arial" panose="020B0604020202020204" pitchFamily="34" charset="0"/>
            </a:endParaRPr>
          </a:p>
        </p:txBody>
      </p:sp>
      <p:sp>
        <p:nvSpPr>
          <p:cNvPr id="15" name="Text 13">
            <a:extLst>
              <a:ext uri="{FF2B5EF4-FFF2-40B4-BE49-F238E27FC236}">
                <a16:creationId xmlns:a16="http://schemas.microsoft.com/office/drawing/2014/main" id="{876B248A-3A61-5C1C-0B63-2CE3D9EB0422}"/>
              </a:ext>
            </a:extLst>
          </p:cNvPr>
          <p:cNvSpPr/>
          <p:nvPr/>
        </p:nvSpPr>
        <p:spPr>
          <a:xfrm>
            <a:off x="365760" y="3169920"/>
            <a:ext cx="11460480" cy="2865120"/>
          </a:xfrm>
          <a:prstGeom prst="rect">
            <a:avLst/>
          </a:prstGeom>
          <a:noFill/>
          <a:ln/>
        </p:spPr>
        <p:txBody>
          <a:bodyPr wrap="square" rtlCol="0" anchor="ctr"/>
          <a:lstStyle/>
          <a:p>
            <a:pPr lvl="0" algn="just">
              <a:tabLst>
                <a:tab pos="342900" algn="l"/>
                <a:tab pos="914400" algn="l"/>
                <a:tab pos="1371600" algn="l"/>
                <a:tab pos="1828800" algn="l"/>
                <a:tab pos="2286000" algn="l"/>
                <a:tab pos="2743200" algn="l"/>
                <a:tab pos="3200400" algn="l"/>
                <a:tab pos="3657600" algn="l"/>
                <a:tab pos="4114800" algn="l"/>
                <a:tab pos="4572000" algn="l"/>
                <a:tab pos="5029200" algn="l"/>
                <a:tab pos="5486400" algn="l"/>
              </a:tabLst>
            </a:pPr>
            <a:r>
              <a:rPr lang="en-ZA" dirty="0">
                <a:latin typeface="Arial" panose="020B0604020202020204" pitchFamily="34" charset="0"/>
                <a:cs typeface="Arial" panose="020B0604020202020204" pitchFamily="34" charset="0"/>
              </a:rPr>
              <a:t>To enable the PSCBC to achieve its core mandate through the provision of </a:t>
            </a:r>
            <a:r>
              <a:rPr lang="en-US" dirty="0">
                <a:solidFill>
                  <a:srgbClr val="000000"/>
                </a:solidFill>
                <a:latin typeface="Arial" panose="020B0604020202020204" pitchFamily="34" charset="0"/>
                <a:ea typeface="Calibri" panose="020F0502020204030204" pitchFamily="34" charset="0"/>
                <a:cs typeface="Arial" panose="020B0604020202020204" pitchFamily="34" charset="0"/>
              </a:rPr>
              <a:t>finance, human capital,                         procurement, logistics &amp; facilities management.</a:t>
            </a:r>
          </a:p>
        </p:txBody>
      </p:sp>
      <p:pic>
        <p:nvPicPr>
          <p:cNvPr id="20" name="Graphic 19" descr="Badge Tick with solid fill">
            <a:extLst>
              <a:ext uri="{FF2B5EF4-FFF2-40B4-BE49-F238E27FC236}">
                <a16:creationId xmlns:a16="http://schemas.microsoft.com/office/drawing/2014/main" id="{3F319A7E-0128-3B1C-507A-76F948E2842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5760" y="2485139"/>
            <a:ext cx="654072" cy="662425"/>
          </a:xfrm>
          <a:prstGeom prst="rect">
            <a:avLst/>
          </a:prstGeom>
        </p:spPr>
      </p:pic>
      <p:sp>
        <p:nvSpPr>
          <p:cNvPr id="6" name="Oval 5">
            <a:extLst>
              <a:ext uri="{FF2B5EF4-FFF2-40B4-BE49-F238E27FC236}">
                <a16:creationId xmlns:a16="http://schemas.microsoft.com/office/drawing/2014/main" id="{3F3E3803-3033-363A-1DBF-3C1AF3C3883F}"/>
              </a:ext>
            </a:extLst>
          </p:cNvPr>
          <p:cNvSpPr/>
          <p:nvPr/>
        </p:nvSpPr>
        <p:spPr>
          <a:xfrm>
            <a:off x="11002126" y="316433"/>
            <a:ext cx="844610" cy="833493"/>
          </a:xfrm>
          <a:prstGeom prst="ellipse">
            <a:avLst/>
          </a:prstGeom>
          <a:solidFill>
            <a:srgbClr val="FFFFFF"/>
          </a:solidFill>
          <a:ln w="9525" cap="flat" cmpd="sng" algn="ctr">
            <a:no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srgbClr val="000000"/>
              </a:solidFill>
              <a:effectLst/>
              <a:uLnTx/>
              <a:uFillTx/>
              <a:latin typeface="Arial"/>
              <a:ea typeface="+mn-ea"/>
              <a:cs typeface="+mn-cs"/>
            </a:endParaRPr>
          </a:p>
        </p:txBody>
      </p:sp>
      <p:pic>
        <p:nvPicPr>
          <p:cNvPr id="8" name="Graphic 7" descr="Coins outline">
            <a:extLst>
              <a:ext uri="{FF2B5EF4-FFF2-40B4-BE49-F238E27FC236}">
                <a16:creationId xmlns:a16="http://schemas.microsoft.com/office/drawing/2014/main" id="{CBFC8DD6-646F-83F3-9421-DEB10A540ED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168925" y="464348"/>
            <a:ext cx="535395" cy="535395"/>
          </a:xfrm>
          <a:prstGeom prst="rect">
            <a:avLst/>
          </a:prstGeom>
        </p:spPr>
      </p:pic>
    </p:spTree>
    <p:extLst>
      <p:ext uri="{BB962C8B-B14F-4D97-AF65-F5344CB8AC3E}">
        <p14:creationId xmlns:p14="http://schemas.microsoft.com/office/powerpoint/2010/main" val="16233821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509E5-1FA4-BE74-AB2C-8045838878E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EC7E7B4-1B88-0E7D-CD37-60471BD6AAD3}"/>
              </a:ext>
            </a:extLst>
          </p:cNvPr>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53B8B1C9-02E0-46EE-90C2-3C907D415769}"/>
              </a:ext>
            </a:extLst>
          </p:cNvPr>
          <p:cNvSpPr/>
          <p:nvPr/>
        </p:nvSpPr>
        <p:spPr>
          <a:xfrm>
            <a:off x="487680" y="121920"/>
            <a:ext cx="11216640" cy="670560"/>
          </a:xfrm>
          <a:prstGeom prst="rect">
            <a:avLst/>
          </a:prstGeom>
          <a:noFill/>
          <a:ln/>
        </p:spPr>
        <p:txBody>
          <a:bodyPr wrap="square" lIns="0" tIns="0" rIns="0" bIns="0" rtlCol="0" anchor="ctr"/>
          <a:lstStyle/>
          <a:p>
            <a:r>
              <a:rPr lang="en-US" sz="2800" b="1" dirty="0">
                <a:solidFill>
                  <a:schemeClr val="bg1"/>
                </a:solidFill>
                <a:latin typeface="Arial" panose="020B0604020202020204" pitchFamily="34" charset="0"/>
                <a:cs typeface="Arial" panose="020B0604020202020204" pitchFamily="34" charset="0"/>
              </a:rPr>
              <a:t>Finance - Income</a:t>
            </a:r>
            <a:endParaRPr lang="en-US" sz="2667" dirty="0">
              <a:solidFill>
                <a:schemeClr val="bg1"/>
              </a:solidFill>
              <a:latin typeface="Arial" panose="020B0604020202020204" pitchFamily="34" charset="0"/>
              <a:cs typeface="Arial" panose="020B0604020202020204" pitchFamily="34" charset="0"/>
            </a:endParaRPr>
          </a:p>
        </p:txBody>
      </p:sp>
      <p:sp>
        <p:nvSpPr>
          <p:cNvPr id="5" name="Shape 3">
            <a:extLst>
              <a:ext uri="{FF2B5EF4-FFF2-40B4-BE49-F238E27FC236}">
                <a16:creationId xmlns:a16="http://schemas.microsoft.com/office/drawing/2014/main" id="{C8380955-8C02-9DA0-F820-EC19CED65154}"/>
              </a:ext>
            </a:extLst>
          </p:cNvPr>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7" name="Shape 5">
            <a:extLst>
              <a:ext uri="{FF2B5EF4-FFF2-40B4-BE49-F238E27FC236}">
                <a16:creationId xmlns:a16="http://schemas.microsoft.com/office/drawing/2014/main" id="{61125027-8D19-95E4-A532-E97BFFBFD748}"/>
              </a:ext>
            </a:extLst>
          </p:cNvPr>
          <p:cNvSpPr/>
          <p:nvPr/>
        </p:nvSpPr>
        <p:spPr>
          <a:xfrm>
            <a:off x="365760" y="1560576"/>
            <a:ext cx="85344" cy="1097280"/>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1" name="Shape 9">
            <a:extLst>
              <a:ext uri="{FF2B5EF4-FFF2-40B4-BE49-F238E27FC236}">
                <a16:creationId xmlns:a16="http://schemas.microsoft.com/office/drawing/2014/main" id="{9FFB2954-B139-7AB9-07E0-FD294385D1AF}"/>
              </a:ext>
            </a:extLst>
          </p:cNvPr>
          <p:cNvSpPr/>
          <p:nvPr/>
        </p:nvSpPr>
        <p:spPr>
          <a:xfrm>
            <a:off x="365760" y="2804160"/>
            <a:ext cx="85344" cy="109728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5" name="Shape 13">
            <a:extLst>
              <a:ext uri="{FF2B5EF4-FFF2-40B4-BE49-F238E27FC236}">
                <a16:creationId xmlns:a16="http://schemas.microsoft.com/office/drawing/2014/main" id="{0CF91A32-FEA9-EE84-256C-9B7B9C55F353}"/>
              </a:ext>
            </a:extLst>
          </p:cNvPr>
          <p:cNvSpPr/>
          <p:nvPr/>
        </p:nvSpPr>
        <p:spPr>
          <a:xfrm>
            <a:off x="365760" y="4047744"/>
            <a:ext cx="85344" cy="1097280"/>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8" name="Shape 16">
            <a:extLst>
              <a:ext uri="{FF2B5EF4-FFF2-40B4-BE49-F238E27FC236}">
                <a16:creationId xmlns:a16="http://schemas.microsoft.com/office/drawing/2014/main" id="{A0D86021-4C76-BB24-84DC-BBDF54D1DFA9}"/>
              </a:ext>
            </a:extLst>
          </p:cNvPr>
          <p:cNvSpPr/>
          <p:nvPr/>
        </p:nvSpPr>
        <p:spPr>
          <a:xfrm>
            <a:off x="517672" y="1560576"/>
            <a:ext cx="5644896" cy="4828032"/>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19" name="Shape 17">
            <a:extLst>
              <a:ext uri="{FF2B5EF4-FFF2-40B4-BE49-F238E27FC236}">
                <a16:creationId xmlns:a16="http://schemas.microsoft.com/office/drawing/2014/main" id="{F7167BBF-B702-3F0D-B2D8-3EAF676F33FD}"/>
              </a:ext>
            </a:extLst>
          </p:cNvPr>
          <p:cNvSpPr/>
          <p:nvPr/>
        </p:nvSpPr>
        <p:spPr>
          <a:xfrm>
            <a:off x="365760" y="5291328"/>
            <a:ext cx="85344" cy="109728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7A06EFD0-52AA-7272-7267-8098A33651D3}"/>
              </a:ext>
            </a:extLst>
          </p:cNvPr>
          <p:cNvSpPr txBox="1"/>
          <p:nvPr/>
        </p:nvSpPr>
        <p:spPr>
          <a:xfrm>
            <a:off x="517672" y="2339584"/>
            <a:ext cx="5503565" cy="3293209"/>
          </a:xfrm>
          <a:prstGeom prst="rect">
            <a:avLst/>
          </a:prstGeom>
          <a:solidFill>
            <a:schemeClr val="accent5">
              <a:lumMod val="50000"/>
            </a:schemeClr>
          </a:solidFill>
        </p:spPr>
        <p:txBody>
          <a:bodyPr wrap="square">
            <a:spAutoFit/>
          </a:bodyPr>
          <a:lstStyle/>
          <a:p>
            <a:pPr fontAlgn="base"/>
            <a:r>
              <a:rPr lang="en-ZA" sz="1600" b="1" dirty="0">
                <a:solidFill>
                  <a:schemeClr val="bg1"/>
                </a:solidFill>
                <a:latin typeface="Arial" panose="020B0604020202020204" pitchFamily="34" charset="0"/>
                <a:cs typeface="Arial" panose="020B0604020202020204" pitchFamily="34" charset="0"/>
              </a:rPr>
              <a:t>Total Income – Levy Account</a:t>
            </a:r>
            <a:r>
              <a:rPr lang="en-ZA" sz="1600" dirty="0">
                <a:solidFill>
                  <a:schemeClr val="bg1"/>
                </a:solidFill>
                <a:latin typeface="Arial" panose="020B0604020202020204" pitchFamily="34" charset="0"/>
                <a:cs typeface="Arial" panose="020B0604020202020204" pitchFamily="34" charset="0"/>
              </a:rPr>
              <a:t> </a:t>
            </a:r>
          </a:p>
          <a:p>
            <a:pPr fontAlgn="base"/>
            <a:r>
              <a:rPr lang="en-ZA" sz="1600" dirty="0">
                <a:solidFill>
                  <a:schemeClr val="bg1"/>
                </a:solidFill>
                <a:latin typeface="Arial" panose="020B0604020202020204" pitchFamily="34" charset="0"/>
                <a:cs typeface="Arial" panose="020B0604020202020204" pitchFamily="34" charset="0"/>
              </a:rPr>
              <a:t>The overall income for the Council during the 2025/2026 financial year was R 55 038 258.27. </a:t>
            </a:r>
          </a:p>
          <a:p>
            <a:pPr fontAlgn="base"/>
            <a:endParaRPr lang="en-ZA" sz="1600" dirty="0">
              <a:solidFill>
                <a:schemeClr val="bg1"/>
              </a:solidFill>
              <a:latin typeface="Arial" panose="020B0604020202020204" pitchFamily="34" charset="0"/>
              <a:cs typeface="Arial" panose="020B0604020202020204" pitchFamily="34" charset="0"/>
            </a:endParaRPr>
          </a:p>
          <a:p>
            <a:pPr fontAlgn="base"/>
            <a:r>
              <a:rPr lang="en-ZA" sz="1600" dirty="0">
                <a:solidFill>
                  <a:schemeClr val="bg1"/>
                </a:solidFill>
                <a:latin typeface="Arial" panose="020B0604020202020204" pitchFamily="34" charset="0"/>
                <a:cs typeface="Arial" panose="020B0604020202020204" pitchFamily="34" charset="0"/>
              </a:rPr>
              <a:t>The income base remained stable and predictable, with income primarily derived from levies. Total income for the period is categorised as follows:  </a:t>
            </a:r>
          </a:p>
          <a:p>
            <a:pPr fontAlgn="base"/>
            <a:endParaRPr lang="en-US" sz="1600" dirty="0">
              <a:solidFill>
                <a:schemeClr val="bg1"/>
              </a:solidFill>
              <a:latin typeface="Arial" panose="020B0604020202020204" pitchFamily="34" charset="0"/>
              <a:cs typeface="Arial" panose="020B0604020202020204" pitchFamily="34" charset="0"/>
            </a:endParaRPr>
          </a:p>
          <a:p>
            <a:pPr marL="285750" indent="-285750" fontAlgn="base">
              <a:buFont typeface="Arial" panose="020B0604020202020204" pitchFamily="34" charset="0"/>
              <a:buChar char="•"/>
            </a:pPr>
            <a:r>
              <a:rPr lang="en-US" sz="1600" dirty="0">
                <a:solidFill>
                  <a:schemeClr val="bg1"/>
                </a:solidFill>
                <a:latin typeface="Arial" panose="020B0604020202020204" pitchFamily="34" charset="0"/>
                <a:cs typeface="Arial" panose="020B0604020202020204" pitchFamily="34" charset="0"/>
              </a:rPr>
              <a:t>96% was generated out of the levies from the public service as per Resolution 2 of 2013.</a:t>
            </a:r>
            <a:r>
              <a:rPr lang="en-ZA" sz="1600" dirty="0">
                <a:solidFill>
                  <a:schemeClr val="bg1"/>
                </a:solidFill>
                <a:latin typeface="Arial" panose="020B0604020202020204" pitchFamily="34" charset="0"/>
                <a:cs typeface="Arial" panose="020B0604020202020204" pitchFamily="34" charset="0"/>
              </a:rPr>
              <a:t> </a:t>
            </a:r>
          </a:p>
          <a:p>
            <a:pPr marL="285750" indent="-285750" fontAlgn="base">
              <a:buFont typeface="Arial" panose="020B0604020202020204" pitchFamily="34" charset="0"/>
              <a:buChar char="•"/>
            </a:pPr>
            <a:r>
              <a:rPr lang="en-US" sz="1600" dirty="0">
                <a:solidFill>
                  <a:schemeClr val="bg1"/>
                </a:solidFill>
                <a:latin typeface="Arial" panose="020B0604020202020204" pitchFamily="34" charset="0"/>
                <a:cs typeface="Arial" panose="020B0604020202020204" pitchFamily="34" charset="0"/>
              </a:rPr>
              <a:t>3% was generated from interest earned on levies and accumulated reserves.</a:t>
            </a:r>
            <a:endParaRPr lang="en-ZA" sz="1600" dirty="0">
              <a:solidFill>
                <a:schemeClr val="bg1"/>
              </a:solidFill>
              <a:latin typeface="Arial" panose="020B0604020202020204" pitchFamily="34" charset="0"/>
              <a:cs typeface="Arial" panose="020B0604020202020204" pitchFamily="34" charset="0"/>
            </a:endParaRPr>
          </a:p>
          <a:p>
            <a:pPr marL="285750" indent="-285750" fontAlgn="base">
              <a:buFont typeface="Arial" panose="020B0604020202020204" pitchFamily="34" charset="0"/>
              <a:buChar char="•"/>
            </a:pPr>
            <a:r>
              <a:rPr lang="en-US" sz="1600" dirty="0">
                <a:solidFill>
                  <a:schemeClr val="bg1"/>
                </a:solidFill>
                <a:latin typeface="Arial" panose="020B0604020202020204" pitchFamily="34" charset="0"/>
                <a:cs typeface="Arial" panose="020B0604020202020204" pitchFamily="34" charset="0"/>
              </a:rPr>
              <a:t>1% was generated from other income sources.</a:t>
            </a:r>
            <a:r>
              <a:rPr lang="en-ZA" sz="1600" dirty="0">
                <a:solidFill>
                  <a:schemeClr val="bg1"/>
                </a:solidFill>
                <a:latin typeface="Arial" panose="020B0604020202020204" pitchFamily="34" charset="0"/>
                <a:cs typeface="Arial" panose="020B0604020202020204" pitchFamily="34" charset="0"/>
              </a:rPr>
              <a:t> </a:t>
            </a:r>
          </a:p>
        </p:txBody>
      </p:sp>
      <p:pic>
        <p:nvPicPr>
          <p:cNvPr id="9" name="Picture 8">
            <a:extLst>
              <a:ext uri="{FF2B5EF4-FFF2-40B4-BE49-F238E27FC236}">
                <a16:creationId xmlns:a16="http://schemas.microsoft.com/office/drawing/2014/main" id="{8A8B3DAC-6C20-6B2D-5BB1-470062D12574}"/>
              </a:ext>
            </a:extLst>
          </p:cNvPr>
          <p:cNvPicPr>
            <a:picLocks noChangeAspect="1"/>
          </p:cNvPicPr>
          <p:nvPr/>
        </p:nvPicPr>
        <p:blipFill>
          <a:blip r:embed="rId3"/>
          <a:stretch>
            <a:fillRect/>
          </a:stretch>
        </p:blipFill>
        <p:spPr>
          <a:xfrm>
            <a:off x="6096000" y="2462153"/>
            <a:ext cx="5744954" cy="3200400"/>
          </a:xfrm>
          <a:prstGeom prst="rect">
            <a:avLst/>
          </a:prstGeom>
        </p:spPr>
      </p:pic>
    </p:spTree>
    <p:extLst>
      <p:ext uri="{BB962C8B-B14F-4D97-AF65-F5344CB8AC3E}">
        <p14:creationId xmlns:p14="http://schemas.microsoft.com/office/powerpoint/2010/main" val="11247259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053DD-7D4E-9FBA-F762-B144E76D320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A5235EB-5521-A871-EF83-3B6E2CE05842}"/>
              </a:ext>
            </a:extLst>
          </p:cNvPr>
          <p:cNvSpPr/>
          <p:nvPr/>
        </p:nvSpPr>
        <p:spPr>
          <a:xfrm>
            <a:off x="0" y="-32809"/>
            <a:ext cx="12192000" cy="1341120"/>
          </a:xfrm>
          <a:prstGeom prst="rect">
            <a:avLst/>
          </a:prstGeom>
          <a:solidFill>
            <a:srgbClr val="1A3A5C"/>
          </a:solidFill>
          <a:ln w="12700">
            <a:solidFill>
              <a:srgbClr val="1A3A5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DF33D0C7-2463-D95F-EF88-BE8DF8A03AB5}"/>
              </a:ext>
            </a:extLst>
          </p:cNvPr>
          <p:cNvSpPr/>
          <p:nvPr/>
        </p:nvSpPr>
        <p:spPr>
          <a:xfrm>
            <a:off x="487680" y="121920"/>
            <a:ext cx="11216640" cy="670560"/>
          </a:xfrm>
          <a:prstGeom prst="rect">
            <a:avLst/>
          </a:prstGeom>
          <a:noFill/>
          <a:ln/>
        </p:spPr>
        <p:txBody>
          <a:bodyPr wrap="square" lIns="0" tIns="0" rIns="0" bIns="0" rtlCol="0" anchor="ctr"/>
          <a:lstStyle/>
          <a:p>
            <a:r>
              <a:rPr lang="en-US" sz="2800" b="1" dirty="0">
                <a:solidFill>
                  <a:schemeClr val="bg1"/>
                </a:solidFill>
                <a:latin typeface="Arial" panose="020B0604020202020204" pitchFamily="34" charset="0"/>
                <a:cs typeface="Arial" panose="020B0604020202020204" pitchFamily="34" charset="0"/>
              </a:rPr>
              <a:t>HR-Talent Management</a:t>
            </a:r>
          </a:p>
        </p:txBody>
      </p:sp>
      <p:sp>
        <p:nvSpPr>
          <p:cNvPr id="5" name="Shape 3">
            <a:extLst>
              <a:ext uri="{FF2B5EF4-FFF2-40B4-BE49-F238E27FC236}">
                <a16:creationId xmlns:a16="http://schemas.microsoft.com/office/drawing/2014/main" id="{CE415156-9657-27F6-D00E-E8796BA196D5}"/>
              </a:ext>
            </a:extLst>
          </p:cNvPr>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4" name="Text 5">
            <a:extLst>
              <a:ext uri="{FF2B5EF4-FFF2-40B4-BE49-F238E27FC236}">
                <a16:creationId xmlns:a16="http://schemas.microsoft.com/office/drawing/2014/main" id="{611F83AD-F36C-4980-3EAD-F3BAF9D6E0CD}"/>
              </a:ext>
            </a:extLst>
          </p:cNvPr>
          <p:cNvSpPr/>
          <p:nvPr/>
        </p:nvSpPr>
        <p:spPr>
          <a:xfrm>
            <a:off x="341376" y="2365248"/>
            <a:ext cx="11641348" cy="1511808"/>
          </a:xfrm>
          <a:prstGeom prst="rect">
            <a:avLst/>
          </a:prstGeom>
          <a:noFill/>
          <a:ln/>
        </p:spPr>
        <p:txBody>
          <a:bodyPr wrap="square" rtlCol="0" anchor="ctr"/>
          <a:lstStyle/>
          <a:p>
            <a:pPr algn="just"/>
            <a:r>
              <a:rPr lang="en-GB" sz="1600" i="1" dirty="0">
                <a:solidFill>
                  <a:srgbClr val="1C2B3A"/>
                </a:solidFill>
                <a:latin typeface="Arial" panose="020B0604020202020204" pitchFamily="34" charset="0"/>
                <a:ea typeface="Calibri" pitchFamily="34" charset="-122"/>
                <a:cs typeface="Arial" panose="020B0604020202020204" pitchFamily="34" charset="0"/>
              </a:rPr>
              <a:t>During the period under review, the PSCBC celebrated a 10-year service milestone for six (06) staff members. These milestones are in addition to the more than fifteen (15) staff members who already have over ten years of service within the Council. This achievement not only reflects positively on the individuals concerned, but also strengthens the collective institutional knowledge and organisational continuity within the PSCBC. As a result, approximately 55% of the PSCBC staff complement now comprises employees with more than a decade of service to the Council, demonstrating a strong culture of staff retention and organisational commitment. </a:t>
            </a:r>
          </a:p>
        </p:txBody>
      </p:sp>
      <p:sp>
        <p:nvSpPr>
          <p:cNvPr id="7" name="Shape 6">
            <a:extLst>
              <a:ext uri="{FF2B5EF4-FFF2-40B4-BE49-F238E27FC236}">
                <a16:creationId xmlns:a16="http://schemas.microsoft.com/office/drawing/2014/main" id="{AA479303-B406-B012-2BD9-0EAB92B1B3B1}"/>
              </a:ext>
            </a:extLst>
          </p:cNvPr>
          <p:cNvSpPr/>
          <p:nvPr/>
        </p:nvSpPr>
        <p:spPr>
          <a:xfrm>
            <a:off x="444002" y="1633728"/>
            <a:ext cx="11460480" cy="694944"/>
          </a:xfrm>
          <a:prstGeom prst="rect">
            <a:avLst/>
          </a:prstGeom>
          <a:solidFill>
            <a:schemeClr val="accent5">
              <a:lumMod val="50000"/>
            </a:schemeClr>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8" name="Shape 7">
            <a:extLst>
              <a:ext uri="{FF2B5EF4-FFF2-40B4-BE49-F238E27FC236}">
                <a16:creationId xmlns:a16="http://schemas.microsoft.com/office/drawing/2014/main" id="{8CFC4699-04B5-A95D-2AC2-ECB0EAD31990}"/>
              </a:ext>
            </a:extLst>
          </p:cNvPr>
          <p:cNvSpPr/>
          <p:nvPr/>
        </p:nvSpPr>
        <p:spPr>
          <a:xfrm>
            <a:off x="358658" y="1633728"/>
            <a:ext cx="85344" cy="694944"/>
          </a:xfrm>
          <a:prstGeom prst="rect">
            <a:avLst/>
          </a:prstGeom>
          <a:solidFill>
            <a:schemeClr val="accent4">
              <a:lumMod val="75000"/>
            </a:schemeClr>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9" name="Text 8">
            <a:extLst>
              <a:ext uri="{FF2B5EF4-FFF2-40B4-BE49-F238E27FC236}">
                <a16:creationId xmlns:a16="http://schemas.microsoft.com/office/drawing/2014/main" id="{74D1925B-044F-EA5E-5337-BF4FABCB76F8}"/>
              </a:ext>
            </a:extLst>
          </p:cNvPr>
          <p:cNvSpPr/>
          <p:nvPr/>
        </p:nvSpPr>
        <p:spPr>
          <a:xfrm>
            <a:off x="4803648" y="1792224"/>
            <a:ext cx="4267200" cy="341376"/>
          </a:xfrm>
          <a:prstGeom prst="rect">
            <a:avLst/>
          </a:prstGeom>
          <a:noFill/>
          <a:ln/>
        </p:spPr>
        <p:txBody>
          <a:bodyPr wrap="square" lIns="0" tIns="0" rIns="0" bIns="0" rtlCol="0" anchor="ctr"/>
          <a:lstStyle/>
          <a:p>
            <a:r>
              <a:rPr lang="en-US" sz="1600" b="1" dirty="0">
                <a:solidFill>
                  <a:schemeClr val="bg1"/>
                </a:solidFill>
                <a:latin typeface="Arial" panose="020B0604020202020204" pitchFamily="34" charset="0"/>
                <a:ea typeface="Calibri" pitchFamily="34" charset="-122"/>
                <a:cs typeface="Arial" panose="020B0604020202020204" pitchFamily="34" charset="0"/>
              </a:rPr>
              <a:t>STAFF RETENTION </a:t>
            </a:r>
          </a:p>
        </p:txBody>
      </p:sp>
      <p:sp>
        <p:nvSpPr>
          <p:cNvPr id="10" name="Text 9">
            <a:extLst>
              <a:ext uri="{FF2B5EF4-FFF2-40B4-BE49-F238E27FC236}">
                <a16:creationId xmlns:a16="http://schemas.microsoft.com/office/drawing/2014/main" id="{E40EF594-1596-0082-E5D4-27DE01330B84}"/>
              </a:ext>
            </a:extLst>
          </p:cNvPr>
          <p:cNvSpPr/>
          <p:nvPr/>
        </p:nvSpPr>
        <p:spPr>
          <a:xfrm>
            <a:off x="945886" y="1987296"/>
            <a:ext cx="10972800" cy="341376"/>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11" name="Text 10">
            <a:extLst>
              <a:ext uri="{FF2B5EF4-FFF2-40B4-BE49-F238E27FC236}">
                <a16:creationId xmlns:a16="http://schemas.microsoft.com/office/drawing/2014/main" id="{E4D64280-B447-F92A-B3FA-C368316C1FDC}"/>
              </a:ext>
            </a:extLst>
          </p:cNvPr>
          <p:cNvSpPr/>
          <p:nvPr/>
        </p:nvSpPr>
        <p:spPr>
          <a:xfrm>
            <a:off x="365760" y="3450336"/>
            <a:ext cx="11460480" cy="390144"/>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13" name="Shape 12">
            <a:extLst>
              <a:ext uri="{FF2B5EF4-FFF2-40B4-BE49-F238E27FC236}">
                <a16:creationId xmlns:a16="http://schemas.microsoft.com/office/drawing/2014/main" id="{3A220901-9BB2-8F8A-837D-BCA1119F55BC}"/>
              </a:ext>
            </a:extLst>
          </p:cNvPr>
          <p:cNvSpPr/>
          <p:nvPr/>
        </p:nvSpPr>
        <p:spPr>
          <a:xfrm>
            <a:off x="444002" y="3962400"/>
            <a:ext cx="11538722" cy="487680"/>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4" name="Text 13">
            <a:extLst>
              <a:ext uri="{FF2B5EF4-FFF2-40B4-BE49-F238E27FC236}">
                <a16:creationId xmlns:a16="http://schemas.microsoft.com/office/drawing/2014/main" id="{21237A1A-1BEF-BE60-F58E-69DFC659C8AD}"/>
              </a:ext>
            </a:extLst>
          </p:cNvPr>
          <p:cNvSpPr/>
          <p:nvPr/>
        </p:nvSpPr>
        <p:spPr>
          <a:xfrm>
            <a:off x="365760" y="3962400"/>
            <a:ext cx="512064" cy="487680"/>
          </a:xfrm>
          <a:prstGeom prst="rect">
            <a:avLst/>
          </a:prstGeom>
          <a:noFill/>
          <a:ln/>
        </p:spPr>
        <p:txBody>
          <a:bodyPr wrap="square" lIns="0" tIns="0" rIns="0" bIns="0" rtlCol="0" anchor="ctr"/>
          <a:lstStyle/>
          <a:p>
            <a:pPr algn="ctr"/>
            <a:endParaRPr lang="en-US" sz="1600" dirty="0">
              <a:latin typeface="Arial" panose="020B0604020202020204" pitchFamily="34" charset="0"/>
              <a:cs typeface="Arial" panose="020B0604020202020204" pitchFamily="34" charset="0"/>
            </a:endParaRPr>
          </a:p>
        </p:txBody>
      </p:sp>
      <p:sp>
        <p:nvSpPr>
          <p:cNvPr id="15" name="Text 14">
            <a:extLst>
              <a:ext uri="{FF2B5EF4-FFF2-40B4-BE49-F238E27FC236}">
                <a16:creationId xmlns:a16="http://schemas.microsoft.com/office/drawing/2014/main" id="{6662C21A-DF3D-469C-61CC-373C2B14F515}"/>
              </a:ext>
            </a:extLst>
          </p:cNvPr>
          <p:cNvSpPr/>
          <p:nvPr/>
        </p:nvSpPr>
        <p:spPr>
          <a:xfrm>
            <a:off x="5189235" y="3970020"/>
            <a:ext cx="2048256" cy="487680"/>
          </a:xfrm>
          <a:prstGeom prst="rect">
            <a:avLst/>
          </a:prstGeom>
          <a:noFill/>
          <a:ln/>
        </p:spPr>
        <p:txBody>
          <a:bodyPr wrap="square" lIns="0" tIns="0" rIns="0" bIns="0" rtlCol="0" anchor="ctr"/>
          <a:lstStyle/>
          <a:p>
            <a:r>
              <a:rPr lang="en-US" sz="1600" b="1" dirty="0">
                <a:solidFill>
                  <a:srgbClr val="FFFFFF"/>
                </a:solidFill>
                <a:latin typeface="Arial" panose="020B0604020202020204" pitchFamily="34" charset="0"/>
                <a:ea typeface="Calibri" pitchFamily="34" charset="-122"/>
                <a:cs typeface="Arial" panose="020B0604020202020204" pitchFamily="34" charset="0"/>
              </a:rPr>
              <a:t>APPOINTMENTS</a:t>
            </a:r>
          </a:p>
        </p:txBody>
      </p:sp>
      <p:sp>
        <p:nvSpPr>
          <p:cNvPr id="16" name="Text 15">
            <a:extLst>
              <a:ext uri="{FF2B5EF4-FFF2-40B4-BE49-F238E27FC236}">
                <a16:creationId xmlns:a16="http://schemas.microsoft.com/office/drawing/2014/main" id="{A037EB78-A6BD-F2F5-0B7E-D971D07150FB}"/>
              </a:ext>
            </a:extLst>
          </p:cNvPr>
          <p:cNvSpPr/>
          <p:nvPr/>
        </p:nvSpPr>
        <p:spPr>
          <a:xfrm>
            <a:off x="358658" y="4178463"/>
            <a:ext cx="11538722" cy="2298192"/>
          </a:xfrm>
          <a:prstGeom prst="rect">
            <a:avLst/>
          </a:prstGeom>
          <a:noFill/>
          <a:ln/>
        </p:spPr>
        <p:txBody>
          <a:bodyPr wrap="square" rtlCol="0" anchor="ctr"/>
          <a:lstStyle/>
          <a:p>
            <a:pPr algn="just"/>
            <a:r>
              <a:rPr lang="en-GB" sz="1600" dirty="0">
                <a:solidFill>
                  <a:srgbClr val="1C2B3A"/>
                </a:solidFill>
                <a:latin typeface="Arial" panose="020B0604020202020204" pitchFamily="34" charset="0"/>
                <a:ea typeface="Calibri" pitchFamily="34" charset="-122"/>
                <a:cs typeface="Arial" panose="020B0604020202020204" pitchFamily="34" charset="0"/>
              </a:rPr>
              <a:t>During the period under review, the following appointments were made in a phased approach and in line with the operational requirements of the Council. Furthermore, in support of the operationalization of the Trade Unions Management Sub-unit, Mr. </a:t>
            </a:r>
            <a:r>
              <a:rPr lang="en-GB" sz="1600" dirty="0" err="1">
                <a:solidFill>
                  <a:srgbClr val="1C2B3A"/>
                </a:solidFill>
                <a:latin typeface="Arial" panose="020B0604020202020204" pitchFamily="34" charset="0"/>
                <a:ea typeface="Calibri" pitchFamily="34" charset="-122"/>
                <a:cs typeface="Arial" panose="020B0604020202020204" pitchFamily="34" charset="0"/>
              </a:rPr>
              <a:t>Tseke</a:t>
            </a:r>
            <a:r>
              <a:rPr lang="en-GB" sz="1600" dirty="0">
                <a:solidFill>
                  <a:srgbClr val="1C2B3A"/>
                </a:solidFill>
                <a:latin typeface="Arial" panose="020B0604020202020204" pitchFamily="34" charset="0"/>
                <a:ea typeface="Calibri" pitchFamily="34" charset="-122"/>
                <a:cs typeface="Arial" panose="020B0604020202020204" pitchFamily="34" charset="0"/>
              </a:rPr>
              <a:t> Mphahlele was promoted to the position of Senior Officer: Trade Unions. </a:t>
            </a:r>
          </a:p>
          <a:p>
            <a:pPr algn="just"/>
            <a:endParaRPr lang="en-GB" sz="1600" dirty="0">
              <a:solidFill>
                <a:srgbClr val="1C2B3A"/>
              </a:solidFill>
              <a:latin typeface="Arial" panose="020B0604020202020204" pitchFamily="34" charset="0"/>
              <a:ea typeface="Calibri" pitchFamily="34" charset="-122"/>
              <a:cs typeface="Arial" panose="020B0604020202020204" pitchFamily="34" charset="0"/>
            </a:endParaRPr>
          </a:p>
          <a:p>
            <a:pPr algn="just"/>
            <a:r>
              <a:rPr lang="en-GB" sz="1600" dirty="0">
                <a:solidFill>
                  <a:srgbClr val="1C2B3A"/>
                </a:solidFill>
                <a:latin typeface="Arial" panose="020B0604020202020204" pitchFamily="34" charset="0"/>
                <a:ea typeface="Calibri" pitchFamily="34" charset="-122"/>
                <a:cs typeface="Arial" panose="020B0604020202020204" pitchFamily="34" charset="0"/>
              </a:rPr>
              <a:t>The Council remains committed to filling vacancies in a phased and sustainable manner, subject to operational requirements and organisational priorities. Accordingly, during the period under review, the Council successfully filled six (06) vacancies to ensure the effective implementation and achievement of its strategic objectives. </a:t>
            </a:r>
          </a:p>
        </p:txBody>
      </p:sp>
      <p:sp>
        <p:nvSpPr>
          <p:cNvPr id="19" name="Text 18">
            <a:extLst>
              <a:ext uri="{FF2B5EF4-FFF2-40B4-BE49-F238E27FC236}">
                <a16:creationId xmlns:a16="http://schemas.microsoft.com/office/drawing/2014/main" id="{1A67981E-A7DE-5F9E-74A4-339C21A25452}"/>
              </a:ext>
            </a:extLst>
          </p:cNvPr>
          <p:cNvSpPr/>
          <p:nvPr/>
        </p:nvSpPr>
        <p:spPr>
          <a:xfrm>
            <a:off x="3267456" y="3962400"/>
            <a:ext cx="512064" cy="487680"/>
          </a:xfrm>
          <a:prstGeom prst="rect">
            <a:avLst/>
          </a:prstGeom>
          <a:noFill/>
          <a:ln/>
        </p:spPr>
        <p:txBody>
          <a:bodyPr wrap="square" lIns="0" tIns="0" rIns="0" bIns="0" rtlCol="0" anchor="ctr"/>
          <a:lstStyle/>
          <a:p>
            <a:pPr algn="ctr"/>
            <a:endParaRPr lang="en-US" sz="1600" dirty="0">
              <a:latin typeface="Arial" panose="020B0604020202020204" pitchFamily="34" charset="0"/>
              <a:cs typeface="Arial" panose="020B0604020202020204" pitchFamily="34" charset="0"/>
            </a:endParaRPr>
          </a:p>
        </p:txBody>
      </p:sp>
      <p:sp>
        <p:nvSpPr>
          <p:cNvPr id="20" name="Text 19">
            <a:extLst>
              <a:ext uri="{FF2B5EF4-FFF2-40B4-BE49-F238E27FC236}">
                <a16:creationId xmlns:a16="http://schemas.microsoft.com/office/drawing/2014/main" id="{F6B2AC6E-D9E4-4D71-BD26-5076BED33F73}"/>
              </a:ext>
            </a:extLst>
          </p:cNvPr>
          <p:cNvSpPr/>
          <p:nvPr/>
        </p:nvSpPr>
        <p:spPr>
          <a:xfrm>
            <a:off x="3790528" y="4093464"/>
            <a:ext cx="2048256" cy="487680"/>
          </a:xfrm>
          <a:prstGeom prst="rect">
            <a:avLst/>
          </a:prstGeom>
          <a:noFill/>
          <a:ln/>
        </p:spPr>
        <p:txBody>
          <a:bodyPr wrap="square" lIns="0" tIns="0" rIns="0" bIns="0" rtlCol="0" anchor="ctr"/>
          <a:lstStyle/>
          <a:p>
            <a:r>
              <a:rPr lang="en-US" sz="1600" b="1" dirty="0">
                <a:solidFill>
                  <a:srgbClr val="FFFFFF"/>
                </a:solidFill>
                <a:latin typeface="Arial" panose="020B0604020202020204" pitchFamily="34" charset="0"/>
                <a:ea typeface="Calibri" pitchFamily="34" charset="-122"/>
                <a:cs typeface="Arial" panose="020B0604020202020204" pitchFamily="34" charset="0"/>
              </a:rPr>
              <a:t> </a:t>
            </a:r>
          </a:p>
        </p:txBody>
      </p:sp>
      <p:sp>
        <p:nvSpPr>
          <p:cNvPr id="21" name="Text 20">
            <a:extLst>
              <a:ext uri="{FF2B5EF4-FFF2-40B4-BE49-F238E27FC236}">
                <a16:creationId xmlns:a16="http://schemas.microsoft.com/office/drawing/2014/main" id="{BD804A23-5B38-640A-7375-8DD7E66AD162}"/>
              </a:ext>
            </a:extLst>
          </p:cNvPr>
          <p:cNvSpPr/>
          <p:nvPr/>
        </p:nvSpPr>
        <p:spPr>
          <a:xfrm>
            <a:off x="3805324" y="4514088"/>
            <a:ext cx="2438400" cy="158496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
        <p:nvSpPr>
          <p:cNvPr id="24" name="Text 23">
            <a:extLst>
              <a:ext uri="{FF2B5EF4-FFF2-40B4-BE49-F238E27FC236}">
                <a16:creationId xmlns:a16="http://schemas.microsoft.com/office/drawing/2014/main" id="{BE07FFF1-7AA0-628D-AE0B-5010A4793842}"/>
              </a:ext>
            </a:extLst>
          </p:cNvPr>
          <p:cNvSpPr/>
          <p:nvPr/>
        </p:nvSpPr>
        <p:spPr>
          <a:xfrm>
            <a:off x="6169152" y="3962400"/>
            <a:ext cx="512064" cy="487680"/>
          </a:xfrm>
          <a:prstGeom prst="rect">
            <a:avLst/>
          </a:prstGeom>
          <a:noFill/>
          <a:ln/>
        </p:spPr>
        <p:txBody>
          <a:bodyPr wrap="square" lIns="0" tIns="0" rIns="0" bIns="0" rtlCol="0" anchor="ctr"/>
          <a:lstStyle/>
          <a:p>
            <a:pPr algn="ctr"/>
            <a:endParaRPr lang="en-US" sz="1600" dirty="0">
              <a:latin typeface="Arial" panose="020B0604020202020204" pitchFamily="34" charset="0"/>
              <a:cs typeface="Arial" panose="020B0604020202020204" pitchFamily="34" charset="0"/>
            </a:endParaRPr>
          </a:p>
        </p:txBody>
      </p:sp>
      <p:sp>
        <p:nvSpPr>
          <p:cNvPr id="25" name="Text 24">
            <a:extLst>
              <a:ext uri="{FF2B5EF4-FFF2-40B4-BE49-F238E27FC236}">
                <a16:creationId xmlns:a16="http://schemas.microsoft.com/office/drawing/2014/main" id="{6D6D722B-324F-0495-954A-35E66F37172D}"/>
              </a:ext>
            </a:extLst>
          </p:cNvPr>
          <p:cNvSpPr/>
          <p:nvPr/>
        </p:nvSpPr>
        <p:spPr>
          <a:xfrm>
            <a:off x="6699504" y="4093464"/>
            <a:ext cx="2048256" cy="487680"/>
          </a:xfrm>
          <a:prstGeom prst="rect">
            <a:avLst/>
          </a:prstGeom>
          <a:noFill/>
          <a:ln/>
        </p:spPr>
        <p:txBody>
          <a:bodyPr wrap="square" lIns="0" tIns="0" rIns="0" bIns="0" rtlCol="0" anchor="ctr"/>
          <a:lstStyle/>
          <a:p>
            <a:r>
              <a:rPr lang="en-US" sz="1600" b="1" dirty="0">
                <a:solidFill>
                  <a:srgbClr val="FFFFFF"/>
                </a:solidFill>
                <a:latin typeface="Arial" panose="020B0604020202020204" pitchFamily="34" charset="0"/>
                <a:ea typeface="Calibri" pitchFamily="34" charset="-122"/>
                <a:cs typeface="Arial" panose="020B0604020202020204" pitchFamily="34" charset="0"/>
              </a:rPr>
              <a:t> </a:t>
            </a:r>
          </a:p>
        </p:txBody>
      </p:sp>
      <p:sp>
        <p:nvSpPr>
          <p:cNvPr id="26" name="Text 25">
            <a:extLst>
              <a:ext uri="{FF2B5EF4-FFF2-40B4-BE49-F238E27FC236}">
                <a16:creationId xmlns:a16="http://schemas.microsoft.com/office/drawing/2014/main" id="{59BA765D-F12C-98E6-12F7-312622B77FD1}"/>
              </a:ext>
            </a:extLst>
          </p:cNvPr>
          <p:cNvSpPr/>
          <p:nvPr/>
        </p:nvSpPr>
        <p:spPr>
          <a:xfrm>
            <a:off x="6291072" y="4535424"/>
            <a:ext cx="2438400" cy="158496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
        <p:nvSpPr>
          <p:cNvPr id="29" name="Text 28">
            <a:extLst>
              <a:ext uri="{FF2B5EF4-FFF2-40B4-BE49-F238E27FC236}">
                <a16:creationId xmlns:a16="http://schemas.microsoft.com/office/drawing/2014/main" id="{5F2C4BCA-CE91-C97B-9C44-8AD0327B4CCF}"/>
              </a:ext>
            </a:extLst>
          </p:cNvPr>
          <p:cNvSpPr/>
          <p:nvPr/>
        </p:nvSpPr>
        <p:spPr>
          <a:xfrm>
            <a:off x="9070848" y="3962400"/>
            <a:ext cx="512064" cy="487680"/>
          </a:xfrm>
          <a:prstGeom prst="rect">
            <a:avLst/>
          </a:prstGeom>
          <a:noFill/>
          <a:ln/>
        </p:spPr>
        <p:txBody>
          <a:bodyPr wrap="square" lIns="0" tIns="0" rIns="0" bIns="0" rtlCol="0" anchor="ctr"/>
          <a:lstStyle/>
          <a:p>
            <a:pPr algn="ctr"/>
            <a:endParaRPr lang="en-US" sz="1600" dirty="0">
              <a:latin typeface="Arial" panose="020B0604020202020204" pitchFamily="34" charset="0"/>
              <a:cs typeface="Arial" panose="020B0604020202020204" pitchFamily="34" charset="0"/>
            </a:endParaRPr>
          </a:p>
        </p:txBody>
      </p:sp>
      <p:sp>
        <p:nvSpPr>
          <p:cNvPr id="30" name="Text 29">
            <a:extLst>
              <a:ext uri="{FF2B5EF4-FFF2-40B4-BE49-F238E27FC236}">
                <a16:creationId xmlns:a16="http://schemas.microsoft.com/office/drawing/2014/main" id="{37B60A34-E02B-F515-3632-3D24E74F8FAF}"/>
              </a:ext>
            </a:extLst>
          </p:cNvPr>
          <p:cNvSpPr/>
          <p:nvPr/>
        </p:nvSpPr>
        <p:spPr>
          <a:xfrm>
            <a:off x="9619488" y="3962400"/>
            <a:ext cx="2048256" cy="487680"/>
          </a:xfrm>
          <a:prstGeom prst="rect">
            <a:avLst/>
          </a:prstGeom>
          <a:noFill/>
          <a:ln/>
        </p:spPr>
        <p:txBody>
          <a:bodyPr wrap="square" lIns="0" tIns="0" rIns="0" bIns="0" rtlCol="0" anchor="ctr"/>
          <a:lstStyle/>
          <a:p>
            <a:endParaRPr lang="en-US" sz="1600" b="1" dirty="0">
              <a:solidFill>
                <a:srgbClr val="FFFFFF"/>
              </a:solidFill>
              <a:latin typeface="Arial" panose="020B0604020202020204" pitchFamily="34" charset="0"/>
              <a:ea typeface="Calibri" pitchFamily="34" charset="-122"/>
              <a:cs typeface="Arial" panose="020B0604020202020204" pitchFamily="34" charset="0"/>
            </a:endParaRPr>
          </a:p>
        </p:txBody>
      </p:sp>
      <p:sp>
        <p:nvSpPr>
          <p:cNvPr id="31" name="Text 30">
            <a:extLst>
              <a:ext uri="{FF2B5EF4-FFF2-40B4-BE49-F238E27FC236}">
                <a16:creationId xmlns:a16="http://schemas.microsoft.com/office/drawing/2014/main" id="{EB4DBFEA-6201-227C-2591-0AF07EBCA5FD}"/>
              </a:ext>
            </a:extLst>
          </p:cNvPr>
          <p:cNvSpPr/>
          <p:nvPr/>
        </p:nvSpPr>
        <p:spPr>
          <a:xfrm>
            <a:off x="9192768" y="4535424"/>
            <a:ext cx="2438400" cy="158496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885300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B71FB-B5CF-EDF7-387F-6D53B98F952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2F0359A-4006-E595-53D5-01630B27FAAE}"/>
              </a:ext>
            </a:extLst>
          </p:cNvPr>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622C815B-C831-0264-0E42-C109B65E2CA3}"/>
              </a:ext>
            </a:extLst>
          </p:cNvPr>
          <p:cNvSpPr/>
          <p:nvPr/>
        </p:nvSpPr>
        <p:spPr>
          <a:xfrm>
            <a:off x="487680" y="121920"/>
            <a:ext cx="11216640" cy="670560"/>
          </a:xfrm>
          <a:prstGeom prst="rect">
            <a:avLst/>
          </a:prstGeom>
          <a:noFill/>
          <a:ln/>
        </p:spPr>
        <p:txBody>
          <a:bodyPr wrap="square" lIns="0" tIns="0" rIns="0" bIns="0" rtlCol="0" anchor="ctr"/>
          <a:lstStyle/>
          <a:p>
            <a:endParaRPr lang="en-US" sz="2667" dirty="0">
              <a:solidFill>
                <a:schemeClr val="bg1"/>
              </a:solidFill>
              <a:latin typeface="Arial" panose="020B0604020202020204" pitchFamily="34" charset="0"/>
              <a:cs typeface="Arial" panose="020B0604020202020204" pitchFamily="34" charset="0"/>
            </a:endParaRPr>
          </a:p>
        </p:txBody>
      </p:sp>
      <p:sp>
        <p:nvSpPr>
          <p:cNvPr id="5" name="Shape 3">
            <a:extLst>
              <a:ext uri="{FF2B5EF4-FFF2-40B4-BE49-F238E27FC236}">
                <a16:creationId xmlns:a16="http://schemas.microsoft.com/office/drawing/2014/main" id="{D3BCE7CF-EFE1-AFBD-557C-87CEB8006295}"/>
              </a:ext>
            </a:extLst>
          </p:cNvPr>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4" name="Text 5">
            <a:extLst>
              <a:ext uri="{FF2B5EF4-FFF2-40B4-BE49-F238E27FC236}">
                <a16:creationId xmlns:a16="http://schemas.microsoft.com/office/drawing/2014/main" id="{6DCD2E54-14A1-865A-934E-F745B08930E4}"/>
              </a:ext>
            </a:extLst>
          </p:cNvPr>
          <p:cNvSpPr/>
          <p:nvPr/>
        </p:nvSpPr>
        <p:spPr>
          <a:xfrm>
            <a:off x="341376" y="2365248"/>
            <a:ext cx="11641348" cy="1511808"/>
          </a:xfrm>
          <a:prstGeom prst="rect">
            <a:avLst/>
          </a:prstGeom>
          <a:noFill/>
          <a:ln/>
        </p:spPr>
        <p:txBody>
          <a:bodyPr wrap="square" rtlCol="0" anchor="ctr"/>
          <a:lstStyle/>
          <a:p>
            <a:pPr algn="just"/>
            <a:r>
              <a:rPr lang="en-GB" sz="1600" i="1" dirty="0">
                <a:solidFill>
                  <a:srgbClr val="1C2B3A"/>
                </a:solidFill>
                <a:latin typeface="Arial" panose="020B0604020202020204" pitchFamily="34" charset="0"/>
                <a:ea typeface="Calibri" pitchFamily="34" charset="-122"/>
                <a:cs typeface="Arial" panose="020B0604020202020204" pitchFamily="34" charset="0"/>
              </a:rPr>
              <a:t>The Council continued to provide a valuable stepping stone for employees seeking to grow professionally and explore opportunities in other industries and working environments. During the period under review, the Council bid farewell to the colleagues listed below, following the receipt of their resignations. </a:t>
            </a:r>
          </a:p>
        </p:txBody>
      </p:sp>
      <p:sp>
        <p:nvSpPr>
          <p:cNvPr id="7" name="Shape 6">
            <a:extLst>
              <a:ext uri="{FF2B5EF4-FFF2-40B4-BE49-F238E27FC236}">
                <a16:creationId xmlns:a16="http://schemas.microsoft.com/office/drawing/2014/main" id="{C0223B37-BC13-A24F-898E-A2896AF5A981}"/>
              </a:ext>
            </a:extLst>
          </p:cNvPr>
          <p:cNvSpPr/>
          <p:nvPr/>
        </p:nvSpPr>
        <p:spPr>
          <a:xfrm>
            <a:off x="444002" y="1633728"/>
            <a:ext cx="11460480" cy="694944"/>
          </a:xfrm>
          <a:prstGeom prst="rect">
            <a:avLst/>
          </a:prstGeom>
          <a:solidFill>
            <a:schemeClr val="accent5">
              <a:lumMod val="50000"/>
            </a:schemeClr>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8" name="Shape 7">
            <a:extLst>
              <a:ext uri="{FF2B5EF4-FFF2-40B4-BE49-F238E27FC236}">
                <a16:creationId xmlns:a16="http://schemas.microsoft.com/office/drawing/2014/main" id="{40742443-E6B9-9AC5-826A-86A6301EC75E}"/>
              </a:ext>
            </a:extLst>
          </p:cNvPr>
          <p:cNvSpPr/>
          <p:nvPr/>
        </p:nvSpPr>
        <p:spPr>
          <a:xfrm>
            <a:off x="358658" y="1633728"/>
            <a:ext cx="85344" cy="694944"/>
          </a:xfrm>
          <a:prstGeom prst="rect">
            <a:avLst/>
          </a:prstGeom>
          <a:solidFill>
            <a:schemeClr val="accent4">
              <a:lumMod val="75000"/>
            </a:schemeClr>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9" name="Text 8">
            <a:extLst>
              <a:ext uri="{FF2B5EF4-FFF2-40B4-BE49-F238E27FC236}">
                <a16:creationId xmlns:a16="http://schemas.microsoft.com/office/drawing/2014/main" id="{462770E0-F8F6-4710-2816-29027722A079}"/>
              </a:ext>
            </a:extLst>
          </p:cNvPr>
          <p:cNvSpPr/>
          <p:nvPr/>
        </p:nvSpPr>
        <p:spPr>
          <a:xfrm>
            <a:off x="4803648" y="1792224"/>
            <a:ext cx="4267200" cy="341376"/>
          </a:xfrm>
          <a:prstGeom prst="rect">
            <a:avLst/>
          </a:prstGeom>
          <a:noFill/>
          <a:ln/>
        </p:spPr>
        <p:txBody>
          <a:bodyPr wrap="square" lIns="0" tIns="0" rIns="0" bIns="0" rtlCol="0" anchor="ctr"/>
          <a:lstStyle/>
          <a:p>
            <a:r>
              <a:rPr lang="en-US" sz="1600" b="1" dirty="0">
                <a:solidFill>
                  <a:schemeClr val="bg1"/>
                </a:solidFill>
                <a:latin typeface="Arial" panose="020B0604020202020204" pitchFamily="34" charset="0"/>
                <a:ea typeface="Calibri" pitchFamily="34" charset="-122"/>
                <a:cs typeface="Arial" panose="020B0604020202020204" pitchFamily="34" charset="0"/>
              </a:rPr>
              <a:t>TERMINATIONS </a:t>
            </a:r>
          </a:p>
        </p:txBody>
      </p:sp>
      <p:sp>
        <p:nvSpPr>
          <p:cNvPr id="10" name="Text 9">
            <a:extLst>
              <a:ext uri="{FF2B5EF4-FFF2-40B4-BE49-F238E27FC236}">
                <a16:creationId xmlns:a16="http://schemas.microsoft.com/office/drawing/2014/main" id="{23FCC852-54EF-66B4-7D05-740BC115FEAF}"/>
              </a:ext>
            </a:extLst>
          </p:cNvPr>
          <p:cNvSpPr/>
          <p:nvPr/>
        </p:nvSpPr>
        <p:spPr>
          <a:xfrm>
            <a:off x="945886" y="1987296"/>
            <a:ext cx="10972800" cy="341376"/>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11" name="Text 10">
            <a:extLst>
              <a:ext uri="{FF2B5EF4-FFF2-40B4-BE49-F238E27FC236}">
                <a16:creationId xmlns:a16="http://schemas.microsoft.com/office/drawing/2014/main" id="{0A9976A4-D1EC-E6CA-57F1-D4C4E1979046}"/>
              </a:ext>
            </a:extLst>
          </p:cNvPr>
          <p:cNvSpPr/>
          <p:nvPr/>
        </p:nvSpPr>
        <p:spPr>
          <a:xfrm>
            <a:off x="365760" y="3450336"/>
            <a:ext cx="11460480" cy="390144"/>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13" name="Shape 12">
            <a:extLst>
              <a:ext uri="{FF2B5EF4-FFF2-40B4-BE49-F238E27FC236}">
                <a16:creationId xmlns:a16="http://schemas.microsoft.com/office/drawing/2014/main" id="{9A7C8432-15B6-3E6E-B1DB-65626FA43D2F}"/>
              </a:ext>
            </a:extLst>
          </p:cNvPr>
          <p:cNvSpPr/>
          <p:nvPr/>
        </p:nvSpPr>
        <p:spPr>
          <a:xfrm>
            <a:off x="444002" y="3962400"/>
            <a:ext cx="11538722" cy="487680"/>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4" name="Text 13">
            <a:extLst>
              <a:ext uri="{FF2B5EF4-FFF2-40B4-BE49-F238E27FC236}">
                <a16:creationId xmlns:a16="http://schemas.microsoft.com/office/drawing/2014/main" id="{10DA67E1-3DBB-3C8B-3339-56336BCD5D26}"/>
              </a:ext>
            </a:extLst>
          </p:cNvPr>
          <p:cNvSpPr/>
          <p:nvPr/>
        </p:nvSpPr>
        <p:spPr>
          <a:xfrm>
            <a:off x="365760" y="3962400"/>
            <a:ext cx="512064" cy="487680"/>
          </a:xfrm>
          <a:prstGeom prst="rect">
            <a:avLst/>
          </a:prstGeom>
          <a:noFill/>
          <a:ln/>
        </p:spPr>
        <p:txBody>
          <a:bodyPr wrap="square" lIns="0" tIns="0" rIns="0" bIns="0" rtlCol="0" anchor="ctr"/>
          <a:lstStyle/>
          <a:p>
            <a:pPr algn="ctr"/>
            <a:endParaRPr lang="en-US" sz="1600" dirty="0">
              <a:latin typeface="Arial" panose="020B0604020202020204" pitchFamily="34" charset="0"/>
              <a:cs typeface="Arial" panose="020B0604020202020204" pitchFamily="34" charset="0"/>
            </a:endParaRPr>
          </a:p>
        </p:txBody>
      </p:sp>
      <p:sp>
        <p:nvSpPr>
          <p:cNvPr id="15" name="Text 14">
            <a:extLst>
              <a:ext uri="{FF2B5EF4-FFF2-40B4-BE49-F238E27FC236}">
                <a16:creationId xmlns:a16="http://schemas.microsoft.com/office/drawing/2014/main" id="{55B635AB-FFB4-B496-DD30-F9247E95B29D}"/>
              </a:ext>
            </a:extLst>
          </p:cNvPr>
          <p:cNvSpPr/>
          <p:nvPr/>
        </p:nvSpPr>
        <p:spPr>
          <a:xfrm>
            <a:off x="5189235" y="3970020"/>
            <a:ext cx="2048256" cy="487680"/>
          </a:xfrm>
          <a:prstGeom prst="rect">
            <a:avLst/>
          </a:prstGeom>
          <a:noFill/>
          <a:ln/>
        </p:spPr>
        <p:txBody>
          <a:bodyPr wrap="square" lIns="0" tIns="0" rIns="0" bIns="0" rtlCol="0" anchor="ctr"/>
          <a:lstStyle/>
          <a:p>
            <a:r>
              <a:rPr lang="en-US" sz="1600" b="1" dirty="0">
                <a:solidFill>
                  <a:srgbClr val="FFFFFF"/>
                </a:solidFill>
                <a:latin typeface="Arial" panose="020B0604020202020204" pitchFamily="34" charset="0"/>
                <a:ea typeface="Calibri" pitchFamily="34" charset="-122"/>
                <a:cs typeface="Arial" panose="020B0604020202020204" pitchFamily="34" charset="0"/>
              </a:rPr>
              <a:t>RETIREMENT  </a:t>
            </a:r>
          </a:p>
        </p:txBody>
      </p:sp>
      <p:sp>
        <p:nvSpPr>
          <p:cNvPr id="16" name="Text 15">
            <a:extLst>
              <a:ext uri="{FF2B5EF4-FFF2-40B4-BE49-F238E27FC236}">
                <a16:creationId xmlns:a16="http://schemas.microsoft.com/office/drawing/2014/main" id="{AD8BF66B-6FC6-0E48-97F7-3A2A8B6C5E73}"/>
              </a:ext>
            </a:extLst>
          </p:cNvPr>
          <p:cNvSpPr/>
          <p:nvPr/>
        </p:nvSpPr>
        <p:spPr>
          <a:xfrm>
            <a:off x="365760" y="4288536"/>
            <a:ext cx="11538722" cy="2298192"/>
          </a:xfrm>
          <a:prstGeom prst="rect">
            <a:avLst/>
          </a:prstGeom>
          <a:noFill/>
          <a:ln/>
        </p:spPr>
        <p:txBody>
          <a:bodyPr wrap="square" rtlCol="0" anchor="ctr"/>
          <a:lstStyle/>
          <a:p>
            <a:pPr algn="just"/>
            <a:r>
              <a:rPr lang="en-GB" sz="1600" dirty="0">
                <a:solidFill>
                  <a:srgbClr val="1C2B3A"/>
                </a:solidFill>
                <a:latin typeface="Arial" panose="020B0604020202020204" pitchFamily="34" charset="0"/>
                <a:ea typeface="Calibri" pitchFamily="34" charset="-122"/>
                <a:cs typeface="Arial" panose="020B0604020202020204" pitchFamily="34" charset="0"/>
              </a:rPr>
              <a:t>During the period under review, the Council bid farewell to Ms. Jemina </a:t>
            </a:r>
            <a:r>
              <a:rPr lang="en-GB" sz="1600" dirty="0" err="1">
                <a:solidFill>
                  <a:srgbClr val="1C2B3A"/>
                </a:solidFill>
                <a:latin typeface="Arial" panose="020B0604020202020204" pitchFamily="34" charset="0"/>
                <a:ea typeface="Calibri" pitchFamily="34" charset="-122"/>
                <a:cs typeface="Arial" panose="020B0604020202020204" pitchFamily="34" charset="0"/>
              </a:rPr>
              <a:t>Kutumela</a:t>
            </a:r>
            <a:r>
              <a:rPr lang="en-GB" sz="1600" dirty="0">
                <a:solidFill>
                  <a:srgbClr val="1C2B3A"/>
                </a:solidFill>
                <a:latin typeface="Arial" panose="020B0604020202020204" pitchFamily="34" charset="0"/>
                <a:ea typeface="Calibri" pitchFamily="34" charset="-122"/>
                <a:cs typeface="Arial" panose="020B0604020202020204" pitchFamily="34" charset="0"/>
              </a:rPr>
              <a:t>, who elected to take early retirement after eighteen (18) years of dedicated service to the Council. Ms. </a:t>
            </a:r>
            <a:r>
              <a:rPr lang="en-GB" sz="1600" dirty="0" err="1">
                <a:solidFill>
                  <a:srgbClr val="1C2B3A"/>
                </a:solidFill>
                <a:latin typeface="Arial" panose="020B0604020202020204" pitchFamily="34" charset="0"/>
                <a:ea typeface="Calibri" pitchFamily="34" charset="-122"/>
                <a:cs typeface="Arial" panose="020B0604020202020204" pitchFamily="34" charset="0"/>
              </a:rPr>
              <a:t>Kutumela</a:t>
            </a:r>
            <a:r>
              <a:rPr lang="en-GB" sz="1600" dirty="0">
                <a:solidFill>
                  <a:srgbClr val="1C2B3A"/>
                </a:solidFill>
                <a:latin typeface="Arial" panose="020B0604020202020204" pitchFamily="34" charset="0"/>
                <a:ea typeface="Calibri" pitchFamily="34" charset="-122"/>
                <a:cs typeface="Arial" panose="020B0604020202020204" pitchFamily="34" charset="0"/>
              </a:rPr>
              <a:t> joined the Council on 01 June 2007 as a Cleaner. Through her hard work, commitment, and willingness to learn, she was appointed in an acting capacity as Receptionist in September 2010 and was subsequently promoted to the permanent position of Receptionist on 01 December 2013, a role she occupied with distinction until her retirement. </a:t>
            </a:r>
          </a:p>
        </p:txBody>
      </p:sp>
      <p:sp>
        <p:nvSpPr>
          <p:cNvPr id="19" name="Text 18">
            <a:extLst>
              <a:ext uri="{FF2B5EF4-FFF2-40B4-BE49-F238E27FC236}">
                <a16:creationId xmlns:a16="http://schemas.microsoft.com/office/drawing/2014/main" id="{CEAB5512-EEC6-6E3E-A181-20C65F01C605}"/>
              </a:ext>
            </a:extLst>
          </p:cNvPr>
          <p:cNvSpPr/>
          <p:nvPr/>
        </p:nvSpPr>
        <p:spPr>
          <a:xfrm>
            <a:off x="3267456" y="3962400"/>
            <a:ext cx="512064" cy="487680"/>
          </a:xfrm>
          <a:prstGeom prst="rect">
            <a:avLst/>
          </a:prstGeom>
          <a:noFill/>
          <a:ln/>
        </p:spPr>
        <p:txBody>
          <a:bodyPr wrap="square" lIns="0" tIns="0" rIns="0" bIns="0" rtlCol="0" anchor="ctr"/>
          <a:lstStyle/>
          <a:p>
            <a:pPr algn="ctr"/>
            <a:endParaRPr lang="en-US" sz="1600" dirty="0">
              <a:latin typeface="Arial" panose="020B0604020202020204" pitchFamily="34" charset="0"/>
              <a:cs typeface="Arial" panose="020B0604020202020204" pitchFamily="34" charset="0"/>
            </a:endParaRPr>
          </a:p>
        </p:txBody>
      </p:sp>
      <p:sp>
        <p:nvSpPr>
          <p:cNvPr id="20" name="Text 19">
            <a:extLst>
              <a:ext uri="{FF2B5EF4-FFF2-40B4-BE49-F238E27FC236}">
                <a16:creationId xmlns:a16="http://schemas.microsoft.com/office/drawing/2014/main" id="{427731F2-E582-11CB-3531-6EC922299375}"/>
              </a:ext>
            </a:extLst>
          </p:cNvPr>
          <p:cNvSpPr/>
          <p:nvPr/>
        </p:nvSpPr>
        <p:spPr>
          <a:xfrm>
            <a:off x="3790528" y="4093464"/>
            <a:ext cx="2048256" cy="487680"/>
          </a:xfrm>
          <a:prstGeom prst="rect">
            <a:avLst/>
          </a:prstGeom>
          <a:noFill/>
          <a:ln/>
        </p:spPr>
        <p:txBody>
          <a:bodyPr wrap="square" lIns="0" tIns="0" rIns="0" bIns="0" rtlCol="0" anchor="ctr"/>
          <a:lstStyle/>
          <a:p>
            <a:r>
              <a:rPr lang="en-US" sz="1600" b="1" dirty="0">
                <a:solidFill>
                  <a:srgbClr val="FFFFFF"/>
                </a:solidFill>
                <a:latin typeface="Arial" panose="020B0604020202020204" pitchFamily="34" charset="0"/>
                <a:ea typeface="Calibri" pitchFamily="34" charset="-122"/>
                <a:cs typeface="Arial" panose="020B0604020202020204" pitchFamily="34" charset="0"/>
              </a:rPr>
              <a:t> </a:t>
            </a:r>
          </a:p>
        </p:txBody>
      </p:sp>
      <p:sp>
        <p:nvSpPr>
          <p:cNvPr id="21" name="Text 20">
            <a:extLst>
              <a:ext uri="{FF2B5EF4-FFF2-40B4-BE49-F238E27FC236}">
                <a16:creationId xmlns:a16="http://schemas.microsoft.com/office/drawing/2014/main" id="{5AD02EB9-2AAB-FA48-FE6B-01E3DFA9D373}"/>
              </a:ext>
            </a:extLst>
          </p:cNvPr>
          <p:cNvSpPr/>
          <p:nvPr/>
        </p:nvSpPr>
        <p:spPr>
          <a:xfrm>
            <a:off x="3805324" y="4514088"/>
            <a:ext cx="2438400" cy="158496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
        <p:nvSpPr>
          <p:cNvPr id="24" name="Text 23">
            <a:extLst>
              <a:ext uri="{FF2B5EF4-FFF2-40B4-BE49-F238E27FC236}">
                <a16:creationId xmlns:a16="http://schemas.microsoft.com/office/drawing/2014/main" id="{B64BDB2B-FF4E-A2D9-CB1C-F7AA48961F85}"/>
              </a:ext>
            </a:extLst>
          </p:cNvPr>
          <p:cNvSpPr/>
          <p:nvPr/>
        </p:nvSpPr>
        <p:spPr>
          <a:xfrm>
            <a:off x="6169152" y="3962400"/>
            <a:ext cx="512064" cy="487680"/>
          </a:xfrm>
          <a:prstGeom prst="rect">
            <a:avLst/>
          </a:prstGeom>
          <a:noFill/>
          <a:ln/>
        </p:spPr>
        <p:txBody>
          <a:bodyPr wrap="square" lIns="0" tIns="0" rIns="0" bIns="0" rtlCol="0" anchor="ctr"/>
          <a:lstStyle/>
          <a:p>
            <a:pPr algn="ctr"/>
            <a:endParaRPr lang="en-US" sz="1600" dirty="0">
              <a:latin typeface="Arial" panose="020B0604020202020204" pitchFamily="34" charset="0"/>
              <a:cs typeface="Arial" panose="020B0604020202020204" pitchFamily="34" charset="0"/>
            </a:endParaRPr>
          </a:p>
        </p:txBody>
      </p:sp>
      <p:sp>
        <p:nvSpPr>
          <p:cNvPr id="25" name="Text 24">
            <a:extLst>
              <a:ext uri="{FF2B5EF4-FFF2-40B4-BE49-F238E27FC236}">
                <a16:creationId xmlns:a16="http://schemas.microsoft.com/office/drawing/2014/main" id="{67450326-ED1E-0E88-EF09-9686B0281577}"/>
              </a:ext>
            </a:extLst>
          </p:cNvPr>
          <p:cNvSpPr/>
          <p:nvPr/>
        </p:nvSpPr>
        <p:spPr>
          <a:xfrm>
            <a:off x="6699504" y="4093464"/>
            <a:ext cx="2048256" cy="487680"/>
          </a:xfrm>
          <a:prstGeom prst="rect">
            <a:avLst/>
          </a:prstGeom>
          <a:noFill/>
          <a:ln/>
        </p:spPr>
        <p:txBody>
          <a:bodyPr wrap="square" lIns="0" tIns="0" rIns="0" bIns="0" rtlCol="0" anchor="ctr"/>
          <a:lstStyle/>
          <a:p>
            <a:r>
              <a:rPr lang="en-US" sz="1600" b="1" dirty="0">
                <a:solidFill>
                  <a:srgbClr val="FFFFFF"/>
                </a:solidFill>
                <a:latin typeface="Arial" panose="020B0604020202020204" pitchFamily="34" charset="0"/>
                <a:ea typeface="Calibri" pitchFamily="34" charset="-122"/>
                <a:cs typeface="Arial" panose="020B0604020202020204" pitchFamily="34" charset="0"/>
              </a:rPr>
              <a:t> </a:t>
            </a:r>
          </a:p>
        </p:txBody>
      </p:sp>
      <p:sp>
        <p:nvSpPr>
          <p:cNvPr id="26" name="Text 25">
            <a:extLst>
              <a:ext uri="{FF2B5EF4-FFF2-40B4-BE49-F238E27FC236}">
                <a16:creationId xmlns:a16="http://schemas.microsoft.com/office/drawing/2014/main" id="{CB05BC3F-74FD-F77C-2B12-43CB388652AD}"/>
              </a:ext>
            </a:extLst>
          </p:cNvPr>
          <p:cNvSpPr/>
          <p:nvPr/>
        </p:nvSpPr>
        <p:spPr>
          <a:xfrm>
            <a:off x="6291072" y="4535424"/>
            <a:ext cx="2438400" cy="158496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
        <p:nvSpPr>
          <p:cNvPr id="29" name="Text 28">
            <a:extLst>
              <a:ext uri="{FF2B5EF4-FFF2-40B4-BE49-F238E27FC236}">
                <a16:creationId xmlns:a16="http://schemas.microsoft.com/office/drawing/2014/main" id="{93560245-005F-C295-5703-E4FC8D7ABD24}"/>
              </a:ext>
            </a:extLst>
          </p:cNvPr>
          <p:cNvSpPr/>
          <p:nvPr/>
        </p:nvSpPr>
        <p:spPr>
          <a:xfrm>
            <a:off x="9070848" y="3962400"/>
            <a:ext cx="512064" cy="487680"/>
          </a:xfrm>
          <a:prstGeom prst="rect">
            <a:avLst/>
          </a:prstGeom>
          <a:noFill/>
          <a:ln/>
        </p:spPr>
        <p:txBody>
          <a:bodyPr wrap="square" lIns="0" tIns="0" rIns="0" bIns="0" rtlCol="0" anchor="ctr"/>
          <a:lstStyle/>
          <a:p>
            <a:pPr algn="ctr"/>
            <a:endParaRPr lang="en-US" sz="1600" dirty="0">
              <a:latin typeface="Arial" panose="020B0604020202020204" pitchFamily="34" charset="0"/>
              <a:cs typeface="Arial" panose="020B0604020202020204" pitchFamily="34" charset="0"/>
            </a:endParaRPr>
          </a:p>
        </p:txBody>
      </p:sp>
      <p:sp>
        <p:nvSpPr>
          <p:cNvPr id="30" name="Text 29">
            <a:extLst>
              <a:ext uri="{FF2B5EF4-FFF2-40B4-BE49-F238E27FC236}">
                <a16:creationId xmlns:a16="http://schemas.microsoft.com/office/drawing/2014/main" id="{7C7C7F20-D39F-4BC5-2BE7-719E67389E02}"/>
              </a:ext>
            </a:extLst>
          </p:cNvPr>
          <p:cNvSpPr/>
          <p:nvPr/>
        </p:nvSpPr>
        <p:spPr>
          <a:xfrm>
            <a:off x="9619488" y="3962400"/>
            <a:ext cx="2048256" cy="487680"/>
          </a:xfrm>
          <a:prstGeom prst="rect">
            <a:avLst/>
          </a:prstGeom>
          <a:noFill/>
          <a:ln/>
        </p:spPr>
        <p:txBody>
          <a:bodyPr wrap="square" lIns="0" tIns="0" rIns="0" bIns="0" rtlCol="0" anchor="ctr"/>
          <a:lstStyle/>
          <a:p>
            <a:endParaRPr lang="en-US" sz="1600" b="1" dirty="0">
              <a:solidFill>
                <a:srgbClr val="FFFFFF"/>
              </a:solidFill>
              <a:latin typeface="Arial" panose="020B0604020202020204" pitchFamily="34" charset="0"/>
              <a:ea typeface="Calibri" pitchFamily="34" charset="-122"/>
              <a:cs typeface="Arial" panose="020B0604020202020204" pitchFamily="34" charset="0"/>
            </a:endParaRPr>
          </a:p>
        </p:txBody>
      </p:sp>
      <p:sp>
        <p:nvSpPr>
          <p:cNvPr id="31" name="Text 30">
            <a:extLst>
              <a:ext uri="{FF2B5EF4-FFF2-40B4-BE49-F238E27FC236}">
                <a16:creationId xmlns:a16="http://schemas.microsoft.com/office/drawing/2014/main" id="{90608A17-1E23-0CC0-0449-843A45B78B34}"/>
              </a:ext>
            </a:extLst>
          </p:cNvPr>
          <p:cNvSpPr/>
          <p:nvPr/>
        </p:nvSpPr>
        <p:spPr>
          <a:xfrm>
            <a:off x="9192768" y="4535424"/>
            <a:ext cx="2438400" cy="158496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
        <p:nvSpPr>
          <p:cNvPr id="12" name="Text 1">
            <a:extLst>
              <a:ext uri="{FF2B5EF4-FFF2-40B4-BE49-F238E27FC236}">
                <a16:creationId xmlns:a16="http://schemas.microsoft.com/office/drawing/2014/main" id="{8295BD80-3DBB-D39F-9DF3-3EC646B1D04F}"/>
              </a:ext>
            </a:extLst>
          </p:cNvPr>
          <p:cNvSpPr/>
          <p:nvPr/>
        </p:nvSpPr>
        <p:spPr>
          <a:xfrm>
            <a:off x="219456" y="240881"/>
            <a:ext cx="11216640" cy="670560"/>
          </a:xfrm>
          <a:prstGeom prst="rect">
            <a:avLst/>
          </a:prstGeom>
          <a:noFill/>
          <a:ln/>
        </p:spPr>
        <p:txBody>
          <a:bodyPr wrap="square" lIns="0" tIns="0" rIns="0" bIns="0" rtlCol="0" anchor="ctr"/>
          <a:lstStyle/>
          <a:p>
            <a:r>
              <a:rPr lang="en-US" sz="2800" b="1" dirty="0">
                <a:solidFill>
                  <a:schemeClr val="bg1"/>
                </a:solidFill>
                <a:latin typeface="Arial" panose="020B0604020202020204" pitchFamily="34" charset="0"/>
                <a:cs typeface="Arial" panose="020B0604020202020204" pitchFamily="34" charset="0"/>
              </a:rPr>
              <a:t>HR-Talent Management</a:t>
            </a:r>
          </a:p>
        </p:txBody>
      </p:sp>
    </p:spTree>
    <p:extLst>
      <p:ext uri="{BB962C8B-B14F-4D97-AF65-F5344CB8AC3E}">
        <p14:creationId xmlns:p14="http://schemas.microsoft.com/office/powerpoint/2010/main" val="17285366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3EE87-FA34-8BC7-328C-434380BEBC5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D73D371-B7B9-DD34-5474-FA76243987DD}"/>
              </a:ext>
            </a:extLst>
          </p:cNvPr>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A7812ED0-FCBC-5EEF-1001-95057762E142}"/>
              </a:ext>
            </a:extLst>
          </p:cNvPr>
          <p:cNvSpPr/>
          <p:nvPr/>
        </p:nvSpPr>
        <p:spPr>
          <a:xfrm>
            <a:off x="487680" y="121920"/>
            <a:ext cx="11216640" cy="670560"/>
          </a:xfrm>
          <a:prstGeom prst="rect">
            <a:avLst/>
          </a:prstGeom>
          <a:noFill/>
          <a:ln/>
        </p:spPr>
        <p:txBody>
          <a:bodyPr wrap="square" lIns="0" tIns="0" rIns="0" bIns="0" rtlCol="0" anchor="ctr"/>
          <a:lstStyle/>
          <a:p>
            <a:endParaRPr lang="en-US" sz="2800" b="1" dirty="0">
              <a:solidFill>
                <a:schemeClr val="bg1"/>
              </a:solidFill>
              <a:latin typeface="Arial" panose="020B0604020202020204" pitchFamily="34" charset="0"/>
              <a:cs typeface="Arial" panose="020B0604020202020204" pitchFamily="34" charset="0"/>
            </a:endParaRPr>
          </a:p>
        </p:txBody>
      </p:sp>
      <p:sp>
        <p:nvSpPr>
          <p:cNvPr id="5" name="Shape 3">
            <a:extLst>
              <a:ext uri="{FF2B5EF4-FFF2-40B4-BE49-F238E27FC236}">
                <a16:creationId xmlns:a16="http://schemas.microsoft.com/office/drawing/2014/main" id="{46BFD85A-EB47-4832-66DA-861A39AA0946}"/>
              </a:ext>
            </a:extLst>
          </p:cNvPr>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4" name="Text 5">
            <a:extLst>
              <a:ext uri="{FF2B5EF4-FFF2-40B4-BE49-F238E27FC236}">
                <a16:creationId xmlns:a16="http://schemas.microsoft.com/office/drawing/2014/main" id="{C31DCAA8-A6C2-16FD-5D9B-3A6EC8A198EE}"/>
              </a:ext>
            </a:extLst>
          </p:cNvPr>
          <p:cNvSpPr/>
          <p:nvPr/>
        </p:nvSpPr>
        <p:spPr>
          <a:xfrm>
            <a:off x="358658" y="2508504"/>
            <a:ext cx="10972800" cy="1715262"/>
          </a:xfrm>
          <a:prstGeom prst="rect">
            <a:avLst/>
          </a:prstGeom>
          <a:noFill/>
          <a:ln/>
        </p:spPr>
        <p:txBody>
          <a:bodyPr wrap="square" rtlCol="0" anchor="ctr"/>
          <a:lstStyle/>
          <a:p>
            <a:pPr algn="just"/>
            <a:r>
              <a:rPr lang="en-GB" sz="1600" i="1" dirty="0">
                <a:solidFill>
                  <a:srgbClr val="1C2B3A"/>
                </a:solidFill>
                <a:latin typeface="Arial" panose="020B0604020202020204" pitchFamily="34" charset="0"/>
                <a:ea typeface="Calibri" pitchFamily="34" charset="-122"/>
                <a:cs typeface="Arial" panose="020B0604020202020204" pitchFamily="34" charset="0"/>
              </a:rPr>
              <a:t>As a result of the implementation of the adopted organisational structure, as well as resignations received during the period under review, the positions listed below remained vacant as at 31 March 2026. Despite these vacancies, the Council maintained an occupancy rate of 73%, with more than 35 of the 48 approved positions filled. In addition, two (02) more vacancies were approved for appointment in March 2026, which will increase the occupancy rate to 77%. This reflects a 7% improvement from the 70% occupancy rate reported during the 2024/2025 financial year. These figures exclude interns and contractual staff members. </a:t>
            </a:r>
          </a:p>
          <a:p>
            <a:pPr algn="just"/>
            <a:endParaRPr lang="en-GB" sz="1600" i="1" dirty="0">
              <a:solidFill>
                <a:srgbClr val="1C2B3A"/>
              </a:solidFill>
              <a:latin typeface="Arial" panose="020B0604020202020204" pitchFamily="34" charset="0"/>
              <a:ea typeface="Calibri" pitchFamily="34" charset="-122"/>
              <a:cs typeface="Arial" panose="020B0604020202020204" pitchFamily="34" charset="0"/>
            </a:endParaRPr>
          </a:p>
        </p:txBody>
      </p:sp>
      <p:sp>
        <p:nvSpPr>
          <p:cNvPr id="7" name="Shape 6">
            <a:extLst>
              <a:ext uri="{FF2B5EF4-FFF2-40B4-BE49-F238E27FC236}">
                <a16:creationId xmlns:a16="http://schemas.microsoft.com/office/drawing/2014/main" id="{AAB9036C-945C-94F2-629A-E60343678248}"/>
              </a:ext>
            </a:extLst>
          </p:cNvPr>
          <p:cNvSpPr/>
          <p:nvPr/>
        </p:nvSpPr>
        <p:spPr>
          <a:xfrm>
            <a:off x="444002" y="1633728"/>
            <a:ext cx="11460480" cy="694944"/>
          </a:xfrm>
          <a:prstGeom prst="rect">
            <a:avLst/>
          </a:prstGeom>
          <a:solidFill>
            <a:schemeClr val="accent5">
              <a:lumMod val="50000"/>
            </a:schemeClr>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8" name="Shape 7">
            <a:extLst>
              <a:ext uri="{FF2B5EF4-FFF2-40B4-BE49-F238E27FC236}">
                <a16:creationId xmlns:a16="http://schemas.microsoft.com/office/drawing/2014/main" id="{2A34019B-9CA3-C1A6-1E27-CBDA6730DA11}"/>
              </a:ext>
            </a:extLst>
          </p:cNvPr>
          <p:cNvSpPr/>
          <p:nvPr/>
        </p:nvSpPr>
        <p:spPr>
          <a:xfrm>
            <a:off x="358658" y="1633728"/>
            <a:ext cx="85344" cy="694944"/>
          </a:xfrm>
          <a:prstGeom prst="rect">
            <a:avLst/>
          </a:prstGeom>
          <a:solidFill>
            <a:schemeClr val="accent4">
              <a:lumMod val="75000"/>
            </a:schemeClr>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9" name="Text 8">
            <a:extLst>
              <a:ext uri="{FF2B5EF4-FFF2-40B4-BE49-F238E27FC236}">
                <a16:creationId xmlns:a16="http://schemas.microsoft.com/office/drawing/2014/main" id="{EB9CBE21-3FD4-F731-5A8A-8D87742C8870}"/>
              </a:ext>
            </a:extLst>
          </p:cNvPr>
          <p:cNvSpPr/>
          <p:nvPr/>
        </p:nvSpPr>
        <p:spPr>
          <a:xfrm>
            <a:off x="4803648" y="1792224"/>
            <a:ext cx="4267200" cy="341376"/>
          </a:xfrm>
          <a:prstGeom prst="rect">
            <a:avLst/>
          </a:prstGeom>
          <a:noFill/>
          <a:ln/>
        </p:spPr>
        <p:txBody>
          <a:bodyPr wrap="square" lIns="0" tIns="0" rIns="0" bIns="0" rtlCol="0" anchor="ctr"/>
          <a:lstStyle/>
          <a:p>
            <a:r>
              <a:rPr lang="en-US" sz="1600" b="1" dirty="0">
                <a:solidFill>
                  <a:schemeClr val="bg1"/>
                </a:solidFill>
                <a:latin typeface="Arial" panose="020B0604020202020204" pitchFamily="34" charset="0"/>
                <a:ea typeface="Calibri" pitchFamily="34" charset="-122"/>
                <a:cs typeface="Arial" panose="020B0604020202020204" pitchFamily="34" charset="0"/>
              </a:rPr>
              <a:t>VACANT POSITIONS </a:t>
            </a:r>
          </a:p>
        </p:txBody>
      </p:sp>
      <p:sp>
        <p:nvSpPr>
          <p:cNvPr id="10" name="Text 9">
            <a:extLst>
              <a:ext uri="{FF2B5EF4-FFF2-40B4-BE49-F238E27FC236}">
                <a16:creationId xmlns:a16="http://schemas.microsoft.com/office/drawing/2014/main" id="{39A8948A-5B5F-24AE-BD6E-F0EC5EC1D501}"/>
              </a:ext>
            </a:extLst>
          </p:cNvPr>
          <p:cNvSpPr/>
          <p:nvPr/>
        </p:nvSpPr>
        <p:spPr>
          <a:xfrm>
            <a:off x="945886" y="1987296"/>
            <a:ext cx="10972800" cy="341376"/>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11" name="Text 10">
            <a:extLst>
              <a:ext uri="{FF2B5EF4-FFF2-40B4-BE49-F238E27FC236}">
                <a16:creationId xmlns:a16="http://schemas.microsoft.com/office/drawing/2014/main" id="{728E458D-E0B1-87F6-8D9D-DDD6427276F4}"/>
              </a:ext>
            </a:extLst>
          </p:cNvPr>
          <p:cNvSpPr/>
          <p:nvPr/>
        </p:nvSpPr>
        <p:spPr>
          <a:xfrm>
            <a:off x="365760" y="3450336"/>
            <a:ext cx="11460480" cy="390144"/>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14" name="Text 13">
            <a:extLst>
              <a:ext uri="{FF2B5EF4-FFF2-40B4-BE49-F238E27FC236}">
                <a16:creationId xmlns:a16="http://schemas.microsoft.com/office/drawing/2014/main" id="{0C2EF68B-F2CD-35F8-391B-C86944029B10}"/>
              </a:ext>
            </a:extLst>
          </p:cNvPr>
          <p:cNvSpPr/>
          <p:nvPr/>
        </p:nvSpPr>
        <p:spPr>
          <a:xfrm>
            <a:off x="365760" y="3962400"/>
            <a:ext cx="512064" cy="487680"/>
          </a:xfrm>
          <a:prstGeom prst="rect">
            <a:avLst/>
          </a:prstGeom>
          <a:noFill/>
          <a:ln/>
        </p:spPr>
        <p:txBody>
          <a:bodyPr wrap="square" lIns="0" tIns="0" rIns="0" bIns="0" rtlCol="0" anchor="ctr"/>
          <a:lstStyle/>
          <a:p>
            <a:pPr algn="ctr"/>
            <a:endParaRPr lang="en-US" sz="1600" dirty="0">
              <a:latin typeface="Arial" panose="020B0604020202020204" pitchFamily="34" charset="0"/>
              <a:cs typeface="Arial" panose="020B0604020202020204" pitchFamily="34" charset="0"/>
            </a:endParaRPr>
          </a:p>
        </p:txBody>
      </p:sp>
      <p:sp>
        <p:nvSpPr>
          <p:cNvPr id="15" name="Text 14">
            <a:extLst>
              <a:ext uri="{FF2B5EF4-FFF2-40B4-BE49-F238E27FC236}">
                <a16:creationId xmlns:a16="http://schemas.microsoft.com/office/drawing/2014/main" id="{65A2CB17-0D68-0B27-FFD7-5D5E26302C5E}"/>
              </a:ext>
            </a:extLst>
          </p:cNvPr>
          <p:cNvSpPr/>
          <p:nvPr/>
        </p:nvSpPr>
        <p:spPr>
          <a:xfrm>
            <a:off x="5189235" y="3970020"/>
            <a:ext cx="2048256" cy="487680"/>
          </a:xfrm>
          <a:prstGeom prst="rect">
            <a:avLst/>
          </a:prstGeom>
          <a:noFill/>
          <a:ln/>
        </p:spPr>
        <p:txBody>
          <a:bodyPr wrap="square" lIns="0" tIns="0" rIns="0" bIns="0" rtlCol="0" anchor="ctr"/>
          <a:lstStyle/>
          <a:p>
            <a:r>
              <a:rPr lang="en-US" sz="1600" b="1" dirty="0">
                <a:solidFill>
                  <a:srgbClr val="FFFFFF"/>
                </a:solidFill>
                <a:latin typeface="Arial" panose="020B0604020202020204" pitchFamily="34" charset="0"/>
                <a:ea typeface="Calibri" pitchFamily="34" charset="-122"/>
                <a:cs typeface="Arial" panose="020B0604020202020204" pitchFamily="34" charset="0"/>
              </a:rPr>
              <a:t>RETIREMENT  </a:t>
            </a:r>
          </a:p>
        </p:txBody>
      </p:sp>
      <p:sp>
        <p:nvSpPr>
          <p:cNvPr id="16" name="Text 15">
            <a:extLst>
              <a:ext uri="{FF2B5EF4-FFF2-40B4-BE49-F238E27FC236}">
                <a16:creationId xmlns:a16="http://schemas.microsoft.com/office/drawing/2014/main" id="{AC9905FB-6B2B-528C-09A7-7FA064FE8219}"/>
              </a:ext>
            </a:extLst>
          </p:cNvPr>
          <p:cNvSpPr/>
          <p:nvPr/>
        </p:nvSpPr>
        <p:spPr>
          <a:xfrm>
            <a:off x="365760" y="4288536"/>
            <a:ext cx="11538722" cy="2298192"/>
          </a:xfrm>
          <a:prstGeom prst="rect">
            <a:avLst/>
          </a:prstGeom>
          <a:noFill/>
          <a:ln/>
        </p:spPr>
        <p:txBody>
          <a:bodyPr wrap="square" rtlCol="0" anchor="ctr"/>
          <a:lstStyle/>
          <a:p>
            <a:pPr algn="just"/>
            <a:endParaRPr lang="en-GB" sz="1600" dirty="0">
              <a:solidFill>
                <a:srgbClr val="1C2B3A"/>
              </a:solidFill>
              <a:latin typeface="Arial" panose="020B0604020202020204" pitchFamily="34" charset="0"/>
              <a:ea typeface="Calibri" pitchFamily="34" charset="-122"/>
              <a:cs typeface="Arial" panose="020B0604020202020204" pitchFamily="34" charset="0"/>
            </a:endParaRPr>
          </a:p>
        </p:txBody>
      </p:sp>
      <p:sp>
        <p:nvSpPr>
          <p:cNvPr id="19" name="Text 18">
            <a:extLst>
              <a:ext uri="{FF2B5EF4-FFF2-40B4-BE49-F238E27FC236}">
                <a16:creationId xmlns:a16="http://schemas.microsoft.com/office/drawing/2014/main" id="{BC2756DB-0429-827E-7146-EA64E5F8941C}"/>
              </a:ext>
            </a:extLst>
          </p:cNvPr>
          <p:cNvSpPr/>
          <p:nvPr/>
        </p:nvSpPr>
        <p:spPr>
          <a:xfrm>
            <a:off x="3267456" y="3962400"/>
            <a:ext cx="512064" cy="487680"/>
          </a:xfrm>
          <a:prstGeom prst="rect">
            <a:avLst/>
          </a:prstGeom>
          <a:noFill/>
          <a:ln/>
        </p:spPr>
        <p:txBody>
          <a:bodyPr wrap="square" lIns="0" tIns="0" rIns="0" bIns="0" rtlCol="0" anchor="ctr"/>
          <a:lstStyle/>
          <a:p>
            <a:pPr algn="ctr"/>
            <a:endParaRPr lang="en-US" sz="1600" dirty="0">
              <a:latin typeface="Arial" panose="020B0604020202020204" pitchFamily="34" charset="0"/>
              <a:cs typeface="Arial" panose="020B0604020202020204" pitchFamily="34" charset="0"/>
            </a:endParaRPr>
          </a:p>
        </p:txBody>
      </p:sp>
      <p:sp>
        <p:nvSpPr>
          <p:cNvPr id="20" name="Text 19">
            <a:extLst>
              <a:ext uri="{FF2B5EF4-FFF2-40B4-BE49-F238E27FC236}">
                <a16:creationId xmlns:a16="http://schemas.microsoft.com/office/drawing/2014/main" id="{94D9B0FD-F0D9-DE69-1FE4-FF9E70BB82DD}"/>
              </a:ext>
            </a:extLst>
          </p:cNvPr>
          <p:cNvSpPr/>
          <p:nvPr/>
        </p:nvSpPr>
        <p:spPr>
          <a:xfrm>
            <a:off x="3790528" y="4093464"/>
            <a:ext cx="2048256" cy="487680"/>
          </a:xfrm>
          <a:prstGeom prst="rect">
            <a:avLst/>
          </a:prstGeom>
          <a:noFill/>
          <a:ln/>
        </p:spPr>
        <p:txBody>
          <a:bodyPr wrap="square" lIns="0" tIns="0" rIns="0" bIns="0" rtlCol="0" anchor="ctr"/>
          <a:lstStyle/>
          <a:p>
            <a:r>
              <a:rPr lang="en-US" sz="1600" b="1" dirty="0">
                <a:solidFill>
                  <a:srgbClr val="FFFFFF"/>
                </a:solidFill>
                <a:latin typeface="Arial" panose="020B0604020202020204" pitchFamily="34" charset="0"/>
                <a:ea typeface="Calibri" pitchFamily="34" charset="-122"/>
                <a:cs typeface="Arial" panose="020B0604020202020204" pitchFamily="34" charset="0"/>
              </a:rPr>
              <a:t> </a:t>
            </a:r>
          </a:p>
        </p:txBody>
      </p:sp>
      <p:sp>
        <p:nvSpPr>
          <p:cNvPr id="21" name="Text 20">
            <a:extLst>
              <a:ext uri="{FF2B5EF4-FFF2-40B4-BE49-F238E27FC236}">
                <a16:creationId xmlns:a16="http://schemas.microsoft.com/office/drawing/2014/main" id="{4E277F42-06DE-D420-7C1C-CF63747514DC}"/>
              </a:ext>
            </a:extLst>
          </p:cNvPr>
          <p:cNvSpPr/>
          <p:nvPr/>
        </p:nvSpPr>
        <p:spPr>
          <a:xfrm>
            <a:off x="3805324" y="4514088"/>
            <a:ext cx="2438400" cy="158496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
        <p:nvSpPr>
          <p:cNvPr id="24" name="Text 23">
            <a:extLst>
              <a:ext uri="{FF2B5EF4-FFF2-40B4-BE49-F238E27FC236}">
                <a16:creationId xmlns:a16="http://schemas.microsoft.com/office/drawing/2014/main" id="{6E55A49F-4652-A3FD-98FD-1AF19FA3F85B}"/>
              </a:ext>
            </a:extLst>
          </p:cNvPr>
          <p:cNvSpPr/>
          <p:nvPr/>
        </p:nvSpPr>
        <p:spPr>
          <a:xfrm>
            <a:off x="6169152" y="3962400"/>
            <a:ext cx="512064" cy="487680"/>
          </a:xfrm>
          <a:prstGeom prst="rect">
            <a:avLst/>
          </a:prstGeom>
          <a:noFill/>
          <a:ln/>
        </p:spPr>
        <p:txBody>
          <a:bodyPr wrap="square" lIns="0" tIns="0" rIns="0" bIns="0" rtlCol="0" anchor="ctr"/>
          <a:lstStyle/>
          <a:p>
            <a:pPr algn="ctr"/>
            <a:endParaRPr lang="en-US" sz="1600" dirty="0">
              <a:latin typeface="Arial" panose="020B0604020202020204" pitchFamily="34" charset="0"/>
              <a:cs typeface="Arial" panose="020B0604020202020204" pitchFamily="34" charset="0"/>
            </a:endParaRPr>
          </a:p>
        </p:txBody>
      </p:sp>
      <p:sp>
        <p:nvSpPr>
          <p:cNvPr id="25" name="Text 24">
            <a:extLst>
              <a:ext uri="{FF2B5EF4-FFF2-40B4-BE49-F238E27FC236}">
                <a16:creationId xmlns:a16="http://schemas.microsoft.com/office/drawing/2014/main" id="{91121291-A6E4-2B03-40D7-6817EF2AE0F7}"/>
              </a:ext>
            </a:extLst>
          </p:cNvPr>
          <p:cNvSpPr/>
          <p:nvPr/>
        </p:nvSpPr>
        <p:spPr>
          <a:xfrm>
            <a:off x="6699504" y="4093464"/>
            <a:ext cx="2048256" cy="487680"/>
          </a:xfrm>
          <a:prstGeom prst="rect">
            <a:avLst/>
          </a:prstGeom>
          <a:noFill/>
          <a:ln/>
        </p:spPr>
        <p:txBody>
          <a:bodyPr wrap="square" lIns="0" tIns="0" rIns="0" bIns="0" rtlCol="0" anchor="ctr"/>
          <a:lstStyle/>
          <a:p>
            <a:r>
              <a:rPr lang="en-US" sz="1600" b="1" dirty="0">
                <a:solidFill>
                  <a:srgbClr val="FFFFFF"/>
                </a:solidFill>
                <a:latin typeface="Arial" panose="020B0604020202020204" pitchFamily="34" charset="0"/>
                <a:ea typeface="Calibri" pitchFamily="34" charset="-122"/>
                <a:cs typeface="Arial" panose="020B0604020202020204" pitchFamily="34" charset="0"/>
              </a:rPr>
              <a:t> </a:t>
            </a:r>
          </a:p>
        </p:txBody>
      </p:sp>
      <p:sp>
        <p:nvSpPr>
          <p:cNvPr id="26" name="Text 25">
            <a:extLst>
              <a:ext uri="{FF2B5EF4-FFF2-40B4-BE49-F238E27FC236}">
                <a16:creationId xmlns:a16="http://schemas.microsoft.com/office/drawing/2014/main" id="{93530875-7E86-EE7D-AADE-339A156E9336}"/>
              </a:ext>
            </a:extLst>
          </p:cNvPr>
          <p:cNvSpPr/>
          <p:nvPr/>
        </p:nvSpPr>
        <p:spPr>
          <a:xfrm>
            <a:off x="6291072" y="4535424"/>
            <a:ext cx="2438400" cy="158496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
        <p:nvSpPr>
          <p:cNvPr id="29" name="Text 28">
            <a:extLst>
              <a:ext uri="{FF2B5EF4-FFF2-40B4-BE49-F238E27FC236}">
                <a16:creationId xmlns:a16="http://schemas.microsoft.com/office/drawing/2014/main" id="{AD624531-7C3F-A5E4-B0E8-C4775B6174C6}"/>
              </a:ext>
            </a:extLst>
          </p:cNvPr>
          <p:cNvSpPr/>
          <p:nvPr/>
        </p:nvSpPr>
        <p:spPr>
          <a:xfrm>
            <a:off x="9070848" y="3962400"/>
            <a:ext cx="512064" cy="487680"/>
          </a:xfrm>
          <a:prstGeom prst="rect">
            <a:avLst/>
          </a:prstGeom>
          <a:noFill/>
          <a:ln/>
        </p:spPr>
        <p:txBody>
          <a:bodyPr wrap="square" lIns="0" tIns="0" rIns="0" bIns="0" rtlCol="0" anchor="ctr"/>
          <a:lstStyle/>
          <a:p>
            <a:pPr algn="ctr"/>
            <a:endParaRPr lang="en-US" sz="1600" dirty="0">
              <a:latin typeface="Arial" panose="020B0604020202020204" pitchFamily="34" charset="0"/>
              <a:cs typeface="Arial" panose="020B0604020202020204" pitchFamily="34" charset="0"/>
            </a:endParaRPr>
          </a:p>
        </p:txBody>
      </p:sp>
      <p:sp>
        <p:nvSpPr>
          <p:cNvPr id="30" name="Text 29">
            <a:extLst>
              <a:ext uri="{FF2B5EF4-FFF2-40B4-BE49-F238E27FC236}">
                <a16:creationId xmlns:a16="http://schemas.microsoft.com/office/drawing/2014/main" id="{C5B8D037-75FD-8FE1-E348-C312FAFE7D52}"/>
              </a:ext>
            </a:extLst>
          </p:cNvPr>
          <p:cNvSpPr/>
          <p:nvPr/>
        </p:nvSpPr>
        <p:spPr>
          <a:xfrm>
            <a:off x="9619488" y="3962400"/>
            <a:ext cx="2048256" cy="487680"/>
          </a:xfrm>
          <a:prstGeom prst="rect">
            <a:avLst/>
          </a:prstGeom>
          <a:noFill/>
          <a:ln/>
        </p:spPr>
        <p:txBody>
          <a:bodyPr wrap="square" lIns="0" tIns="0" rIns="0" bIns="0" rtlCol="0" anchor="ctr"/>
          <a:lstStyle/>
          <a:p>
            <a:endParaRPr lang="en-US" sz="1600" b="1" dirty="0">
              <a:solidFill>
                <a:srgbClr val="FFFFFF"/>
              </a:solidFill>
              <a:latin typeface="Arial" panose="020B0604020202020204" pitchFamily="34" charset="0"/>
              <a:ea typeface="Calibri" pitchFamily="34" charset="-122"/>
              <a:cs typeface="Arial" panose="020B0604020202020204" pitchFamily="34" charset="0"/>
            </a:endParaRPr>
          </a:p>
        </p:txBody>
      </p:sp>
      <p:sp>
        <p:nvSpPr>
          <p:cNvPr id="31" name="Text 30">
            <a:extLst>
              <a:ext uri="{FF2B5EF4-FFF2-40B4-BE49-F238E27FC236}">
                <a16:creationId xmlns:a16="http://schemas.microsoft.com/office/drawing/2014/main" id="{8AA9163B-5EFA-8E84-081A-009E8746E09C}"/>
              </a:ext>
            </a:extLst>
          </p:cNvPr>
          <p:cNvSpPr/>
          <p:nvPr/>
        </p:nvSpPr>
        <p:spPr>
          <a:xfrm>
            <a:off x="9192768" y="4535424"/>
            <a:ext cx="2438400" cy="158496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
        <p:nvSpPr>
          <p:cNvPr id="6" name="Text 1">
            <a:extLst>
              <a:ext uri="{FF2B5EF4-FFF2-40B4-BE49-F238E27FC236}">
                <a16:creationId xmlns:a16="http://schemas.microsoft.com/office/drawing/2014/main" id="{390082DA-3D5C-E47E-9322-FE31175CF9FF}"/>
              </a:ext>
            </a:extLst>
          </p:cNvPr>
          <p:cNvSpPr/>
          <p:nvPr/>
        </p:nvSpPr>
        <p:spPr>
          <a:xfrm>
            <a:off x="230464" y="172212"/>
            <a:ext cx="11216640" cy="670560"/>
          </a:xfrm>
          <a:prstGeom prst="rect">
            <a:avLst/>
          </a:prstGeom>
          <a:noFill/>
          <a:ln/>
        </p:spPr>
        <p:txBody>
          <a:bodyPr wrap="square" lIns="0" tIns="0" rIns="0" bIns="0" rtlCol="0" anchor="ctr"/>
          <a:lstStyle/>
          <a:p>
            <a:r>
              <a:rPr lang="en-US" sz="2800" b="1" dirty="0">
                <a:solidFill>
                  <a:schemeClr val="bg1"/>
                </a:solidFill>
                <a:latin typeface="Arial" panose="020B0604020202020204" pitchFamily="34" charset="0"/>
                <a:cs typeface="Arial" panose="020B0604020202020204" pitchFamily="34" charset="0"/>
              </a:rPr>
              <a:t>HR-Talent Management</a:t>
            </a:r>
          </a:p>
        </p:txBody>
      </p:sp>
    </p:spTree>
    <p:extLst>
      <p:ext uri="{BB962C8B-B14F-4D97-AF65-F5344CB8AC3E}">
        <p14:creationId xmlns:p14="http://schemas.microsoft.com/office/powerpoint/2010/main" val="2985207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67CA3-B1A8-29C0-F846-AAAF918D99B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8DEE33E-49CA-7B6A-070B-2C3266CEFED6}"/>
              </a:ext>
            </a:extLst>
          </p:cNvPr>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0640A4F7-482B-528D-9E48-9172B0E6EC14}"/>
              </a:ext>
            </a:extLst>
          </p:cNvPr>
          <p:cNvSpPr/>
          <p:nvPr/>
        </p:nvSpPr>
        <p:spPr>
          <a:xfrm>
            <a:off x="487680" y="121920"/>
            <a:ext cx="11216640" cy="670560"/>
          </a:xfrm>
          <a:prstGeom prst="rect">
            <a:avLst/>
          </a:prstGeom>
          <a:noFill/>
          <a:ln/>
        </p:spPr>
        <p:txBody>
          <a:bodyPr wrap="square" lIns="0" tIns="0" rIns="0" bIns="0" rtlCol="0" anchor="ctr"/>
          <a:lstStyle/>
          <a:p>
            <a:r>
              <a:rPr lang="en-GB" sz="2800" b="1" dirty="0">
                <a:solidFill>
                  <a:schemeClr val="bg1"/>
                </a:solidFill>
                <a:latin typeface="Arial" panose="020B0604020202020204" pitchFamily="34" charset="0"/>
                <a:cs typeface="Arial" panose="020B0604020202020204" pitchFamily="34" charset="0"/>
              </a:rPr>
              <a:t>HR-Employee Wellness</a:t>
            </a:r>
            <a:endParaRPr lang="en-US" sz="2667" dirty="0">
              <a:solidFill>
                <a:schemeClr val="bg1"/>
              </a:solidFill>
              <a:latin typeface="Arial" panose="020B0604020202020204" pitchFamily="34" charset="0"/>
              <a:cs typeface="Arial" panose="020B0604020202020204" pitchFamily="34" charset="0"/>
            </a:endParaRPr>
          </a:p>
        </p:txBody>
      </p:sp>
      <p:sp>
        <p:nvSpPr>
          <p:cNvPr id="5" name="Shape 3">
            <a:extLst>
              <a:ext uri="{FF2B5EF4-FFF2-40B4-BE49-F238E27FC236}">
                <a16:creationId xmlns:a16="http://schemas.microsoft.com/office/drawing/2014/main" id="{CC51EFAB-E990-71F2-8324-A421476320BA}"/>
              </a:ext>
            </a:extLst>
          </p:cNvPr>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DB2DCFD2-4428-19BE-E173-4C00B4F1B171}"/>
              </a:ext>
            </a:extLst>
          </p:cNvPr>
          <p:cNvSpPr txBox="1"/>
          <p:nvPr/>
        </p:nvSpPr>
        <p:spPr>
          <a:xfrm>
            <a:off x="228600" y="1569856"/>
            <a:ext cx="12030456" cy="646331"/>
          </a:xfrm>
          <a:prstGeom prst="rect">
            <a:avLst/>
          </a:prstGeom>
          <a:noFill/>
        </p:spPr>
        <p:txBody>
          <a:bodyPr wrap="square">
            <a:spAutoFit/>
          </a:bodyPr>
          <a:lstStyle/>
          <a:p>
            <a:pPr algn="just"/>
            <a:r>
              <a:rPr lang="en-GB" dirty="0">
                <a:latin typeface="Arial" panose="020B0604020202020204" pitchFamily="34" charset="0"/>
                <a:cs typeface="Arial" panose="020B0604020202020204" pitchFamily="34" charset="0"/>
              </a:rPr>
              <a:t>For the year under review, Council continued to maintain employee wellness interventions introduced in the 2024/2025 financial year. This was achieved through the following initiatives.</a:t>
            </a:r>
            <a:endParaRPr lang="en-ZA" dirty="0">
              <a:latin typeface="Arial" panose="020B0604020202020204" pitchFamily="34" charset="0"/>
              <a:cs typeface="Arial" panose="020B0604020202020204" pitchFamily="34" charset="0"/>
            </a:endParaRPr>
          </a:p>
        </p:txBody>
      </p:sp>
      <p:sp>
        <p:nvSpPr>
          <p:cNvPr id="8" name="Shape 6">
            <a:extLst>
              <a:ext uri="{FF2B5EF4-FFF2-40B4-BE49-F238E27FC236}">
                <a16:creationId xmlns:a16="http://schemas.microsoft.com/office/drawing/2014/main" id="{505B3FF6-9E69-68F3-441F-CA360D5E7010}"/>
              </a:ext>
            </a:extLst>
          </p:cNvPr>
          <p:cNvSpPr/>
          <p:nvPr/>
        </p:nvSpPr>
        <p:spPr>
          <a:xfrm>
            <a:off x="271272" y="2395728"/>
            <a:ext cx="11460480" cy="694944"/>
          </a:xfrm>
          <a:prstGeom prst="rect">
            <a:avLst/>
          </a:prstGeom>
          <a:solidFill>
            <a:schemeClr val="accent5">
              <a:lumMod val="50000"/>
            </a:schemeClr>
          </a:solidFill>
          <a:ln w="6350">
            <a:solidFill>
              <a:srgbClr val="D0DEE8"/>
            </a:solidFill>
            <a:prstDash val="solid"/>
          </a:ln>
          <a:effectLst>
            <a:outerShdw blurRad="50800" dist="25400" dir="8100000" algn="bl" rotWithShape="0">
              <a:srgbClr val="000000">
                <a:alpha val="8000"/>
              </a:srgbClr>
            </a:outerShdw>
          </a:effectLst>
        </p:spPr>
        <p:txBody>
          <a:bodyPr/>
          <a:lstStyle/>
          <a:p>
            <a:pPr lvl="0" algn="ctr"/>
            <a:r>
              <a:rPr lang="en-ZA" dirty="0">
                <a:solidFill>
                  <a:schemeClr val="bg1"/>
                </a:solidFill>
                <a:latin typeface="Arial" panose="020B0604020202020204" pitchFamily="34" charset="0"/>
                <a:cs typeface="Arial" panose="020B0604020202020204" pitchFamily="34" charset="0"/>
              </a:rPr>
              <a:t>Staff Wellness Boards</a:t>
            </a:r>
          </a:p>
        </p:txBody>
      </p:sp>
      <p:sp>
        <p:nvSpPr>
          <p:cNvPr id="9" name="Shape 7">
            <a:extLst>
              <a:ext uri="{FF2B5EF4-FFF2-40B4-BE49-F238E27FC236}">
                <a16:creationId xmlns:a16="http://schemas.microsoft.com/office/drawing/2014/main" id="{3E81300B-370A-0B83-F9DB-EF8CBC516DA8}"/>
              </a:ext>
            </a:extLst>
          </p:cNvPr>
          <p:cNvSpPr/>
          <p:nvPr/>
        </p:nvSpPr>
        <p:spPr>
          <a:xfrm>
            <a:off x="228600" y="2395728"/>
            <a:ext cx="85344" cy="694944"/>
          </a:xfrm>
          <a:prstGeom prst="rect">
            <a:avLst/>
          </a:prstGeom>
          <a:solidFill>
            <a:schemeClr val="accent4">
              <a:lumMod val="75000"/>
            </a:schemeClr>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0" name="Shape 6">
            <a:extLst>
              <a:ext uri="{FF2B5EF4-FFF2-40B4-BE49-F238E27FC236}">
                <a16:creationId xmlns:a16="http://schemas.microsoft.com/office/drawing/2014/main" id="{57D7A375-A84A-961C-CA16-3E265D08CE23}"/>
              </a:ext>
            </a:extLst>
          </p:cNvPr>
          <p:cNvSpPr/>
          <p:nvPr/>
        </p:nvSpPr>
        <p:spPr>
          <a:xfrm>
            <a:off x="323088" y="3551988"/>
            <a:ext cx="11460480" cy="694944"/>
          </a:xfrm>
          <a:prstGeom prst="rect">
            <a:avLst/>
          </a:prstGeom>
          <a:solidFill>
            <a:schemeClr val="accent5">
              <a:lumMod val="50000"/>
            </a:schemeClr>
          </a:solidFill>
          <a:ln w="6350">
            <a:solidFill>
              <a:srgbClr val="D0DEE8"/>
            </a:solidFill>
            <a:prstDash val="solid"/>
          </a:ln>
          <a:effectLst>
            <a:outerShdw blurRad="50800" dist="25400" dir="8100000" algn="bl" rotWithShape="0">
              <a:srgbClr val="000000">
                <a:alpha val="8000"/>
              </a:srgbClr>
            </a:outerShdw>
          </a:effectLst>
        </p:spPr>
        <p:txBody>
          <a:bodyPr/>
          <a:lstStyle/>
          <a:p>
            <a:pPr algn="ctr"/>
            <a:r>
              <a:rPr lang="en-GB" dirty="0">
                <a:solidFill>
                  <a:schemeClr val="bg1"/>
                </a:solidFill>
                <a:latin typeface="Arial" panose="020B0604020202020204" pitchFamily="34" charset="0"/>
                <a:cs typeface="Arial" panose="020B0604020202020204" pitchFamily="34" charset="0"/>
              </a:rPr>
              <a:t>Wellness Wednesdays, Walk the talk</a:t>
            </a:r>
          </a:p>
        </p:txBody>
      </p:sp>
      <p:sp>
        <p:nvSpPr>
          <p:cNvPr id="11" name="Shape 7">
            <a:extLst>
              <a:ext uri="{FF2B5EF4-FFF2-40B4-BE49-F238E27FC236}">
                <a16:creationId xmlns:a16="http://schemas.microsoft.com/office/drawing/2014/main" id="{86FEDA07-65AB-F491-8337-243284B72627}"/>
              </a:ext>
            </a:extLst>
          </p:cNvPr>
          <p:cNvSpPr/>
          <p:nvPr/>
        </p:nvSpPr>
        <p:spPr>
          <a:xfrm>
            <a:off x="280416" y="3551988"/>
            <a:ext cx="85344" cy="694944"/>
          </a:xfrm>
          <a:prstGeom prst="rect">
            <a:avLst/>
          </a:prstGeom>
          <a:solidFill>
            <a:schemeClr val="accent4">
              <a:lumMod val="75000"/>
            </a:schemeClr>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2" name="Shape 6">
            <a:extLst>
              <a:ext uri="{FF2B5EF4-FFF2-40B4-BE49-F238E27FC236}">
                <a16:creationId xmlns:a16="http://schemas.microsoft.com/office/drawing/2014/main" id="{B631BD45-7192-CF5C-8191-79BCFD32EC92}"/>
              </a:ext>
            </a:extLst>
          </p:cNvPr>
          <p:cNvSpPr/>
          <p:nvPr/>
        </p:nvSpPr>
        <p:spPr>
          <a:xfrm>
            <a:off x="313944" y="4641814"/>
            <a:ext cx="11460480" cy="694944"/>
          </a:xfrm>
          <a:prstGeom prst="rect">
            <a:avLst/>
          </a:prstGeom>
          <a:solidFill>
            <a:schemeClr val="accent5">
              <a:lumMod val="50000"/>
            </a:schemeClr>
          </a:solidFill>
          <a:ln w="6350">
            <a:solidFill>
              <a:srgbClr val="D0DEE8"/>
            </a:solidFill>
            <a:prstDash val="solid"/>
          </a:ln>
          <a:effectLst>
            <a:outerShdw blurRad="50800" dist="25400" dir="8100000" algn="bl" rotWithShape="0">
              <a:srgbClr val="000000">
                <a:alpha val="8000"/>
              </a:srgbClr>
            </a:outerShdw>
          </a:effectLst>
        </p:spPr>
        <p:txBody>
          <a:bodyPr/>
          <a:lstStyle/>
          <a:p>
            <a:pPr algn="ctr"/>
            <a:r>
              <a:rPr lang="en-GB" dirty="0">
                <a:solidFill>
                  <a:schemeClr val="bg1"/>
                </a:solidFill>
                <a:latin typeface="Arial" panose="020B0604020202020204" pitchFamily="34" charset="0"/>
                <a:cs typeface="Arial" panose="020B0604020202020204" pitchFamily="34" charset="0"/>
              </a:rPr>
              <a:t>Staff Year End Appreciation Session</a:t>
            </a:r>
          </a:p>
        </p:txBody>
      </p:sp>
      <p:sp>
        <p:nvSpPr>
          <p:cNvPr id="13" name="Shape 7">
            <a:extLst>
              <a:ext uri="{FF2B5EF4-FFF2-40B4-BE49-F238E27FC236}">
                <a16:creationId xmlns:a16="http://schemas.microsoft.com/office/drawing/2014/main" id="{EA8ACC77-3512-7B63-4DEC-AA6AEB51109B}"/>
              </a:ext>
            </a:extLst>
          </p:cNvPr>
          <p:cNvSpPr/>
          <p:nvPr/>
        </p:nvSpPr>
        <p:spPr>
          <a:xfrm>
            <a:off x="228600" y="4641814"/>
            <a:ext cx="85344" cy="694944"/>
          </a:xfrm>
          <a:prstGeom prst="rect">
            <a:avLst/>
          </a:prstGeom>
          <a:solidFill>
            <a:schemeClr val="accent4">
              <a:lumMod val="75000"/>
            </a:schemeClr>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4" name="Shape 6">
            <a:extLst>
              <a:ext uri="{FF2B5EF4-FFF2-40B4-BE49-F238E27FC236}">
                <a16:creationId xmlns:a16="http://schemas.microsoft.com/office/drawing/2014/main" id="{07D06B86-94A4-C528-8BE7-2B8E2790AA93}"/>
              </a:ext>
            </a:extLst>
          </p:cNvPr>
          <p:cNvSpPr/>
          <p:nvPr/>
        </p:nvSpPr>
        <p:spPr>
          <a:xfrm>
            <a:off x="313944" y="5731640"/>
            <a:ext cx="11460480" cy="694944"/>
          </a:xfrm>
          <a:prstGeom prst="rect">
            <a:avLst/>
          </a:prstGeom>
          <a:solidFill>
            <a:schemeClr val="accent5">
              <a:lumMod val="50000"/>
            </a:schemeClr>
          </a:solidFill>
          <a:ln w="6350">
            <a:solidFill>
              <a:srgbClr val="D0DEE8"/>
            </a:solidFill>
            <a:prstDash val="solid"/>
          </a:ln>
          <a:effectLst>
            <a:outerShdw blurRad="50800" dist="25400" dir="8100000" algn="bl" rotWithShape="0">
              <a:srgbClr val="000000">
                <a:alpha val="8000"/>
              </a:srgbClr>
            </a:outerShdw>
          </a:effectLst>
        </p:spPr>
        <p:txBody>
          <a:bodyPr/>
          <a:lstStyle/>
          <a:p>
            <a:pPr algn="ctr"/>
            <a:r>
              <a:rPr lang="en-GB" dirty="0">
                <a:solidFill>
                  <a:schemeClr val="bg1"/>
                </a:solidFill>
                <a:latin typeface="Arial" panose="020B0604020202020204" pitchFamily="34" charset="0"/>
                <a:cs typeface="Arial" panose="020B0604020202020204" pitchFamily="34" charset="0"/>
              </a:rPr>
              <a:t>Staff Year end and team building</a:t>
            </a:r>
          </a:p>
        </p:txBody>
      </p:sp>
      <p:sp>
        <p:nvSpPr>
          <p:cNvPr id="15" name="Shape 7">
            <a:extLst>
              <a:ext uri="{FF2B5EF4-FFF2-40B4-BE49-F238E27FC236}">
                <a16:creationId xmlns:a16="http://schemas.microsoft.com/office/drawing/2014/main" id="{28253B3B-7070-5C64-D492-A307C5414C1A}"/>
              </a:ext>
            </a:extLst>
          </p:cNvPr>
          <p:cNvSpPr/>
          <p:nvPr/>
        </p:nvSpPr>
        <p:spPr>
          <a:xfrm>
            <a:off x="228600" y="5731640"/>
            <a:ext cx="85344" cy="694944"/>
          </a:xfrm>
          <a:prstGeom prst="rect">
            <a:avLst/>
          </a:prstGeom>
          <a:solidFill>
            <a:schemeClr val="accent4">
              <a:lumMod val="75000"/>
            </a:schemeClr>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194344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05627-4E10-AC65-0518-58496399D88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DA5D079-57E5-2F53-262A-CCC4C9251586}"/>
              </a:ext>
            </a:extLst>
          </p:cNvPr>
          <p:cNvSpPr/>
          <p:nvPr/>
        </p:nvSpPr>
        <p:spPr>
          <a:xfrm>
            <a:off x="0" y="30480"/>
            <a:ext cx="12192000" cy="1341120"/>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7F7429F0-D3EC-2D39-E63B-856EDC12B279}"/>
              </a:ext>
            </a:extLst>
          </p:cNvPr>
          <p:cNvSpPr/>
          <p:nvPr/>
        </p:nvSpPr>
        <p:spPr>
          <a:xfrm>
            <a:off x="487680" y="121920"/>
            <a:ext cx="11216640" cy="670560"/>
          </a:xfrm>
          <a:prstGeom prst="rect">
            <a:avLst/>
          </a:prstGeom>
          <a:noFill/>
          <a:ln/>
        </p:spPr>
        <p:txBody>
          <a:bodyPr wrap="square" lIns="0" tIns="0" rIns="0" bIns="0" rtlCol="0" anchor="ctr"/>
          <a:lstStyle/>
          <a:p>
            <a:r>
              <a:rPr lang="en-ZA" sz="2800" b="1" dirty="0">
                <a:solidFill>
                  <a:schemeClr val="bg1"/>
                </a:solidFill>
                <a:latin typeface="Arial" panose="020B0604020202020204" pitchFamily="34" charset="0"/>
                <a:cs typeface="Arial" panose="020B0604020202020204" pitchFamily="34" charset="0"/>
              </a:rPr>
              <a:t>COMMUNICATIONS </a:t>
            </a:r>
          </a:p>
        </p:txBody>
      </p:sp>
      <p:sp>
        <p:nvSpPr>
          <p:cNvPr id="4" name="Text 2">
            <a:extLst>
              <a:ext uri="{FF2B5EF4-FFF2-40B4-BE49-F238E27FC236}">
                <a16:creationId xmlns:a16="http://schemas.microsoft.com/office/drawing/2014/main" id="{5A66EDD3-9FB9-371D-15A8-23B2FB5C3B2A}"/>
              </a:ext>
            </a:extLst>
          </p:cNvPr>
          <p:cNvSpPr/>
          <p:nvPr/>
        </p:nvSpPr>
        <p:spPr>
          <a:xfrm>
            <a:off x="487680" y="755904"/>
            <a:ext cx="11216640" cy="487680"/>
          </a:xfrm>
          <a:prstGeom prst="rect">
            <a:avLst/>
          </a:prstGeom>
          <a:noFill/>
          <a:ln/>
        </p:spPr>
        <p:txBody>
          <a:bodyPr wrap="square" lIns="0" tIns="0" rIns="0" bIns="0" rtlCol="0" anchor="ctr"/>
          <a:lstStyle/>
          <a:p>
            <a:endParaRPr lang="en-US" sz="1600" dirty="0">
              <a:solidFill>
                <a:schemeClr val="bg1"/>
              </a:solidFill>
              <a:latin typeface="Arial" panose="020B0604020202020204" pitchFamily="34" charset="0"/>
              <a:cs typeface="Arial" panose="020B0604020202020204" pitchFamily="34" charset="0"/>
            </a:endParaRPr>
          </a:p>
        </p:txBody>
      </p:sp>
      <p:sp>
        <p:nvSpPr>
          <p:cNvPr id="5" name="Shape 3">
            <a:extLst>
              <a:ext uri="{FF2B5EF4-FFF2-40B4-BE49-F238E27FC236}">
                <a16:creationId xmlns:a16="http://schemas.microsoft.com/office/drawing/2014/main" id="{C5F3DA10-9265-2DC2-41ED-0665E223519C}"/>
              </a:ext>
            </a:extLst>
          </p:cNvPr>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2" name="Shape 10">
            <a:extLst>
              <a:ext uri="{FF2B5EF4-FFF2-40B4-BE49-F238E27FC236}">
                <a16:creationId xmlns:a16="http://schemas.microsoft.com/office/drawing/2014/main" id="{4123B5CE-74F0-E23E-4794-E6B53431124C}"/>
              </a:ext>
            </a:extLst>
          </p:cNvPr>
          <p:cNvSpPr/>
          <p:nvPr/>
        </p:nvSpPr>
        <p:spPr>
          <a:xfrm>
            <a:off x="365760" y="2560320"/>
            <a:ext cx="11460480" cy="3596640"/>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13" name="Shape 11">
            <a:extLst>
              <a:ext uri="{FF2B5EF4-FFF2-40B4-BE49-F238E27FC236}">
                <a16:creationId xmlns:a16="http://schemas.microsoft.com/office/drawing/2014/main" id="{CE6378DF-01AE-532C-19CD-919F9F0E1400}"/>
              </a:ext>
            </a:extLst>
          </p:cNvPr>
          <p:cNvSpPr/>
          <p:nvPr/>
        </p:nvSpPr>
        <p:spPr>
          <a:xfrm>
            <a:off x="365760" y="2560320"/>
            <a:ext cx="11460480" cy="512064"/>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4" name="Text 12">
            <a:extLst>
              <a:ext uri="{FF2B5EF4-FFF2-40B4-BE49-F238E27FC236}">
                <a16:creationId xmlns:a16="http://schemas.microsoft.com/office/drawing/2014/main" id="{9ED6DCA3-8011-A40F-85E8-6CC7C3CC9E63}"/>
              </a:ext>
            </a:extLst>
          </p:cNvPr>
          <p:cNvSpPr/>
          <p:nvPr/>
        </p:nvSpPr>
        <p:spPr>
          <a:xfrm>
            <a:off x="4328160" y="2560320"/>
            <a:ext cx="3413760" cy="512064"/>
          </a:xfrm>
          <a:prstGeom prst="rect">
            <a:avLst/>
          </a:prstGeom>
          <a:noFill/>
          <a:ln/>
        </p:spPr>
        <p:txBody>
          <a:bodyPr wrap="square" lIns="0" tIns="0" rIns="0" bIns="0" rtlCol="0" anchor="ctr"/>
          <a:lstStyle/>
          <a:p>
            <a:pPr algn="ctr"/>
            <a:r>
              <a:rPr lang="en-US" sz="1600" b="1" dirty="0">
                <a:solidFill>
                  <a:srgbClr val="FFFFFF"/>
                </a:solidFill>
                <a:latin typeface="Arial" panose="020B0604020202020204" pitchFamily="34" charset="0"/>
                <a:ea typeface="Calibri" pitchFamily="34" charset="-122"/>
                <a:cs typeface="Arial" panose="020B0604020202020204" pitchFamily="34" charset="0"/>
              </a:rPr>
              <a:t>MANDATE</a:t>
            </a:r>
            <a:endParaRPr lang="en-US" sz="1600" dirty="0">
              <a:latin typeface="Arial" panose="020B0604020202020204" pitchFamily="34" charset="0"/>
              <a:cs typeface="Arial" panose="020B0604020202020204" pitchFamily="34" charset="0"/>
            </a:endParaRPr>
          </a:p>
        </p:txBody>
      </p:sp>
      <p:sp>
        <p:nvSpPr>
          <p:cNvPr id="15" name="Text 13">
            <a:extLst>
              <a:ext uri="{FF2B5EF4-FFF2-40B4-BE49-F238E27FC236}">
                <a16:creationId xmlns:a16="http://schemas.microsoft.com/office/drawing/2014/main" id="{6DD08D4D-D5DB-72E9-1467-98F72F68210F}"/>
              </a:ext>
            </a:extLst>
          </p:cNvPr>
          <p:cNvSpPr/>
          <p:nvPr/>
        </p:nvSpPr>
        <p:spPr>
          <a:xfrm>
            <a:off x="365760" y="3169920"/>
            <a:ext cx="11460480" cy="2865120"/>
          </a:xfrm>
          <a:prstGeom prst="rect">
            <a:avLst/>
          </a:prstGeom>
          <a:noFill/>
          <a:ln/>
        </p:spPr>
        <p:txBody>
          <a:bodyPr wrap="square" rtlCol="0" anchor="ctr"/>
          <a:lstStyle/>
          <a:p>
            <a:pPr lvl="0" algn="just">
              <a:tabLst>
                <a:tab pos="3429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Arial" panose="020B0604020202020204" pitchFamily="34" charset="0"/>
                <a:ea typeface="Calibri" panose="020F0502020204030204" pitchFamily="34" charset="0"/>
                <a:cs typeface="Arial" panose="020B0604020202020204" pitchFamily="34" charset="0"/>
              </a:rPr>
              <a:t>T</a:t>
            </a:r>
            <a:r>
              <a:rPr lang="en-US" sz="1600" dirty="0">
                <a:latin typeface="Arial" panose="020B0604020202020204" pitchFamily="34" charset="0"/>
                <a:ea typeface="Calibri" panose="020F0502020204030204" pitchFamily="34" charset="0"/>
              </a:rPr>
              <a:t>o create a unified and sustainable brand image by communicating clear and concise messages using relevant communication channels. This is with the aim to craft a strong brand for Council and promote it strategically both nationally and internationally.</a:t>
            </a:r>
            <a:endParaRPr lang="en-US" sz="1600" dirty="0">
              <a:solidFill>
                <a:srgbClr val="000000"/>
              </a:solidFill>
              <a:latin typeface="Arial" panose="020B0604020202020204" pitchFamily="34" charset="0"/>
              <a:ea typeface="Calibri" panose="020F0502020204030204" pitchFamily="34" charset="0"/>
              <a:cs typeface="Arial" panose="020B0604020202020204" pitchFamily="34" charset="0"/>
            </a:endParaRPr>
          </a:p>
        </p:txBody>
      </p:sp>
      <p:pic>
        <p:nvPicPr>
          <p:cNvPr id="20" name="Graphic 19" descr="Badge Tick with solid fill">
            <a:extLst>
              <a:ext uri="{FF2B5EF4-FFF2-40B4-BE49-F238E27FC236}">
                <a16:creationId xmlns:a16="http://schemas.microsoft.com/office/drawing/2014/main" id="{8FA9179C-43F0-AB39-20F1-82E90D67962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5760" y="2485139"/>
            <a:ext cx="654072" cy="662425"/>
          </a:xfrm>
          <a:prstGeom prst="rect">
            <a:avLst/>
          </a:prstGeom>
        </p:spPr>
      </p:pic>
      <p:sp>
        <p:nvSpPr>
          <p:cNvPr id="6" name="Oval 5">
            <a:extLst>
              <a:ext uri="{FF2B5EF4-FFF2-40B4-BE49-F238E27FC236}">
                <a16:creationId xmlns:a16="http://schemas.microsoft.com/office/drawing/2014/main" id="{6102E938-FE63-5C0D-34C1-B63A7A446455}"/>
              </a:ext>
            </a:extLst>
          </p:cNvPr>
          <p:cNvSpPr/>
          <p:nvPr/>
        </p:nvSpPr>
        <p:spPr>
          <a:xfrm>
            <a:off x="10759654" y="301567"/>
            <a:ext cx="844610" cy="833493"/>
          </a:xfrm>
          <a:prstGeom prst="ellipse">
            <a:avLst/>
          </a:prstGeom>
          <a:solidFill>
            <a:srgbClr val="FFFFFF"/>
          </a:solidFill>
          <a:ln w="9525" cap="flat" cmpd="sng" algn="ctr">
            <a:no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srgbClr val="000000"/>
              </a:solidFill>
              <a:effectLst/>
              <a:uLnTx/>
              <a:uFillTx/>
              <a:latin typeface="Arial"/>
              <a:ea typeface="+mn-ea"/>
              <a:cs typeface="+mn-cs"/>
            </a:endParaRPr>
          </a:p>
        </p:txBody>
      </p:sp>
      <p:pic>
        <p:nvPicPr>
          <p:cNvPr id="7" name="Graphic 6" descr="Vlog with solid fill">
            <a:extLst>
              <a:ext uri="{FF2B5EF4-FFF2-40B4-BE49-F238E27FC236}">
                <a16:creationId xmlns:a16="http://schemas.microsoft.com/office/drawing/2014/main" id="{828F9C78-6742-204D-AF8F-6F2C1B88087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875959" y="391428"/>
            <a:ext cx="612000" cy="612000"/>
          </a:xfrm>
          <a:prstGeom prst="rect">
            <a:avLst/>
          </a:prstGeom>
        </p:spPr>
      </p:pic>
    </p:spTree>
    <p:extLst>
      <p:ext uri="{BB962C8B-B14F-4D97-AF65-F5344CB8AC3E}">
        <p14:creationId xmlns:p14="http://schemas.microsoft.com/office/powerpoint/2010/main" val="16871475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9E403-2E6B-5C3C-3A22-AD2353743F1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1F6B061-6AD3-8637-A387-51A50D3138C1}"/>
              </a:ext>
            </a:extLst>
          </p:cNvPr>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89F291AE-BBC2-8ECA-5D25-C496BA0E0D7B}"/>
              </a:ext>
            </a:extLst>
          </p:cNvPr>
          <p:cNvSpPr/>
          <p:nvPr/>
        </p:nvSpPr>
        <p:spPr>
          <a:xfrm>
            <a:off x="487680" y="121920"/>
            <a:ext cx="11216640" cy="670560"/>
          </a:xfrm>
          <a:prstGeom prst="rect">
            <a:avLst/>
          </a:prstGeom>
          <a:noFill/>
          <a:ln/>
        </p:spPr>
        <p:txBody>
          <a:bodyPr wrap="square" lIns="0" tIns="0" rIns="0" bIns="0" rtlCol="0" anchor="ctr"/>
          <a:lstStyle/>
          <a:p>
            <a:r>
              <a:rPr lang="en-US" sz="2800" b="1" dirty="0">
                <a:solidFill>
                  <a:schemeClr val="bg1"/>
                </a:solidFill>
                <a:latin typeface="Arial" panose="020B0604020202020204" pitchFamily="34" charset="0"/>
                <a:cs typeface="Arial" panose="020B0604020202020204" pitchFamily="34" charset="0"/>
              </a:rPr>
              <a:t>Website Statistics</a:t>
            </a:r>
            <a:endParaRPr lang="en-US" sz="2667" dirty="0">
              <a:solidFill>
                <a:schemeClr val="bg1"/>
              </a:solidFill>
              <a:latin typeface="Arial" panose="020B0604020202020204" pitchFamily="34" charset="0"/>
              <a:cs typeface="Arial" panose="020B0604020202020204" pitchFamily="34" charset="0"/>
            </a:endParaRPr>
          </a:p>
        </p:txBody>
      </p:sp>
      <p:sp>
        <p:nvSpPr>
          <p:cNvPr id="5" name="Shape 3">
            <a:extLst>
              <a:ext uri="{FF2B5EF4-FFF2-40B4-BE49-F238E27FC236}">
                <a16:creationId xmlns:a16="http://schemas.microsoft.com/office/drawing/2014/main" id="{68ECD542-A0F2-A6D5-00DC-2CD2755139DA}"/>
              </a:ext>
            </a:extLst>
          </p:cNvPr>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2400">
              <a:latin typeface="Arial" panose="020B0604020202020204" pitchFamily="34" charset="0"/>
              <a:cs typeface="Arial" panose="020B0604020202020204" pitchFamily="34" charset="0"/>
            </a:endParaRPr>
          </a:p>
        </p:txBody>
      </p:sp>
      <p:pic>
        <p:nvPicPr>
          <p:cNvPr id="6" name="Content Placeholder 7" descr="Chart 20, Chart element">
            <a:extLst>
              <a:ext uri="{FF2B5EF4-FFF2-40B4-BE49-F238E27FC236}">
                <a16:creationId xmlns:a16="http://schemas.microsoft.com/office/drawing/2014/main" id="{5996428D-3A94-688C-1DEE-30E7DE0FAC02}"/>
              </a:ext>
            </a:extLst>
          </p:cNvPr>
          <p:cNvPicPr>
            <a:picLocks noChangeAspect="1"/>
          </p:cNvPicPr>
          <p:nvPr/>
        </p:nvPicPr>
        <p:blipFill>
          <a:blip r:embed="rId3"/>
          <a:stretch>
            <a:fillRect/>
          </a:stretch>
        </p:blipFill>
        <p:spPr>
          <a:xfrm>
            <a:off x="1535609" y="2171531"/>
            <a:ext cx="7464554" cy="4564549"/>
          </a:xfrm>
          <a:prstGeom prst="rect">
            <a:avLst/>
          </a:prstGeom>
        </p:spPr>
      </p:pic>
      <p:sp>
        <p:nvSpPr>
          <p:cNvPr id="7" name="TextBox 6">
            <a:extLst>
              <a:ext uri="{FF2B5EF4-FFF2-40B4-BE49-F238E27FC236}">
                <a16:creationId xmlns:a16="http://schemas.microsoft.com/office/drawing/2014/main" id="{4CF9C178-5515-C05D-C245-B7C67ED4880F}"/>
              </a:ext>
            </a:extLst>
          </p:cNvPr>
          <p:cNvSpPr txBox="1"/>
          <p:nvPr/>
        </p:nvSpPr>
        <p:spPr>
          <a:xfrm>
            <a:off x="328774" y="1492749"/>
            <a:ext cx="11065266" cy="584775"/>
          </a:xfrm>
          <a:prstGeom prst="rect">
            <a:avLst/>
          </a:prstGeom>
          <a:noFill/>
        </p:spPr>
        <p:txBody>
          <a:bodyPr wrap="square">
            <a:spAutoFit/>
          </a:bodyPr>
          <a:lstStyle/>
          <a:p>
            <a:r>
              <a:rPr lang="en-GB" sz="1600" dirty="0">
                <a:latin typeface="Arial" panose="020B0604020202020204" pitchFamily="34" charset="0"/>
                <a:cs typeface="Arial" panose="020B0604020202020204" pitchFamily="34" charset="0"/>
              </a:rPr>
              <a:t>The graph illustrates the total number of page views recorded on the website during the 2025/2026 financial year, reflecting overall user engagement with the Council’s online content.</a:t>
            </a:r>
            <a:endParaRPr lang="en-ZA"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138297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33E68-1CFC-2E34-B226-FA1080D8925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34D4112-B962-234E-53FD-81593119A419}"/>
              </a:ext>
            </a:extLst>
          </p:cNvPr>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2CA866D5-A504-6906-59DE-01FD0C6453C0}"/>
              </a:ext>
            </a:extLst>
          </p:cNvPr>
          <p:cNvSpPr/>
          <p:nvPr/>
        </p:nvSpPr>
        <p:spPr>
          <a:xfrm>
            <a:off x="487680" y="121920"/>
            <a:ext cx="11216640" cy="670560"/>
          </a:xfrm>
          <a:prstGeom prst="rect">
            <a:avLst/>
          </a:prstGeom>
          <a:noFill/>
          <a:ln/>
        </p:spPr>
        <p:txBody>
          <a:bodyPr wrap="square" lIns="0" tIns="0" rIns="0" bIns="0" rtlCol="0" anchor="ctr"/>
          <a:lstStyle/>
          <a:p>
            <a:r>
              <a:rPr lang="en-US" sz="2800" b="1" dirty="0">
                <a:solidFill>
                  <a:schemeClr val="bg1"/>
                </a:solidFill>
                <a:latin typeface="Arial" panose="020B0604020202020204" pitchFamily="34" charset="0"/>
                <a:cs typeface="Arial" panose="020B0604020202020204" pitchFamily="34" charset="0"/>
              </a:rPr>
              <a:t>Comparison of Visitors + New Visitors</a:t>
            </a:r>
            <a:endParaRPr lang="en-US" sz="2667" dirty="0">
              <a:solidFill>
                <a:schemeClr val="bg1"/>
              </a:solidFill>
              <a:latin typeface="Arial" panose="020B0604020202020204" pitchFamily="34" charset="0"/>
              <a:cs typeface="Arial" panose="020B0604020202020204" pitchFamily="34" charset="0"/>
            </a:endParaRPr>
          </a:p>
        </p:txBody>
      </p:sp>
      <p:sp>
        <p:nvSpPr>
          <p:cNvPr id="5" name="Shape 3">
            <a:extLst>
              <a:ext uri="{FF2B5EF4-FFF2-40B4-BE49-F238E27FC236}">
                <a16:creationId xmlns:a16="http://schemas.microsoft.com/office/drawing/2014/main" id="{2546A25D-9085-5FA7-2D16-652539122ACA}"/>
              </a:ext>
            </a:extLst>
          </p:cNvPr>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2400">
              <a:latin typeface="Arial" panose="020B0604020202020204" pitchFamily="34" charset="0"/>
              <a:cs typeface="Arial" panose="020B0604020202020204" pitchFamily="34" charset="0"/>
            </a:endParaRPr>
          </a:p>
        </p:txBody>
      </p:sp>
      <p:pic>
        <p:nvPicPr>
          <p:cNvPr id="4" name="Content Placeholder 8" descr="Chart 18, Chart element">
            <a:extLst>
              <a:ext uri="{FF2B5EF4-FFF2-40B4-BE49-F238E27FC236}">
                <a16:creationId xmlns:a16="http://schemas.microsoft.com/office/drawing/2014/main" id="{9719389D-D471-C0E7-68D4-F31172AA8584}"/>
              </a:ext>
            </a:extLst>
          </p:cNvPr>
          <p:cNvPicPr>
            <a:picLocks noChangeAspect="1"/>
          </p:cNvPicPr>
          <p:nvPr/>
        </p:nvPicPr>
        <p:blipFill>
          <a:blip r:embed="rId3"/>
          <a:stretch>
            <a:fillRect/>
          </a:stretch>
        </p:blipFill>
        <p:spPr>
          <a:xfrm>
            <a:off x="0" y="3433174"/>
            <a:ext cx="5655059" cy="3302906"/>
          </a:xfrm>
          <a:prstGeom prst="rect">
            <a:avLst/>
          </a:prstGeom>
        </p:spPr>
      </p:pic>
      <p:pic>
        <p:nvPicPr>
          <p:cNvPr id="7" name="Picture 6" descr="Chart 17, Chart element">
            <a:extLst>
              <a:ext uri="{FF2B5EF4-FFF2-40B4-BE49-F238E27FC236}">
                <a16:creationId xmlns:a16="http://schemas.microsoft.com/office/drawing/2014/main" id="{5DF192C4-ED18-BD72-CD40-3D530B246686}"/>
              </a:ext>
            </a:extLst>
          </p:cNvPr>
          <p:cNvPicPr>
            <a:picLocks noChangeAspect="1"/>
          </p:cNvPicPr>
          <p:nvPr/>
        </p:nvPicPr>
        <p:blipFill>
          <a:blip r:embed="rId4"/>
          <a:stretch>
            <a:fillRect/>
          </a:stretch>
        </p:blipFill>
        <p:spPr>
          <a:xfrm>
            <a:off x="5962613" y="3433174"/>
            <a:ext cx="5658619" cy="3302906"/>
          </a:xfrm>
          <a:prstGeom prst="rect">
            <a:avLst/>
          </a:prstGeom>
        </p:spPr>
      </p:pic>
      <p:sp>
        <p:nvSpPr>
          <p:cNvPr id="8" name="TextBox 7">
            <a:extLst>
              <a:ext uri="{FF2B5EF4-FFF2-40B4-BE49-F238E27FC236}">
                <a16:creationId xmlns:a16="http://schemas.microsoft.com/office/drawing/2014/main" id="{D5A36B5F-59C4-E793-2A6A-46BEE486658B}"/>
              </a:ext>
            </a:extLst>
          </p:cNvPr>
          <p:cNvSpPr txBox="1"/>
          <p:nvPr/>
        </p:nvSpPr>
        <p:spPr>
          <a:xfrm>
            <a:off x="154113" y="1463040"/>
            <a:ext cx="11384926" cy="1893339"/>
          </a:xfrm>
          <a:prstGeom prst="rect">
            <a:avLst/>
          </a:prstGeom>
          <a:noFill/>
        </p:spPr>
        <p:txBody>
          <a:bodyPr wrap="square">
            <a:spAutoFit/>
          </a:bodyPr>
          <a:lstStyle/>
          <a:p>
            <a:pPr algn="just">
              <a:lnSpc>
                <a:spcPct val="150000"/>
              </a:lnSpc>
            </a:pPr>
            <a:r>
              <a:rPr lang="en-GB" sz="1600" dirty="0">
                <a:latin typeface="Arial" panose="020B0604020202020204" pitchFamily="34" charset="0"/>
                <a:cs typeface="Arial" panose="020B0604020202020204" pitchFamily="34" charset="0"/>
              </a:rPr>
              <a:t>A cross-comparison of the data reveals that traffic for the 2025/2026 fiscal year is heavily dominated by first-time users, with new visitors consistently accounting for over 80% to 90% of total volume in almost every mapped month. Both charts follow an identical seasonal trajectory, showing a spike in July (730 new vs. 827 total). This is followed by a sharp decline that bottoms out in September (363 new vs. 429 total), before building up to a primary peak at the end of February and March, where overall traffic hovers near 1,000 visitors.</a:t>
            </a:r>
            <a:endParaRPr lang="en-ZA"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45066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4567C-FBF5-D062-6608-E3B22A6C9B3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6FAD07A-59C1-69A4-7A10-70A438CFC65E}"/>
              </a:ext>
            </a:extLst>
          </p:cNvPr>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723D5899-C434-A407-EAAA-8B9368A7B998}"/>
              </a:ext>
            </a:extLst>
          </p:cNvPr>
          <p:cNvSpPr/>
          <p:nvPr/>
        </p:nvSpPr>
        <p:spPr>
          <a:xfrm>
            <a:off x="487680" y="121920"/>
            <a:ext cx="11216640" cy="670560"/>
          </a:xfrm>
          <a:prstGeom prst="rect">
            <a:avLst/>
          </a:prstGeom>
          <a:noFill/>
          <a:ln/>
        </p:spPr>
        <p:txBody>
          <a:bodyPr wrap="square" lIns="0" tIns="0" rIns="0" bIns="0" rtlCol="0" anchor="ctr"/>
          <a:lstStyle/>
          <a:p>
            <a:r>
              <a:rPr lang="en-US" sz="2800" b="1" dirty="0">
                <a:solidFill>
                  <a:schemeClr val="bg1"/>
                </a:solidFill>
                <a:latin typeface="Arial" panose="020B0604020202020204" pitchFamily="34" charset="0"/>
                <a:cs typeface="Arial" panose="020B0604020202020204" pitchFamily="34" charset="0"/>
              </a:rPr>
              <a:t>Social Media</a:t>
            </a:r>
            <a:endParaRPr lang="en-US" sz="2667" dirty="0">
              <a:solidFill>
                <a:schemeClr val="bg1"/>
              </a:solidFill>
              <a:latin typeface="Arial" panose="020B0604020202020204" pitchFamily="34" charset="0"/>
              <a:cs typeface="Arial" panose="020B0604020202020204" pitchFamily="34" charset="0"/>
            </a:endParaRPr>
          </a:p>
        </p:txBody>
      </p:sp>
      <p:sp>
        <p:nvSpPr>
          <p:cNvPr id="5" name="Shape 3">
            <a:extLst>
              <a:ext uri="{FF2B5EF4-FFF2-40B4-BE49-F238E27FC236}">
                <a16:creationId xmlns:a16="http://schemas.microsoft.com/office/drawing/2014/main" id="{4DB0A0DC-2FCF-B206-4FBE-B035246D4F69}"/>
              </a:ext>
            </a:extLst>
          </p:cNvPr>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2400">
              <a:latin typeface="Arial" panose="020B0604020202020204" pitchFamily="34" charset="0"/>
              <a:cs typeface="Arial" panose="020B0604020202020204" pitchFamily="34" charset="0"/>
            </a:endParaRPr>
          </a:p>
        </p:txBody>
      </p:sp>
      <p:pic>
        <p:nvPicPr>
          <p:cNvPr id="8" name="Picture 7" descr="Chart 21, Chart element">
            <a:extLst>
              <a:ext uri="{FF2B5EF4-FFF2-40B4-BE49-F238E27FC236}">
                <a16:creationId xmlns:a16="http://schemas.microsoft.com/office/drawing/2014/main" id="{487E7B76-FC21-5473-477F-346F9D89D9D1}"/>
              </a:ext>
            </a:extLst>
          </p:cNvPr>
          <p:cNvPicPr>
            <a:picLocks noChangeAspect="1"/>
          </p:cNvPicPr>
          <p:nvPr/>
        </p:nvPicPr>
        <p:blipFill>
          <a:blip r:embed="rId3"/>
          <a:stretch>
            <a:fillRect/>
          </a:stretch>
        </p:blipFill>
        <p:spPr>
          <a:xfrm>
            <a:off x="1017142" y="2682240"/>
            <a:ext cx="8527550" cy="3971105"/>
          </a:xfrm>
          <a:prstGeom prst="rect">
            <a:avLst/>
          </a:prstGeom>
        </p:spPr>
      </p:pic>
      <p:sp>
        <p:nvSpPr>
          <p:cNvPr id="7" name="TextBox 6">
            <a:extLst>
              <a:ext uri="{FF2B5EF4-FFF2-40B4-BE49-F238E27FC236}">
                <a16:creationId xmlns:a16="http://schemas.microsoft.com/office/drawing/2014/main" id="{0B8846A7-ABAD-F23F-D88A-8FB6219AD15B}"/>
              </a:ext>
            </a:extLst>
          </p:cNvPr>
          <p:cNvSpPr txBox="1"/>
          <p:nvPr/>
        </p:nvSpPr>
        <p:spPr>
          <a:xfrm>
            <a:off x="119865" y="1463040"/>
            <a:ext cx="12192000" cy="1077218"/>
          </a:xfrm>
          <a:prstGeom prst="rect">
            <a:avLst/>
          </a:prstGeom>
          <a:noFill/>
        </p:spPr>
        <p:txBody>
          <a:bodyPr wrap="square">
            <a:spAutoFit/>
          </a:bodyPr>
          <a:lstStyle/>
          <a:p>
            <a:r>
              <a:rPr lang="en-GB" sz="1600" dirty="0">
                <a:latin typeface="Arial" panose="020B0604020202020204" pitchFamily="34" charset="0"/>
                <a:cs typeface="Arial" panose="020B0604020202020204" pitchFamily="34" charset="0"/>
              </a:rPr>
              <a:t>A cross-comparison of our social media performance growth in terms of number of followers accumulated for the 2025/2026 financial year demonstrates that Facebook is an absolute powerhouse of your social media ecosystem, accounting for growth of  11,317 new followers out of 13,477 total new followers’ growth. Tik Tok has relatively performed well accumulating 1,214 followers as a new platform introduced from August 2025.</a:t>
            </a:r>
            <a:endParaRPr lang="en-ZA"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746226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42769-1846-F32C-D927-69EAADB2255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DCE5C1F-4527-6F90-9271-6A0101EAABE3}"/>
              </a:ext>
            </a:extLst>
          </p:cNvPr>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35FC5A0A-9357-D5E9-6263-1DF44FC130AA}"/>
              </a:ext>
            </a:extLst>
          </p:cNvPr>
          <p:cNvSpPr/>
          <p:nvPr/>
        </p:nvSpPr>
        <p:spPr>
          <a:xfrm>
            <a:off x="487680" y="121920"/>
            <a:ext cx="11216640" cy="670560"/>
          </a:xfrm>
          <a:prstGeom prst="rect">
            <a:avLst/>
          </a:prstGeom>
          <a:noFill/>
          <a:ln/>
        </p:spPr>
        <p:txBody>
          <a:bodyPr wrap="square" lIns="0" tIns="0" rIns="0" bIns="0" rtlCol="0" anchor="ctr"/>
          <a:lstStyle/>
          <a:p>
            <a:r>
              <a:rPr lang="en-US" sz="2800" b="1" dirty="0">
                <a:solidFill>
                  <a:schemeClr val="bg1"/>
                </a:solidFill>
                <a:latin typeface="Arial" panose="020B0604020202020204" pitchFamily="34" charset="0"/>
                <a:cs typeface="Arial" panose="020B0604020202020204" pitchFamily="34" charset="0"/>
              </a:rPr>
              <a:t>Social Media</a:t>
            </a:r>
            <a:endParaRPr lang="en-US" sz="2667" dirty="0">
              <a:solidFill>
                <a:schemeClr val="bg1"/>
              </a:solidFill>
              <a:latin typeface="Arial" panose="020B0604020202020204" pitchFamily="34" charset="0"/>
              <a:cs typeface="Arial" panose="020B0604020202020204" pitchFamily="34" charset="0"/>
            </a:endParaRPr>
          </a:p>
        </p:txBody>
      </p:sp>
      <p:sp>
        <p:nvSpPr>
          <p:cNvPr id="5" name="Shape 3">
            <a:extLst>
              <a:ext uri="{FF2B5EF4-FFF2-40B4-BE49-F238E27FC236}">
                <a16:creationId xmlns:a16="http://schemas.microsoft.com/office/drawing/2014/main" id="{552046C9-FE34-0646-FB89-D95F25104D25}"/>
              </a:ext>
            </a:extLst>
          </p:cNvPr>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2400">
              <a:latin typeface="Arial" panose="020B0604020202020204" pitchFamily="34" charset="0"/>
              <a:cs typeface="Arial" panose="020B0604020202020204" pitchFamily="34" charset="0"/>
            </a:endParaRPr>
          </a:p>
        </p:txBody>
      </p:sp>
      <p:pic>
        <p:nvPicPr>
          <p:cNvPr id="6" name="Picture 5" descr="Chart 20, Chart element">
            <a:extLst>
              <a:ext uri="{FF2B5EF4-FFF2-40B4-BE49-F238E27FC236}">
                <a16:creationId xmlns:a16="http://schemas.microsoft.com/office/drawing/2014/main" id="{17FAE1E6-3CD8-E8E0-E2DA-8E2471640ED7}"/>
              </a:ext>
            </a:extLst>
          </p:cNvPr>
          <p:cNvPicPr>
            <a:picLocks noChangeAspect="1"/>
          </p:cNvPicPr>
          <p:nvPr/>
        </p:nvPicPr>
        <p:blipFill>
          <a:blip r:embed="rId3"/>
          <a:stretch>
            <a:fillRect/>
          </a:stretch>
        </p:blipFill>
        <p:spPr>
          <a:xfrm>
            <a:off x="719752" y="3062288"/>
            <a:ext cx="9790712" cy="3343263"/>
          </a:xfrm>
          <a:prstGeom prst="rect">
            <a:avLst/>
          </a:prstGeom>
        </p:spPr>
      </p:pic>
      <p:sp>
        <p:nvSpPr>
          <p:cNvPr id="7" name="TextBox 6">
            <a:extLst>
              <a:ext uri="{FF2B5EF4-FFF2-40B4-BE49-F238E27FC236}">
                <a16:creationId xmlns:a16="http://schemas.microsoft.com/office/drawing/2014/main" id="{49D39252-2A89-BB35-5E54-B14CB6567E5E}"/>
              </a:ext>
            </a:extLst>
          </p:cNvPr>
          <p:cNvSpPr txBox="1"/>
          <p:nvPr/>
        </p:nvSpPr>
        <p:spPr>
          <a:xfrm>
            <a:off x="119865" y="1463040"/>
            <a:ext cx="12192000" cy="1077218"/>
          </a:xfrm>
          <a:prstGeom prst="rect">
            <a:avLst/>
          </a:prstGeom>
          <a:noFill/>
        </p:spPr>
        <p:txBody>
          <a:bodyPr wrap="square">
            <a:spAutoFit/>
          </a:bodyPr>
          <a:lstStyle/>
          <a:p>
            <a:r>
              <a:rPr lang="en-GB" sz="1600" dirty="0">
                <a:latin typeface="Arial" panose="020B0604020202020204" pitchFamily="34" charset="0"/>
                <a:cs typeface="Arial" panose="020B0604020202020204" pitchFamily="34" charset="0"/>
              </a:rPr>
              <a:t>In terms of reach, Facebook remains our dominant platform with more than 5 million views. TikTok, a newer channel for the PSCBC, has quickly become our second-largest source of traffic at 217,570 views. LinkedIn shows solid visibility with 191,188 views. X (formerly Twitter) is not currently included in our follower-tracking, yet it delivered a notable 147,933 views, revealing an untracked audience segment that should be monitored. Instagram performs weakest across the datasets, generating only 65,243 views.</a:t>
            </a:r>
            <a:endParaRPr lang="en-ZA"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025082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91F03-6BB1-32C5-2265-5E8ED0F5A91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F6FCD96-8BFD-2894-5DD2-4FDECC293B06}"/>
              </a:ext>
            </a:extLst>
          </p:cNvPr>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3E853C92-D123-7991-22C1-6FBFC8920F2A}"/>
              </a:ext>
            </a:extLst>
          </p:cNvPr>
          <p:cNvSpPr/>
          <p:nvPr/>
        </p:nvSpPr>
        <p:spPr>
          <a:xfrm>
            <a:off x="487680" y="121920"/>
            <a:ext cx="11216640" cy="670560"/>
          </a:xfrm>
          <a:prstGeom prst="rect">
            <a:avLst/>
          </a:prstGeom>
          <a:noFill/>
          <a:ln/>
        </p:spPr>
        <p:txBody>
          <a:bodyPr wrap="square" lIns="0" tIns="0" rIns="0" bIns="0" rtlCol="0" anchor="ctr"/>
          <a:lstStyle/>
          <a:p>
            <a:r>
              <a:rPr lang="en-US" sz="2800" b="1" dirty="0">
                <a:solidFill>
                  <a:schemeClr val="bg1"/>
                </a:solidFill>
                <a:latin typeface="Arial" panose="020B0604020202020204" pitchFamily="34" charset="0"/>
                <a:cs typeface="Arial" panose="020B0604020202020204" pitchFamily="34" charset="0"/>
              </a:rPr>
              <a:t>EVENTS </a:t>
            </a:r>
            <a:endParaRPr lang="en-US" sz="2667" dirty="0">
              <a:solidFill>
                <a:schemeClr val="bg1"/>
              </a:solidFill>
              <a:latin typeface="Arial" panose="020B0604020202020204" pitchFamily="34" charset="0"/>
              <a:cs typeface="Arial" panose="020B0604020202020204" pitchFamily="34" charset="0"/>
            </a:endParaRPr>
          </a:p>
        </p:txBody>
      </p:sp>
      <p:sp>
        <p:nvSpPr>
          <p:cNvPr id="5" name="Shape 3">
            <a:extLst>
              <a:ext uri="{FF2B5EF4-FFF2-40B4-BE49-F238E27FC236}">
                <a16:creationId xmlns:a16="http://schemas.microsoft.com/office/drawing/2014/main" id="{E6F03DA3-A27C-05B8-5D5F-2DD2A3507223}"/>
              </a:ext>
            </a:extLst>
          </p:cNvPr>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4" name="Text 5">
            <a:extLst>
              <a:ext uri="{FF2B5EF4-FFF2-40B4-BE49-F238E27FC236}">
                <a16:creationId xmlns:a16="http://schemas.microsoft.com/office/drawing/2014/main" id="{C5E9F05F-3EE8-7811-730A-64061498FA31}"/>
              </a:ext>
            </a:extLst>
          </p:cNvPr>
          <p:cNvSpPr/>
          <p:nvPr/>
        </p:nvSpPr>
        <p:spPr>
          <a:xfrm>
            <a:off x="341376" y="2365248"/>
            <a:ext cx="10972800" cy="1511808"/>
          </a:xfrm>
          <a:prstGeom prst="rect">
            <a:avLst/>
          </a:prstGeom>
          <a:noFill/>
          <a:ln/>
        </p:spPr>
        <p:txBody>
          <a:bodyPr wrap="square" rtlCol="0" anchor="ctr"/>
          <a:lstStyle/>
          <a:p>
            <a:pPr marL="285750" indent="-285750" algn="just">
              <a:buFont typeface="Arial" panose="020B0604020202020204" pitchFamily="34" charset="0"/>
              <a:buChar char="•"/>
            </a:pPr>
            <a:r>
              <a:rPr lang="en-GB" sz="1600" i="1" dirty="0">
                <a:latin typeface="Arial" panose="020B0604020202020204" pitchFamily="34" charset="0"/>
                <a:ea typeface="Calibri" pitchFamily="34" charset="-122"/>
                <a:cs typeface="Arial" panose="020B0604020202020204" pitchFamily="34" charset="0"/>
              </a:rPr>
              <a:t>67 Minutes of Mandela Day at </a:t>
            </a:r>
            <a:r>
              <a:rPr lang="en-GB" sz="1600" i="1" dirty="0" err="1">
                <a:latin typeface="Arial" panose="020B0604020202020204" pitchFamily="34" charset="0"/>
                <a:ea typeface="Calibri" pitchFamily="34" charset="-122"/>
                <a:cs typeface="Arial" panose="020B0604020202020204" pitchFamily="34" charset="0"/>
              </a:rPr>
              <a:t>Bombani</a:t>
            </a:r>
            <a:r>
              <a:rPr lang="en-GB" sz="1600" i="1" dirty="0">
                <a:latin typeface="Arial" panose="020B0604020202020204" pitchFamily="34" charset="0"/>
                <a:ea typeface="Calibri" pitchFamily="34" charset="-122"/>
                <a:cs typeface="Arial" panose="020B0604020202020204" pitchFamily="34" charset="0"/>
              </a:rPr>
              <a:t> Shelter for Abused Women and Children </a:t>
            </a:r>
          </a:p>
          <a:p>
            <a:pPr marL="285750" indent="-285750" algn="just">
              <a:buFont typeface="Arial" panose="020B0604020202020204" pitchFamily="34" charset="0"/>
              <a:buChar char="•"/>
            </a:pPr>
            <a:r>
              <a:rPr lang="en-GB" sz="1600" i="1" dirty="0">
                <a:latin typeface="Arial" panose="020B0604020202020204" pitchFamily="34" charset="0"/>
                <a:ea typeface="Calibri" pitchFamily="34" charset="-122"/>
                <a:cs typeface="Arial" panose="020B0604020202020204" pitchFamily="34" charset="0"/>
              </a:rPr>
              <a:t>National Disability Awareness Month Visit to </a:t>
            </a:r>
            <a:r>
              <a:rPr lang="en-GB" sz="1600" i="1" dirty="0" err="1">
                <a:latin typeface="Arial" panose="020B0604020202020204" pitchFamily="34" charset="0"/>
                <a:ea typeface="Calibri" pitchFamily="34" charset="-122"/>
                <a:cs typeface="Arial" panose="020B0604020202020204" pitchFamily="34" charset="0"/>
              </a:rPr>
              <a:t>Itereleng</a:t>
            </a:r>
            <a:r>
              <a:rPr lang="en-GB" sz="1600" i="1" dirty="0">
                <a:latin typeface="Arial" panose="020B0604020202020204" pitchFamily="34" charset="0"/>
                <a:ea typeface="Calibri" pitchFamily="34" charset="-122"/>
                <a:cs typeface="Arial" panose="020B0604020202020204" pitchFamily="34" charset="0"/>
              </a:rPr>
              <a:t> Disability Centre </a:t>
            </a:r>
          </a:p>
          <a:p>
            <a:pPr marL="285750" indent="-285750" algn="just">
              <a:buFont typeface="Arial" panose="020B0604020202020204" pitchFamily="34" charset="0"/>
              <a:buChar char="•"/>
            </a:pPr>
            <a:r>
              <a:rPr lang="en-GB" sz="1600" i="1" dirty="0">
                <a:latin typeface="Arial" panose="020B0604020202020204" pitchFamily="34" charset="0"/>
                <a:ea typeface="Calibri" pitchFamily="34" charset="-122"/>
                <a:cs typeface="Arial" panose="020B0604020202020204" pitchFamily="34" charset="0"/>
              </a:rPr>
              <a:t>School Uniform Drive at </a:t>
            </a:r>
            <a:r>
              <a:rPr lang="en-GB" sz="1600" i="1" dirty="0" err="1">
                <a:latin typeface="Arial" panose="020B0604020202020204" pitchFamily="34" charset="0"/>
                <a:ea typeface="Calibri" pitchFamily="34" charset="-122"/>
                <a:cs typeface="Arial" panose="020B0604020202020204" pitchFamily="34" charset="0"/>
              </a:rPr>
              <a:t>Cothoza</a:t>
            </a:r>
            <a:r>
              <a:rPr lang="en-GB" sz="1600" i="1" dirty="0">
                <a:latin typeface="Arial" panose="020B0604020202020204" pitchFamily="34" charset="0"/>
                <a:ea typeface="Calibri" pitchFamily="34" charset="-122"/>
                <a:cs typeface="Arial" panose="020B0604020202020204" pitchFamily="34" charset="0"/>
              </a:rPr>
              <a:t> Primary School, Mpumalanga </a:t>
            </a:r>
          </a:p>
        </p:txBody>
      </p:sp>
      <p:sp>
        <p:nvSpPr>
          <p:cNvPr id="7" name="Shape 6">
            <a:extLst>
              <a:ext uri="{FF2B5EF4-FFF2-40B4-BE49-F238E27FC236}">
                <a16:creationId xmlns:a16="http://schemas.microsoft.com/office/drawing/2014/main" id="{5E6709AD-21ED-834D-EE9B-3992B5A63C07}"/>
              </a:ext>
            </a:extLst>
          </p:cNvPr>
          <p:cNvSpPr/>
          <p:nvPr/>
        </p:nvSpPr>
        <p:spPr>
          <a:xfrm>
            <a:off x="444002" y="1633728"/>
            <a:ext cx="11460480" cy="694944"/>
          </a:xfrm>
          <a:prstGeom prst="rect">
            <a:avLst/>
          </a:prstGeom>
          <a:solidFill>
            <a:schemeClr val="accent5">
              <a:lumMod val="50000"/>
            </a:schemeClr>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8" name="Shape 7">
            <a:extLst>
              <a:ext uri="{FF2B5EF4-FFF2-40B4-BE49-F238E27FC236}">
                <a16:creationId xmlns:a16="http://schemas.microsoft.com/office/drawing/2014/main" id="{4847EB7B-3F93-2641-118B-8307282C4C52}"/>
              </a:ext>
            </a:extLst>
          </p:cNvPr>
          <p:cNvSpPr/>
          <p:nvPr/>
        </p:nvSpPr>
        <p:spPr>
          <a:xfrm>
            <a:off x="358658" y="1633728"/>
            <a:ext cx="85344" cy="694944"/>
          </a:xfrm>
          <a:prstGeom prst="rect">
            <a:avLst/>
          </a:prstGeom>
          <a:solidFill>
            <a:schemeClr val="accent4">
              <a:lumMod val="75000"/>
            </a:schemeClr>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9" name="Text 8">
            <a:extLst>
              <a:ext uri="{FF2B5EF4-FFF2-40B4-BE49-F238E27FC236}">
                <a16:creationId xmlns:a16="http://schemas.microsoft.com/office/drawing/2014/main" id="{52FF3B07-0ABB-CABA-FAF8-C723C9F6D57B}"/>
              </a:ext>
            </a:extLst>
          </p:cNvPr>
          <p:cNvSpPr/>
          <p:nvPr/>
        </p:nvSpPr>
        <p:spPr>
          <a:xfrm>
            <a:off x="3694176" y="1808988"/>
            <a:ext cx="4267200" cy="341376"/>
          </a:xfrm>
          <a:prstGeom prst="rect">
            <a:avLst/>
          </a:prstGeom>
          <a:noFill/>
          <a:ln/>
        </p:spPr>
        <p:txBody>
          <a:bodyPr wrap="square" lIns="0" tIns="0" rIns="0" bIns="0" rtlCol="0" anchor="ctr"/>
          <a:lstStyle/>
          <a:p>
            <a:pPr algn="ctr"/>
            <a:r>
              <a:rPr lang="en-US" sz="1600" b="1" dirty="0">
                <a:solidFill>
                  <a:schemeClr val="bg1"/>
                </a:solidFill>
                <a:latin typeface="Arial" panose="020B0604020202020204" pitchFamily="34" charset="0"/>
                <a:ea typeface="Calibri" pitchFamily="34" charset="-122"/>
                <a:cs typeface="Arial" panose="020B0604020202020204" pitchFamily="34" charset="0"/>
              </a:rPr>
              <a:t>CORPORATE SOCIAL RESPONSIBILITY (CSR) EVENTS</a:t>
            </a:r>
          </a:p>
        </p:txBody>
      </p:sp>
      <p:sp>
        <p:nvSpPr>
          <p:cNvPr id="10" name="Text 9">
            <a:extLst>
              <a:ext uri="{FF2B5EF4-FFF2-40B4-BE49-F238E27FC236}">
                <a16:creationId xmlns:a16="http://schemas.microsoft.com/office/drawing/2014/main" id="{044E76B3-69DB-977F-C93A-11AF68DF474B}"/>
              </a:ext>
            </a:extLst>
          </p:cNvPr>
          <p:cNvSpPr/>
          <p:nvPr/>
        </p:nvSpPr>
        <p:spPr>
          <a:xfrm>
            <a:off x="945886" y="1987296"/>
            <a:ext cx="10972800" cy="341376"/>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11" name="Text 10">
            <a:extLst>
              <a:ext uri="{FF2B5EF4-FFF2-40B4-BE49-F238E27FC236}">
                <a16:creationId xmlns:a16="http://schemas.microsoft.com/office/drawing/2014/main" id="{57A78A4E-C6B1-4D7C-4141-4836542E103F}"/>
              </a:ext>
            </a:extLst>
          </p:cNvPr>
          <p:cNvSpPr/>
          <p:nvPr/>
        </p:nvSpPr>
        <p:spPr>
          <a:xfrm>
            <a:off x="365760" y="3450336"/>
            <a:ext cx="11460480" cy="390144"/>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13" name="Shape 12">
            <a:extLst>
              <a:ext uri="{FF2B5EF4-FFF2-40B4-BE49-F238E27FC236}">
                <a16:creationId xmlns:a16="http://schemas.microsoft.com/office/drawing/2014/main" id="{DA8F45C9-9674-2C47-97C8-7D7F1AD72033}"/>
              </a:ext>
            </a:extLst>
          </p:cNvPr>
          <p:cNvSpPr/>
          <p:nvPr/>
        </p:nvSpPr>
        <p:spPr>
          <a:xfrm>
            <a:off x="444002" y="3592414"/>
            <a:ext cx="11538722" cy="522042"/>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4" name="Text 13">
            <a:extLst>
              <a:ext uri="{FF2B5EF4-FFF2-40B4-BE49-F238E27FC236}">
                <a16:creationId xmlns:a16="http://schemas.microsoft.com/office/drawing/2014/main" id="{B99AF0BA-20CD-3648-897F-FDBE516C1AB7}"/>
              </a:ext>
            </a:extLst>
          </p:cNvPr>
          <p:cNvSpPr/>
          <p:nvPr/>
        </p:nvSpPr>
        <p:spPr>
          <a:xfrm>
            <a:off x="365760" y="3962400"/>
            <a:ext cx="512064" cy="487680"/>
          </a:xfrm>
          <a:prstGeom prst="rect">
            <a:avLst/>
          </a:prstGeom>
          <a:noFill/>
          <a:ln/>
        </p:spPr>
        <p:txBody>
          <a:bodyPr wrap="square" lIns="0" tIns="0" rIns="0" bIns="0" rtlCol="0" anchor="ctr"/>
          <a:lstStyle/>
          <a:p>
            <a:pPr algn="ctr"/>
            <a:endParaRPr lang="en-US" sz="1600" dirty="0">
              <a:latin typeface="Arial" panose="020B0604020202020204" pitchFamily="34" charset="0"/>
              <a:cs typeface="Arial" panose="020B0604020202020204" pitchFamily="34" charset="0"/>
            </a:endParaRPr>
          </a:p>
        </p:txBody>
      </p:sp>
      <p:sp>
        <p:nvSpPr>
          <p:cNvPr id="15" name="Text 14">
            <a:extLst>
              <a:ext uri="{FF2B5EF4-FFF2-40B4-BE49-F238E27FC236}">
                <a16:creationId xmlns:a16="http://schemas.microsoft.com/office/drawing/2014/main" id="{2F8B6514-1761-A4C0-FC20-71836A8B92C3}"/>
              </a:ext>
            </a:extLst>
          </p:cNvPr>
          <p:cNvSpPr/>
          <p:nvPr/>
        </p:nvSpPr>
        <p:spPr>
          <a:xfrm>
            <a:off x="2691443" y="3605439"/>
            <a:ext cx="5805576" cy="487680"/>
          </a:xfrm>
          <a:prstGeom prst="rect">
            <a:avLst/>
          </a:prstGeom>
          <a:noFill/>
          <a:ln/>
        </p:spPr>
        <p:txBody>
          <a:bodyPr wrap="square" lIns="0" tIns="0" rIns="0" bIns="0" rtlCol="0" anchor="ctr"/>
          <a:lstStyle/>
          <a:p>
            <a:pPr algn="ctr"/>
            <a:r>
              <a:rPr lang="en-US" sz="1600" b="1" dirty="0">
                <a:solidFill>
                  <a:srgbClr val="FFFFFF"/>
                </a:solidFill>
                <a:latin typeface="Arial" panose="020B0604020202020204" pitchFamily="34" charset="0"/>
                <a:ea typeface="Calibri" pitchFamily="34" charset="-122"/>
                <a:cs typeface="Arial" panose="020B0604020202020204" pitchFamily="34" charset="0"/>
              </a:rPr>
              <a:t>Council and Governance Events</a:t>
            </a:r>
          </a:p>
        </p:txBody>
      </p:sp>
      <p:sp>
        <p:nvSpPr>
          <p:cNvPr id="16" name="Text 15">
            <a:extLst>
              <a:ext uri="{FF2B5EF4-FFF2-40B4-BE49-F238E27FC236}">
                <a16:creationId xmlns:a16="http://schemas.microsoft.com/office/drawing/2014/main" id="{05077AB2-63F7-F934-5BE9-C5196C58EDD2}"/>
              </a:ext>
            </a:extLst>
          </p:cNvPr>
          <p:cNvSpPr/>
          <p:nvPr/>
        </p:nvSpPr>
        <p:spPr>
          <a:xfrm>
            <a:off x="358658" y="4178462"/>
            <a:ext cx="11538722" cy="2757175"/>
          </a:xfrm>
          <a:prstGeom prst="rect">
            <a:avLst/>
          </a:prstGeom>
          <a:noFill/>
          <a:ln/>
        </p:spPr>
        <p:txBody>
          <a:bodyPr wrap="square" rtlCol="0" anchor="ctr"/>
          <a:lstStyle/>
          <a:p>
            <a:pPr marL="285750" indent="-285750" algn="just">
              <a:buFont typeface="Arial" panose="020B0604020202020204" pitchFamily="34" charset="0"/>
              <a:buChar char="•"/>
            </a:pPr>
            <a:r>
              <a:rPr lang="en-GB" sz="1600" dirty="0">
                <a:latin typeface="Arial" panose="020B0604020202020204" pitchFamily="34" charset="0"/>
                <a:ea typeface="Calibri" pitchFamily="34" charset="-122"/>
                <a:cs typeface="Arial" panose="020B0604020202020204" pitchFamily="34" charset="0"/>
              </a:rPr>
              <a:t>28th Annual General Meeting (AGM) </a:t>
            </a:r>
          </a:p>
          <a:p>
            <a:pPr marL="285750" indent="-285750" algn="just">
              <a:buFont typeface="Arial" panose="020B0604020202020204" pitchFamily="34" charset="0"/>
              <a:buChar char="•"/>
            </a:pPr>
            <a:r>
              <a:rPr lang="en-GB" sz="1600" dirty="0">
                <a:latin typeface="Arial" panose="020B0604020202020204" pitchFamily="34" charset="0"/>
                <a:ea typeface="Calibri" pitchFamily="34" charset="-122"/>
                <a:cs typeface="Arial" panose="020B0604020202020204" pitchFamily="34" charset="0"/>
              </a:rPr>
              <a:t>PSCBC Resolution 1 and 2 of 2025 Provincial Workshops </a:t>
            </a:r>
          </a:p>
          <a:p>
            <a:pPr marL="285750" indent="-285750" algn="just">
              <a:buFont typeface="Arial" panose="020B0604020202020204" pitchFamily="34" charset="0"/>
              <a:buChar char="•"/>
            </a:pPr>
            <a:r>
              <a:rPr lang="en-GB" sz="1600" dirty="0">
                <a:latin typeface="Arial" panose="020B0604020202020204" pitchFamily="34" charset="0"/>
                <a:ea typeface="Calibri" pitchFamily="34" charset="-122"/>
                <a:cs typeface="Arial" panose="020B0604020202020204" pitchFamily="34" charset="0"/>
              </a:rPr>
              <a:t>Conclusion of Provincial Chambers Strategic Planning Sessions and Annual General Meetings </a:t>
            </a:r>
          </a:p>
          <a:p>
            <a:pPr marL="285750" indent="-285750" algn="just">
              <a:buFont typeface="Arial" panose="020B0604020202020204" pitchFamily="34" charset="0"/>
              <a:buChar char="•"/>
            </a:pPr>
            <a:r>
              <a:rPr lang="en-GB" sz="1600" dirty="0">
                <a:latin typeface="Arial" panose="020B0604020202020204" pitchFamily="34" charset="0"/>
                <a:ea typeface="Calibri" pitchFamily="34" charset="-122"/>
                <a:cs typeface="Arial" panose="020B0604020202020204" pitchFamily="34" charset="0"/>
              </a:rPr>
              <a:t>Council Final Sitting and Farewell to Retiring Council Members </a:t>
            </a:r>
          </a:p>
          <a:p>
            <a:pPr marL="285750" indent="-285750" algn="just">
              <a:buFont typeface="Arial" panose="020B0604020202020204" pitchFamily="34" charset="0"/>
              <a:buChar char="•"/>
            </a:pPr>
            <a:r>
              <a:rPr lang="en-GB" sz="1600" dirty="0">
                <a:latin typeface="Arial" panose="020B0604020202020204" pitchFamily="34" charset="0"/>
                <a:ea typeface="Calibri" pitchFamily="34" charset="-122"/>
                <a:cs typeface="Arial" panose="020B0604020202020204" pitchFamily="34" charset="0"/>
              </a:rPr>
              <a:t>PSCBC Strategic Planning Session (March 2026) </a:t>
            </a:r>
          </a:p>
          <a:p>
            <a:pPr marL="285750" indent="-285750" algn="just">
              <a:buFont typeface="Arial" panose="020B0604020202020204" pitchFamily="34" charset="0"/>
              <a:buChar char="•"/>
            </a:pPr>
            <a:r>
              <a:rPr lang="en-GB" sz="1600" dirty="0">
                <a:latin typeface="Arial" panose="020B0604020202020204" pitchFamily="34" charset="0"/>
                <a:ea typeface="Calibri" pitchFamily="34" charset="-122"/>
                <a:cs typeface="Arial" panose="020B0604020202020204" pitchFamily="34" charset="0"/>
              </a:rPr>
              <a:t>PSCBC Labour Parties Caucus </a:t>
            </a:r>
          </a:p>
          <a:p>
            <a:pPr marL="285750" indent="-285750" algn="just">
              <a:buFont typeface="Arial" panose="020B0604020202020204" pitchFamily="34" charset="0"/>
              <a:buChar char="•"/>
            </a:pPr>
            <a:r>
              <a:rPr lang="en-GB" sz="1600" dirty="0">
                <a:latin typeface="Arial" panose="020B0604020202020204" pitchFamily="34" charset="0"/>
                <a:ea typeface="Calibri" pitchFamily="34" charset="-122"/>
                <a:cs typeface="Arial" panose="020B0604020202020204" pitchFamily="34" charset="0"/>
              </a:rPr>
              <a:t>PSCBC Employer Caucus </a:t>
            </a:r>
          </a:p>
          <a:p>
            <a:pPr marL="285750" indent="-285750" algn="just">
              <a:buFont typeface="Arial" panose="020B0604020202020204" pitchFamily="34" charset="0"/>
              <a:buChar char="•"/>
            </a:pPr>
            <a:r>
              <a:rPr lang="en-GB" sz="1600" dirty="0">
                <a:latin typeface="Arial" panose="020B0604020202020204" pitchFamily="34" charset="0"/>
                <a:ea typeface="Calibri" pitchFamily="34" charset="-122"/>
                <a:cs typeface="Arial" panose="020B0604020202020204" pitchFamily="34" charset="0"/>
              </a:rPr>
              <a:t>PSCBC Trilateral Planning Meetings </a:t>
            </a:r>
          </a:p>
          <a:p>
            <a:pPr marL="285750" indent="-285750" algn="just">
              <a:buFont typeface="Arial" panose="020B0604020202020204" pitchFamily="34" charset="0"/>
              <a:buChar char="•"/>
            </a:pPr>
            <a:r>
              <a:rPr lang="en-GB" sz="1600" dirty="0">
                <a:latin typeface="Arial" panose="020B0604020202020204" pitchFamily="34" charset="0"/>
                <a:ea typeface="Calibri" pitchFamily="34" charset="-122"/>
                <a:cs typeface="Arial" panose="020B0604020202020204" pitchFamily="34" charset="0"/>
              </a:rPr>
              <a:t>Management of Trade Union Membership Follow-Up Workshop </a:t>
            </a:r>
          </a:p>
        </p:txBody>
      </p:sp>
      <p:sp>
        <p:nvSpPr>
          <p:cNvPr id="19" name="Text 18">
            <a:extLst>
              <a:ext uri="{FF2B5EF4-FFF2-40B4-BE49-F238E27FC236}">
                <a16:creationId xmlns:a16="http://schemas.microsoft.com/office/drawing/2014/main" id="{42A76411-4844-2581-CE0C-715D352F7FCE}"/>
              </a:ext>
            </a:extLst>
          </p:cNvPr>
          <p:cNvSpPr/>
          <p:nvPr/>
        </p:nvSpPr>
        <p:spPr>
          <a:xfrm>
            <a:off x="3267456" y="3962400"/>
            <a:ext cx="512064" cy="487680"/>
          </a:xfrm>
          <a:prstGeom prst="rect">
            <a:avLst/>
          </a:prstGeom>
          <a:noFill/>
          <a:ln/>
        </p:spPr>
        <p:txBody>
          <a:bodyPr wrap="square" lIns="0" tIns="0" rIns="0" bIns="0" rtlCol="0" anchor="ctr"/>
          <a:lstStyle/>
          <a:p>
            <a:pPr algn="ctr"/>
            <a:endParaRPr lang="en-US" sz="1600" dirty="0">
              <a:latin typeface="Arial" panose="020B0604020202020204" pitchFamily="34" charset="0"/>
              <a:cs typeface="Arial" panose="020B0604020202020204" pitchFamily="34" charset="0"/>
            </a:endParaRPr>
          </a:p>
        </p:txBody>
      </p:sp>
      <p:sp>
        <p:nvSpPr>
          <p:cNvPr id="20" name="Text 19">
            <a:extLst>
              <a:ext uri="{FF2B5EF4-FFF2-40B4-BE49-F238E27FC236}">
                <a16:creationId xmlns:a16="http://schemas.microsoft.com/office/drawing/2014/main" id="{25F12D28-82A7-E7DE-1633-64DAA02FA6C7}"/>
              </a:ext>
            </a:extLst>
          </p:cNvPr>
          <p:cNvSpPr/>
          <p:nvPr/>
        </p:nvSpPr>
        <p:spPr>
          <a:xfrm>
            <a:off x="3790528" y="4093464"/>
            <a:ext cx="2048256" cy="487680"/>
          </a:xfrm>
          <a:prstGeom prst="rect">
            <a:avLst/>
          </a:prstGeom>
          <a:noFill/>
          <a:ln/>
        </p:spPr>
        <p:txBody>
          <a:bodyPr wrap="square" lIns="0" tIns="0" rIns="0" bIns="0" rtlCol="0" anchor="ctr"/>
          <a:lstStyle/>
          <a:p>
            <a:r>
              <a:rPr lang="en-US" sz="1600" b="1" dirty="0">
                <a:solidFill>
                  <a:srgbClr val="FFFFFF"/>
                </a:solidFill>
                <a:latin typeface="Arial" panose="020B0604020202020204" pitchFamily="34" charset="0"/>
                <a:ea typeface="Calibri" pitchFamily="34" charset="-122"/>
                <a:cs typeface="Arial" panose="020B0604020202020204" pitchFamily="34" charset="0"/>
              </a:rPr>
              <a:t> </a:t>
            </a:r>
          </a:p>
        </p:txBody>
      </p:sp>
      <p:sp>
        <p:nvSpPr>
          <p:cNvPr id="21" name="Text 20">
            <a:extLst>
              <a:ext uri="{FF2B5EF4-FFF2-40B4-BE49-F238E27FC236}">
                <a16:creationId xmlns:a16="http://schemas.microsoft.com/office/drawing/2014/main" id="{5BA91BA7-62F8-BA3D-1478-A2FB41339388}"/>
              </a:ext>
            </a:extLst>
          </p:cNvPr>
          <p:cNvSpPr/>
          <p:nvPr/>
        </p:nvSpPr>
        <p:spPr>
          <a:xfrm>
            <a:off x="3805324" y="4514088"/>
            <a:ext cx="2438400" cy="158496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
        <p:nvSpPr>
          <p:cNvPr id="24" name="Text 23">
            <a:extLst>
              <a:ext uri="{FF2B5EF4-FFF2-40B4-BE49-F238E27FC236}">
                <a16:creationId xmlns:a16="http://schemas.microsoft.com/office/drawing/2014/main" id="{91ABD502-E4B4-573B-0DC8-D36071E0E4AF}"/>
              </a:ext>
            </a:extLst>
          </p:cNvPr>
          <p:cNvSpPr/>
          <p:nvPr/>
        </p:nvSpPr>
        <p:spPr>
          <a:xfrm>
            <a:off x="6169152" y="3962400"/>
            <a:ext cx="512064" cy="487680"/>
          </a:xfrm>
          <a:prstGeom prst="rect">
            <a:avLst/>
          </a:prstGeom>
          <a:noFill/>
          <a:ln/>
        </p:spPr>
        <p:txBody>
          <a:bodyPr wrap="square" lIns="0" tIns="0" rIns="0" bIns="0" rtlCol="0" anchor="ctr"/>
          <a:lstStyle/>
          <a:p>
            <a:pPr algn="ctr"/>
            <a:endParaRPr lang="en-US" sz="1600" dirty="0">
              <a:latin typeface="Arial" panose="020B0604020202020204" pitchFamily="34" charset="0"/>
              <a:cs typeface="Arial" panose="020B0604020202020204" pitchFamily="34" charset="0"/>
            </a:endParaRPr>
          </a:p>
        </p:txBody>
      </p:sp>
      <p:sp>
        <p:nvSpPr>
          <p:cNvPr id="25" name="Text 24">
            <a:extLst>
              <a:ext uri="{FF2B5EF4-FFF2-40B4-BE49-F238E27FC236}">
                <a16:creationId xmlns:a16="http://schemas.microsoft.com/office/drawing/2014/main" id="{A31D987D-C20A-9962-DBF3-5B48AD590A42}"/>
              </a:ext>
            </a:extLst>
          </p:cNvPr>
          <p:cNvSpPr/>
          <p:nvPr/>
        </p:nvSpPr>
        <p:spPr>
          <a:xfrm>
            <a:off x="6699504" y="4093464"/>
            <a:ext cx="2048256" cy="487680"/>
          </a:xfrm>
          <a:prstGeom prst="rect">
            <a:avLst/>
          </a:prstGeom>
          <a:noFill/>
          <a:ln/>
        </p:spPr>
        <p:txBody>
          <a:bodyPr wrap="square" lIns="0" tIns="0" rIns="0" bIns="0" rtlCol="0" anchor="ctr"/>
          <a:lstStyle/>
          <a:p>
            <a:r>
              <a:rPr lang="en-US" sz="1600" b="1" dirty="0">
                <a:solidFill>
                  <a:srgbClr val="FFFFFF"/>
                </a:solidFill>
                <a:latin typeface="Arial" panose="020B0604020202020204" pitchFamily="34" charset="0"/>
                <a:ea typeface="Calibri" pitchFamily="34" charset="-122"/>
                <a:cs typeface="Arial" panose="020B0604020202020204" pitchFamily="34" charset="0"/>
              </a:rPr>
              <a:t> </a:t>
            </a:r>
          </a:p>
        </p:txBody>
      </p:sp>
      <p:sp>
        <p:nvSpPr>
          <p:cNvPr id="26" name="Text 25">
            <a:extLst>
              <a:ext uri="{FF2B5EF4-FFF2-40B4-BE49-F238E27FC236}">
                <a16:creationId xmlns:a16="http://schemas.microsoft.com/office/drawing/2014/main" id="{AAE7881E-EE61-872E-9057-341E5D67FBE0}"/>
              </a:ext>
            </a:extLst>
          </p:cNvPr>
          <p:cNvSpPr/>
          <p:nvPr/>
        </p:nvSpPr>
        <p:spPr>
          <a:xfrm>
            <a:off x="6291072" y="4535424"/>
            <a:ext cx="2438400" cy="158496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
        <p:nvSpPr>
          <p:cNvPr id="29" name="Text 28">
            <a:extLst>
              <a:ext uri="{FF2B5EF4-FFF2-40B4-BE49-F238E27FC236}">
                <a16:creationId xmlns:a16="http://schemas.microsoft.com/office/drawing/2014/main" id="{D74EF541-3C28-E38A-9C60-413662E9A445}"/>
              </a:ext>
            </a:extLst>
          </p:cNvPr>
          <p:cNvSpPr/>
          <p:nvPr/>
        </p:nvSpPr>
        <p:spPr>
          <a:xfrm>
            <a:off x="9070848" y="3962400"/>
            <a:ext cx="512064" cy="487680"/>
          </a:xfrm>
          <a:prstGeom prst="rect">
            <a:avLst/>
          </a:prstGeom>
          <a:noFill/>
          <a:ln/>
        </p:spPr>
        <p:txBody>
          <a:bodyPr wrap="square" lIns="0" tIns="0" rIns="0" bIns="0" rtlCol="0" anchor="ctr"/>
          <a:lstStyle/>
          <a:p>
            <a:pPr algn="ctr"/>
            <a:endParaRPr lang="en-US" sz="1600" dirty="0">
              <a:latin typeface="Arial" panose="020B0604020202020204" pitchFamily="34" charset="0"/>
              <a:cs typeface="Arial" panose="020B0604020202020204" pitchFamily="34" charset="0"/>
            </a:endParaRPr>
          </a:p>
        </p:txBody>
      </p:sp>
      <p:sp>
        <p:nvSpPr>
          <p:cNvPr id="30" name="Text 29">
            <a:extLst>
              <a:ext uri="{FF2B5EF4-FFF2-40B4-BE49-F238E27FC236}">
                <a16:creationId xmlns:a16="http://schemas.microsoft.com/office/drawing/2014/main" id="{9BB57134-5BE8-5A91-4D11-A6B0860E5D70}"/>
              </a:ext>
            </a:extLst>
          </p:cNvPr>
          <p:cNvSpPr/>
          <p:nvPr/>
        </p:nvSpPr>
        <p:spPr>
          <a:xfrm>
            <a:off x="9619488" y="3962400"/>
            <a:ext cx="2048256" cy="487680"/>
          </a:xfrm>
          <a:prstGeom prst="rect">
            <a:avLst/>
          </a:prstGeom>
          <a:noFill/>
          <a:ln/>
        </p:spPr>
        <p:txBody>
          <a:bodyPr wrap="square" lIns="0" tIns="0" rIns="0" bIns="0" rtlCol="0" anchor="ctr"/>
          <a:lstStyle/>
          <a:p>
            <a:endParaRPr lang="en-US" sz="1600" b="1" dirty="0">
              <a:solidFill>
                <a:srgbClr val="FFFFFF"/>
              </a:solidFill>
              <a:latin typeface="Arial" panose="020B0604020202020204" pitchFamily="34" charset="0"/>
              <a:ea typeface="Calibri" pitchFamily="34" charset="-122"/>
              <a:cs typeface="Arial" panose="020B0604020202020204" pitchFamily="34" charset="0"/>
            </a:endParaRPr>
          </a:p>
        </p:txBody>
      </p:sp>
      <p:sp>
        <p:nvSpPr>
          <p:cNvPr id="31" name="Text 30">
            <a:extLst>
              <a:ext uri="{FF2B5EF4-FFF2-40B4-BE49-F238E27FC236}">
                <a16:creationId xmlns:a16="http://schemas.microsoft.com/office/drawing/2014/main" id="{398D69AD-5076-181A-22D3-645D1BE44B88}"/>
              </a:ext>
            </a:extLst>
          </p:cNvPr>
          <p:cNvSpPr/>
          <p:nvPr/>
        </p:nvSpPr>
        <p:spPr>
          <a:xfrm>
            <a:off x="9192768" y="4535424"/>
            <a:ext cx="2438400" cy="158496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859528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82ACD-3DA6-4396-50E3-25AA08C0CD5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4C52BB8-7D58-934A-D748-F5FABB5A24FF}"/>
              </a:ext>
            </a:extLst>
          </p:cNvPr>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93F60732-9B97-5920-5619-32F8B1EAA713}"/>
              </a:ext>
            </a:extLst>
          </p:cNvPr>
          <p:cNvSpPr/>
          <p:nvPr/>
        </p:nvSpPr>
        <p:spPr>
          <a:xfrm>
            <a:off x="487680" y="121920"/>
            <a:ext cx="11216640" cy="670560"/>
          </a:xfrm>
          <a:prstGeom prst="rect">
            <a:avLst/>
          </a:prstGeom>
          <a:noFill/>
          <a:ln/>
        </p:spPr>
        <p:txBody>
          <a:bodyPr wrap="square" lIns="0" tIns="0" rIns="0" bIns="0" rtlCol="0" anchor="ctr"/>
          <a:lstStyle/>
          <a:p>
            <a:r>
              <a:rPr lang="en-US" sz="2800" b="1" dirty="0">
                <a:solidFill>
                  <a:schemeClr val="bg1"/>
                </a:solidFill>
                <a:latin typeface="Arial" panose="020B0604020202020204" pitchFamily="34" charset="0"/>
                <a:cs typeface="Arial" panose="020B0604020202020204" pitchFamily="34" charset="0"/>
              </a:rPr>
              <a:t>EVENTS </a:t>
            </a:r>
            <a:endParaRPr lang="en-US" sz="2667" dirty="0">
              <a:solidFill>
                <a:schemeClr val="bg1"/>
              </a:solidFill>
              <a:latin typeface="Arial" panose="020B0604020202020204" pitchFamily="34" charset="0"/>
              <a:cs typeface="Arial" panose="020B0604020202020204" pitchFamily="34" charset="0"/>
            </a:endParaRPr>
          </a:p>
        </p:txBody>
      </p:sp>
      <p:sp>
        <p:nvSpPr>
          <p:cNvPr id="5" name="Shape 3">
            <a:extLst>
              <a:ext uri="{FF2B5EF4-FFF2-40B4-BE49-F238E27FC236}">
                <a16:creationId xmlns:a16="http://schemas.microsoft.com/office/drawing/2014/main" id="{B9BBA049-3284-BC2D-3B46-32496F7889FF}"/>
              </a:ext>
            </a:extLst>
          </p:cNvPr>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4" name="Text 5">
            <a:extLst>
              <a:ext uri="{FF2B5EF4-FFF2-40B4-BE49-F238E27FC236}">
                <a16:creationId xmlns:a16="http://schemas.microsoft.com/office/drawing/2014/main" id="{E2441095-B685-5E88-856A-AFE9D78413C9}"/>
              </a:ext>
            </a:extLst>
          </p:cNvPr>
          <p:cNvSpPr/>
          <p:nvPr/>
        </p:nvSpPr>
        <p:spPr>
          <a:xfrm>
            <a:off x="641619" y="2192430"/>
            <a:ext cx="10972800" cy="1511808"/>
          </a:xfrm>
          <a:prstGeom prst="rect">
            <a:avLst/>
          </a:prstGeom>
          <a:noFill/>
          <a:ln/>
        </p:spPr>
        <p:txBody>
          <a:bodyPr wrap="square" rtlCol="0" anchor="ctr"/>
          <a:lstStyle/>
          <a:p>
            <a:pPr marL="285750" indent="-285750" algn="just">
              <a:buFont typeface="Arial" panose="020B0604020202020204" pitchFamily="34" charset="0"/>
              <a:buChar char="•"/>
            </a:pPr>
            <a:r>
              <a:rPr lang="en-GB" sz="1600" i="1" dirty="0">
                <a:latin typeface="Arial" panose="020B0604020202020204" pitchFamily="34" charset="0"/>
                <a:ea typeface="Calibri" pitchFamily="34" charset="-122"/>
                <a:cs typeface="Arial" panose="020B0604020202020204" pitchFamily="34" charset="0"/>
              </a:rPr>
              <a:t>PSCBC, GPSSBC &amp; PSETA Graduation Ceremonies </a:t>
            </a:r>
          </a:p>
          <a:p>
            <a:pPr marL="285750" indent="-285750" algn="just">
              <a:buFont typeface="Arial" panose="020B0604020202020204" pitchFamily="34" charset="0"/>
              <a:buChar char="•"/>
            </a:pPr>
            <a:r>
              <a:rPr lang="en-GB" sz="1600" i="1" dirty="0">
                <a:latin typeface="Arial" panose="020B0604020202020204" pitchFamily="34" charset="0"/>
                <a:ea typeface="Calibri" pitchFamily="34" charset="-122"/>
                <a:cs typeface="Arial" panose="020B0604020202020204" pitchFamily="34" charset="0"/>
              </a:rPr>
              <a:t>PSCBC/GPSSBC &amp; PSETA Public Service Dispute Management and Negotiation Skills Training </a:t>
            </a:r>
          </a:p>
          <a:p>
            <a:pPr marL="285750" indent="-285750" algn="just">
              <a:buFont typeface="Arial" panose="020B0604020202020204" pitchFamily="34" charset="0"/>
              <a:buChar char="•"/>
            </a:pPr>
            <a:r>
              <a:rPr lang="en-GB" sz="1600" i="1" dirty="0">
                <a:latin typeface="Arial" panose="020B0604020202020204" pitchFamily="34" charset="0"/>
                <a:ea typeface="Calibri" pitchFamily="34" charset="-122"/>
                <a:cs typeface="Arial" panose="020B0604020202020204" pitchFamily="34" charset="0"/>
              </a:rPr>
              <a:t>NAPTOSA Staff Training Programme </a:t>
            </a:r>
          </a:p>
        </p:txBody>
      </p:sp>
      <p:sp>
        <p:nvSpPr>
          <p:cNvPr id="7" name="Shape 6">
            <a:extLst>
              <a:ext uri="{FF2B5EF4-FFF2-40B4-BE49-F238E27FC236}">
                <a16:creationId xmlns:a16="http://schemas.microsoft.com/office/drawing/2014/main" id="{530DBE30-5522-2356-CA0B-1AE2BD505277}"/>
              </a:ext>
            </a:extLst>
          </p:cNvPr>
          <p:cNvSpPr/>
          <p:nvPr/>
        </p:nvSpPr>
        <p:spPr>
          <a:xfrm>
            <a:off x="444002" y="1633728"/>
            <a:ext cx="11460480" cy="694944"/>
          </a:xfrm>
          <a:prstGeom prst="rect">
            <a:avLst/>
          </a:prstGeom>
          <a:solidFill>
            <a:schemeClr val="accent5">
              <a:lumMod val="50000"/>
            </a:schemeClr>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8" name="Shape 7">
            <a:extLst>
              <a:ext uri="{FF2B5EF4-FFF2-40B4-BE49-F238E27FC236}">
                <a16:creationId xmlns:a16="http://schemas.microsoft.com/office/drawing/2014/main" id="{FC1D3EAF-3D5B-2B6D-2D87-F73520D579D4}"/>
              </a:ext>
            </a:extLst>
          </p:cNvPr>
          <p:cNvSpPr/>
          <p:nvPr/>
        </p:nvSpPr>
        <p:spPr>
          <a:xfrm>
            <a:off x="358658" y="1633728"/>
            <a:ext cx="85344" cy="694944"/>
          </a:xfrm>
          <a:prstGeom prst="rect">
            <a:avLst/>
          </a:prstGeom>
          <a:solidFill>
            <a:schemeClr val="accent4">
              <a:lumMod val="75000"/>
            </a:schemeClr>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9" name="Text 8">
            <a:extLst>
              <a:ext uri="{FF2B5EF4-FFF2-40B4-BE49-F238E27FC236}">
                <a16:creationId xmlns:a16="http://schemas.microsoft.com/office/drawing/2014/main" id="{A544FADD-752A-7D28-130A-98F3F2CED29A}"/>
              </a:ext>
            </a:extLst>
          </p:cNvPr>
          <p:cNvSpPr/>
          <p:nvPr/>
        </p:nvSpPr>
        <p:spPr>
          <a:xfrm>
            <a:off x="3694176" y="1557183"/>
            <a:ext cx="4267200" cy="784514"/>
          </a:xfrm>
          <a:prstGeom prst="rect">
            <a:avLst/>
          </a:prstGeom>
          <a:noFill/>
          <a:ln/>
        </p:spPr>
        <p:txBody>
          <a:bodyPr wrap="square" lIns="0" tIns="0" rIns="0" bIns="0" rtlCol="0" anchor="ctr"/>
          <a:lstStyle/>
          <a:p>
            <a:pPr algn="ctr"/>
            <a:r>
              <a:rPr lang="en-GB" sz="1600" b="1" dirty="0">
                <a:solidFill>
                  <a:schemeClr val="bg1"/>
                </a:solidFill>
                <a:latin typeface="Arial" panose="020B0604020202020204" pitchFamily="34" charset="0"/>
                <a:ea typeface="Calibri" pitchFamily="34" charset="-122"/>
                <a:cs typeface="Arial" panose="020B0604020202020204" pitchFamily="34" charset="0"/>
              </a:rPr>
              <a:t>Training and Capacity Building Events</a:t>
            </a:r>
          </a:p>
        </p:txBody>
      </p:sp>
      <p:sp>
        <p:nvSpPr>
          <p:cNvPr id="10" name="Text 9">
            <a:extLst>
              <a:ext uri="{FF2B5EF4-FFF2-40B4-BE49-F238E27FC236}">
                <a16:creationId xmlns:a16="http://schemas.microsoft.com/office/drawing/2014/main" id="{4A53FB5F-2D27-542B-45CA-809B4CBAB4F5}"/>
              </a:ext>
            </a:extLst>
          </p:cNvPr>
          <p:cNvSpPr/>
          <p:nvPr/>
        </p:nvSpPr>
        <p:spPr>
          <a:xfrm>
            <a:off x="945886" y="1987296"/>
            <a:ext cx="10972800" cy="341376"/>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11" name="Text 10">
            <a:extLst>
              <a:ext uri="{FF2B5EF4-FFF2-40B4-BE49-F238E27FC236}">
                <a16:creationId xmlns:a16="http://schemas.microsoft.com/office/drawing/2014/main" id="{B495ED91-1546-9ADE-A175-AD767F95B6FC}"/>
              </a:ext>
            </a:extLst>
          </p:cNvPr>
          <p:cNvSpPr/>
          <p:nvPr/>
        </p:nvSpPr>
        <p:spPr>
          <a:xfrm>
            <a:off x="365760" y="3450336"/>
            <a:ext cx="11460480" cy="390144"/>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13" name="Shape 12">
            <a:extLst>
              <a:ext uri="{FF2B5EF4-FFF2-40B4-BE49-F238E27FC236}">
                <a16:creationId xmlns:a16="http://schemas.microsoft.com/office/drawing/2014/main" id="{5A1CAE87-CF29-6950-1771-8ABFFF021F22}"/>
              </a:ext>
            </a:extLst>
          </p:cNvPr>
          <p:cNvSpPr/>
          <p:nvPr/>
        </p:nvSpPr>
        <p:spPr>
          <a:xfrm>
            <a:off x="444002" y="3592414"/>
            <a:ext cx="11538722" cy="522042"/>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4" name="Text 13">
            <a:extLst>
              <a:ext uri="{FF2B5EF4-FFF2-40B4-BE49-F238E27FC236}">
                <a16:creationId xmlns:a16="http://schemas.microsoft.com/office/drawing/2014/main" id="{B3F6A2D8-E2CD-69A8-B6B1-D5E48B83A7DC}"/>
              </a:ext>
            </a:extLst>
          </p:cNvPr>
          <p:cNvSpPr/>
          <p:nvPr/>
        </p:nvSpPr>
        <p:spPr>
          <a:xfrm>
            <a:off x="365760" y="3962400"/>
            <a:ext cx="512064" cy="487680"/>
          </a:xfrm>
          <a:prstGeom prst="rect">
            <a:avLst/>
          </a:prstGeom>
          <a:noFill/>
          <a:ln/>
        </p:spPr>
        <p:txBody>
          <a:bodyPr wrap="square" lIns="0" tIns="0" rIns="0" bIns="0" rtlCol="0" anchor="ctr"/>
          <a:lstStyle/>
          <a:p>
            <a:pPr algn="ctr"/>
            <a:endParaRPr lang="en-US" sz="1600" dirty="0">
              <a:latin typeface="Arial" panose="020B0604020202020204" pitchFamily="34" charset="0"/>
              <a:cs typeface="Arial" panose="020B0604020202020204" pitchFamily="34" charset="0"/>
            </a:endParaRPr>
          </a:p>
        </p:txBody>
      </p:sp>
      <p:sp>
        <p:nvSpPr>
          <p:cNvPr id="15" name="Text 14">
            <a:extLst>
              <a:ext uri="{FF2B5EF4-FFF2-40B4-BE49-F238E27FC236}">
                <a16:creationId xmlns:a16="http://schemas.microsoft.com/office/drawing/2014/main" id="{2692A2D6-1C58-B016-D2F0-03AC1C3514DD}"/>
              </a:ext>
            </a:extLst>
          </p:cNvPr>
          <p:cNvSpPr/>
          <p:nvPr/>
        </p:nvSpPr>
        <p:spPr>
          <a:xfrm>
            <a:off x="2691443" y="3605439"/>
            <a:ext cx="5805576" cy="487680"/>
          </a:xfrm>
          <a:prstGeom prst="rect">
            <a:avLst/>
          </a:prstGeom>
          <a:noFill/>
          <a:ln/>
        </p:spPr>
        <p:txBody>
          <a:bodyPr wrap="square" lIns="0" tIns="0" rIns="0" bIns="0" rtlCol="0" anchor="ctr"/>
          <a:lstStyle/>
          <a:p>
            <a:pPr algn="ctr"/>
            <a:r>
              <a:rPr lang="en-GB" sz="1600" b="1" dirty="0">
                <a:solidFill>
                  <a:srgbClr val="FFFFFF"/>
                </a:solidFill>
                <a:latin typeface="Arial" panose="020B0604020202020204" pitchFamily="34" charset="0"/>
                <a:ea typeface="Calibri" pitchFamily="34" charset="-122"/>
                <a:cs typeface="Arial" panose="020B0604020202020204" pitchFamily="34" charset="0"/>
              </a:rPr>
              <a:t>Health, Wellness and Empowerment Events</a:t>
            </a:r>
          </a:p>
        </p:txBody>
      </p:sp>
      <p:sp>
        <p:nvSpPr>
          <p:cNvPr id="16" name="Text 15">
            <a:extLst>
              <a:ext uri="{FF2B5EF4-FFF2-40B4-BE49-F238E27FC236}">
                <a16:creationId xmlns:a16="http://schemas.microsoft.com/office/drawing/2014/main" id="{E0C5EC26-D701-0FA4-15C2-12C5CF34550A}"/>
              </a:ext>
            </a:extLst>
          </p:cNvPr>
          <p:cNvSpPr/>
          <p:nvPr/>
        </p:nvSpPr>
        <p:spPr>
          <a:xfrm>
            <a:off x="641619" y="3922229"/>
            <a:ext cx="11538722" cy="2757175"/>
          </a:xfrm>
          <a:prstGeom prst="rect">
            <a:avLst/>
          </a:prstGeom>
          <a:noFill/>
          <a:ln/>
        </p:spPr>
        <p:txBody>
          <a:bodyPr wrap="square" rtlCol="0" anchor="ctr"/>
          <a:lstStyle/>
          <a:p>
            <a:pPr marL="285750" indent="-285750" algn="just">
              <a:buFont typeface="Arial" panose="020B0604020202020204" pitchFamily="34" charset="0"/>
              <a:buChar char="•"/>
            </a:pPr>
            <a:r>
              <a:rPr lang="en-GB" sz="1600" dirty="0">
                <a:latin typeface="Arial" panose="020B0604020202020204" pitchFamily="34" charset="0"/>
                <a:ea typeface="Calibri" pitchFamily="34" charset="-122"/>
                <a:cs typeface="Arial" panose="020B0604020202020204" pitchFamily="34" charset="0"/>
              </a:rPr>
              <a:t>International Nurses Day Celebration hosted by DENOSA </a:t>
            </a:r>
          </a:p>
          <a:p>
            <a:pPr marL="285750" indent="-285750" algn="just">
              <a:buFont typeface="Arial" panose="020B0604020202020204" pitchFamily="34" charset="0"/>
              <a:buChar char="•"/>
            </a:pPr>
            <a:r>
              <a:rPr lang="en-GB" sz="1600" dirty="0">
                <a:latin typeface="Arial" panose="020B0604020202020204" pitchFamily="34" charset="0"/>
                <a:ea typeface="Calibri" pitchFamily="34" charset="-122"/>
                <a:cs typeface="Arial" panose="020B0604020202020204" pitchFamily="34" charset="0"/>
              </a:rPr>
              <a:t>International Nurses Day Celebration hosted by NEHAWU </a:t>
            </a:r>
          </a:p>
          <a:p>
            <a:pPr marL="285750" indent="-285750" algn="just">
              <a:buFont typeface="Arial" panose="020B0604020202020204" pitchFamily="34" charset="0"/>
              <a:buChar char="•"/>
            </a:pPr>
            <a:r>
              <a:rPr lang="en-GB" sz="1600" dirty="0">
                <a:latin typeface="Arial" panose="020B0604020202020204" pitchFamily="34" charset="0"/>
                <a:ea typeface="Calibri" pitchFamily="34" charset="-122"/>
                <a:cs typeface="Arial" panose="020B0604020202020204" pitchFamily="34" charset="0"/>
              </a:rPr>
              <a:t>SAPS Mother's Day Celebration </a:t>
            </a:r>
          </a:p>
          <a:p>
            <a:pPr marL="285750" indent="-285750" algn="just">
              <a:buFont typeface="Arial" panose="020B0604020202020204" pitchFamily="34" charset="0"/>
              <a:buChar char="•"/>
            </a:pPr>
            <a:r>
              <a:rPr lang="en-GB" sz="1600" dirty="0">
                <a:latin typeface="Arial" panose="020B0604020202020204" pitchFamily="34" charset="0"/>
                <a:ea typeface="Calibri" pitchFamily="34" charset="-122"/>
                <a:cs typeface="Arial" panose="020B0604020202020204" pitchFamily="34" charset="0"/>
              </a:rPr>
              <a:t>GENES Women Empowerment Programme Graduation Ceremony</a:t>
            </a:r>
          </a:p>
          <a:p>
            <a:pPr marL="285750" indent="-285750" algn="just">
              <a:buFont typeface="Arial" panose="020B0604020202020204" pitchFamily="34" charset="0"/>
              <a:buChar char="•"/>
            </a:pPr>
            <a:r>
              <a:rPr lang="en-GB" sz="1600" dirty="0">
                <a:latin typeface="Arial" panose="020B0604020202020204" pitchFamily="34" charset="0"/>
                <a:ea typeface="Calibri" pitchFamily="34" charset="-122"/>
                <a:cs typeface="Arial" panose="020B0604020202020204" pitchFamily="34" charset="0"/>
              </a:rPr>
              <a:t> PSCBC Men's Mental Health Month Wellness Initiative </a:t>
            </a:r>
          </a:p>
          <a:p>
            <a:pPr marL="285750" indent="-285750" algn="just">
              <a:buFont typeface="Arial" panose="020B0604020202020204" pitchFamily="34" charset="0"/>
              <a:buChar char="•"/>
            </a:pPr>
            <a:r>
              <a:rPr lang="en-GB" sz="1600" dirty="0">
                <a:latin typeface="Arial" panose="020B0604020202020204" pitchFamily="34" charset="0"/>
                <a:ea typeface="Calibri" pitchFamily="34" charset="-122"/>
                <a:cs typeface="Arial" panose="020B0604020202020204" pitchFamily="34" charset="0"/>
              </a:rPr>
              <a:t>Breast Cancer Awareness Event </a:t>
            </a:r>
          </a:p>
          <a:p>
            <a:pPr marL="285750" indent="-285750" algn="just">
              <a:buFont typeface="Arial" panose="020B0604020202020204" pitchFamily="34" charset="0"/>
              <a:buChar char="•"/>
            </a:pPr>
            <a:r>
              <a:rPr lang="en-GB" sz="1600" dirty="0">
                <a:latin typeface="Arial" panose="020B0604020202020204" pitchFamily="34" charset="0"/>
                <a:ea typeface="Calibri" pitchFamily="34" charset="-122"/>
                <a:cs typeface="Arial" panose="020B0604020202020204" pitchFamily="34" charset="0"/>
              </a:rPr>
              <a:t>POPCRU First Annual Wellness Day </a:t>
            </a:r>
          </a:p>
          <a:p>
            <a:pPr marL="285750" indent="-285750" algn="just">
              <a:buFont typeface="Wingdings" panose="05000000000000000000" pitchFamily="2" charset="2"/>
              <a:buChar char="v"/>
            </a:pPr>
            <a:endParaRPr lang="en-GB" sz="1600" b="1" dirty="0">
              <a:solidFill>
                <a:schemeClr val="accent5">
                  <a:lumMod val="50000"/>
                </a:schemeClr>
              </a:solidFill>
              <a:latin typeface="Arial" panose="020B0604020202020204" pitchFamily="34" charset="0"/>
              <a:ea typeface="Calibri" pitchFamily="34" charset="-122"/>
              <a:cs typeface="Arial" panose="020B0604020202020204" pitchFamily="34" charset="0"/>
            </a:endParaRPr>
          </a:p>
        </p:txBody>
      </p:sp>
      <p:sp>
        <p:nvSpPr>
          <p:cNvPr id="19" name="Text 18">
            <a:extLst>
              <a:ext uri="{FF2B5EF4-FFF2-40B4-BE49-F238E27FC236}">
                <a16:creationId xmlns:a16="http://schemas.microsoft.com/office/drawing/2014/main" id="{3C3CF768-61C2-983D-7AAA-C00159CB4CFB}"/>
              </a:ext>
            </a:extLst>
          </p:cNvPr>
          <p:cNvSpPr/>
          <p:nvPr/>
        </p:nvSpPr>
        <p:spPr>
          <a:xfrm>
            <a:off x="3267456" y="3962400"/>
            <a:ext cx="512064" cy="487680"/>
          </a:xfrm>
          <a:prstGeom prst="rect">
            <a:avLst/>
          </a:prstGeom>
          <a:noFill/>
          <a:ln/>
        </p:spPr>
        <p:txBody>
          <a:bodyPr wrap="square" lIns="0" tIns="0" rIns="0" bIns="0" rtlCol="0" anchor="ctr"/>
          <a:lstStyle/>
          <a:p>
            <a:pPr algn="ctr"/>
            <a:endParaRPr lang="en-US" sz="1600" dirty="0">
              <a:latin typeface="Arial" panose="020B0604020202020204" pitchFamily="34" charset="0"/>
              <a:cs typeface="Arial" panose="020B0604020202020204" pitchFamily="34" charset="0"/>
            </a:endParaRPr>
          </a:p>
        </p:txBody>
      </p:sp>
      <p:sp>
        <p:nvSpPr>
          <p:cNvPr id="20" name="Text 19">
            <a:extLst>
              <a:ext uri="{FF2B5EF4-FFF2-40B4-BE49-F238E27FC236}">
                <a16:creationId xmlns:a16="http://schemas.microsoft.com/office/drawing/2014/main" id="{61FF0771-D3E2-7489-07BF-BFDD7865CA8C}"/>
              </a:ext>
            </a:extLst>
          </p:cNvPr>
          <p:cNvSpPr/>
          <p:nvPr/>
        </p:nvSpPr>
        <p:spPr>
          <a:xfrm>
            <a:off x="3790528" y="4093464"/>
            <a:ext cx="2048256" cy="487680"/>
          </a:xfrm>
          <a:prstGeom prst="rect">
            <a:avLst/>
          </a:prstGeom>
          <a:noFill/>
          <a:ln/>
        </p:spPr>
        <p:txBody>
          <a:bodyPr wrap="square" lIns="0" tIns="0" rIns="0" bIns="0" rtlCol="0" anchor="ctr"/>
          <a:lstStyle/>
          <a:p>
            <a:r>
              <a:rPr lang="en-US" sz="1600" b="1" dirty="0">
                <a:solidFill>
                  <a:srgbClr val="FFFFFF"/>
                </a:solidFill>
                <a:latin typeface="Arial" panose="020B0604020202020204" pitchFamily="34" charset="0"/>
                <a:ea typeface="Calibri" pitchFamily="34" charset="-122"/>
                <a:cs typeface="Arial" panose="020B0604020202020204" pitchFamily="34" charset="0"/>
              </a:rPr>
              <a:t> </a:t>
            </a:r>
          </a:p>
        </p:txBody>
      </p:sp>
      <p:sp>
        <p:nvSpPr>
          <p:cNvPr id="21" name="Text 20">
            <a:extLst>
              <a:ext uri="{FF2B5EF4-FFF2-40B4-BE49-F238E27FC236}">
                <a16:creationId xmlns:a16="http://schemas.microsoft.com/office/drawing/2014/main" id="{AF018862-C87B-9991-B4B1-0975063EE922}"/>
              </a:ext>
            </a:extLst>
          </p:cNvPr>
          <p:cNvSpPr/>
          <p:nvPr/>
        </p:nvSpPr>
        <p:spPr>
          <a:xfrm>
            <a:off x="3805324" y="4514088"/>
            <a:ext cx="2438400" cy="158496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
        <p:nvSpPr>
          <p:cNvPr id="24" name="Text 23">
            <a:extLst>
              <a:ext uri="{FF2B5EF4-FFF2-40B4-BE49-F238E27FC236}">
                <a16:creationId xmlns:a16="http://schemas.microsoft.com/office/drawing/2014/main" id="{35352149-A674-98C9-BCC2-51E2AD3B4B00}"/>
              </a:ext>
            </a:extLst>
          </p:cNvPr>
          <p:cNvSpPr/>
          <p:nvPr/>
        </p:nvSpPr>
        <p:spPr>
          <a:xfrm>
            <a:off x="6169152" y="3962400"/>
            <a:ext cx="512064" cy="487680"/>
          </a:xfrm>
          <a:prstGeom prst="rect">
            <a:avLst/>
          </a:prstGeom>
          <a:noFill/>
          <a:ln/>
        </p:spPr>
        <p:txBody>
          <a:bodyPr wrap="square" lIns="0" tIns="0" rIns="0" bIns="0" rtlCol="0" anchor="ctr"/>
          <a:lstStyle/>
          <a:p>
            <a:pPr algn="ctr"/>
            <a:endParaRPr lang="en-US" sz="1600" dirty="0">
              <a:latin typeface="Arial" panose="020B0604020202020204" pitchFamily="34" charset="0"/>
              <a:cs typeface="Arial" panose="020B0604020202020204" pitchFamily="34" charset="0"/>
            </a:endParaRPr>
          </a:p>
        </p:txBody>
      </p:sp>
      <p:sp>
        <p:nvSpPr>
          <p:cNvPr id="25" name="Text 24">
            <a:extLst>
              <a:ext uri="{FF2B5EF4-FFF2-40B4-BE49-F238E27FC236}">
                <a16:creationId xmlns:a16="http://schemas.microsoft.com/office/drawing/2014/main" id="{A7EA87A5-DB8E-49E1-074C-5670E9D4A5CC}"/>
              </a:ext>
            </a:extLst>
          </p:cNvPr>
          <p:cNvSpPr/>
          <p:nvPr/>
        </p:nvSpPr>
        <p:spPr>
          <a:xfrm>
            <a:off x="6699504" y="4093464"/>
            <a:ext cx="2048256" cy="487680"/>
          </a:xfrm>
          <a:prstGeom prst="rect">
            <a:avLst/>
          </a:prstGeom>
          <a:noFill/>
          <a:ln/>
        </p:spPr>
        <p:txBody>
          <a:bodyPr wrap="square" lIns="0" tIns="0" rIns="0" bIns="0" rtlCol="0" anchor="ctr"/>
          <a:lstStyle/>
          <a:p>
            <a:r>
              <a:rPr lang="en-US" sz="1600" b="1" dirty="0">
                <a:solidFill>
                  <a:srgbClr val="FFFFFF"/>
                </a:solidFill>
                <a:latin typeface="Arial" panose="020B0604020202020204" pitchFamily="34" charset="0"/>
                <a:ea typeface="Calibri" pitchFamily="34" charset="-122"/>
                <a:cs typeface="Arial" panose="020B0604020202020204" pitchFamily="34" charset="0"/>
              </a:rPr>
              <a:t> </a:t>
            </a:r>
          </a:p>
        </p:txBody>
      </p:sp>
      <p:sp>
        <p:nvSpPr>
          <p:cNvPr id="26" name="Text 25">
            <a:extLst>
              <a:ext uri="{FF2B5EF4-FFF2-40B4-BE49-F238E27FC236}">
                <a16:creationId xmlns:a16="http://schemas.microsoft.com/office/drawing/2014/main" id="{50B7BAC2-1F93-230B-3D1F-561C5DAA99B0}"/>
              </a:ext>
            </a:extLst>
          </p:cNvPr>
          <p:cNvSpPr/>
          <p:nvPr/>
        </p:nvSpPr>
        <p:spPr>
          <a:xfrm>
            <a:off x="6291072" y="4535424"/>
            <a:ext cx="2438400" cy="158496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
        <p:nvSpPr>
          <p:cNvPr id="29" name="Text 28">
            <a:extLst>
              <a:ext uri="{FF2B5EF4-FFF2-40B4-BE49-F238E27FC236}">
                <a16:creationId xmlns:a16="http://schemas.microsoft.com/office/drawing/2014/main" id="{8D718BBE-B875-53BD-D928-D65E11AD1314}"/>
              </a:ext>
            </a:extLst>
          </p:cNvPr>
          <p:cNvSpPr/>
          <p:nvPr/>
        </p:nvSpPr>
        <p:spPr>
          <a:xfrm>
            <a:off x="9070848" y="3962400"/>
            <a:ext cx="512064" cy="487680"/>
          </a:xfrm>
          <a:prstGeom prst="rect">
            <a:avLst/>
          </a:prstGeom>
          <a:noFill/>
          <a:ln/>
        </p:spPr>
        <p:txBody>
          <a:bodyPr wrap="square" lIns="0" tIns="0" rIns="0" bIns="0" rtlCol="0" anchor="ctr"/>
          <a:lstStyle/>
          <a:p>
            <a:pPr algn="ctr"/>
            <a:endParaRPr lang="en-US" sz="1600" dirty="0">
              <a:latin typeface="Arial" panose="020B0604020202020204" pitchFamily="34" charset="0"/>
              <a:cs typeface="Arial" panose="020B0604020202020204" pitchFamily="34" charset="0"/>
            </a:endParaRPr>
          </a:p>
        </p:txBody>
      </p:sp>
      <p:sp>
        <p:nvSpPr>
          <p:cNvPr id="30" name="Text 29">
            <a:extLst>
              <a:ext uri="{FF2B5EF4-FFF2-40B4-BE49-F238E27FC236}">
                <a16:creationId xmlns:a16="http://schemas.microsoft.com/office/drawing/2014/main" id="{2800F8BD-59C8-9C58-9ED2-0594C17BD6B8}"/>
              </a:ext>
            </a:extLst>
          </p:cNvPr>
          <p:cNvSpPr/>
          <p:nvPr/>
        </p:nvSpPr>
        <p:spPr>
          <a:xfrm>
            <a:off x="9619488" y="3962400"/>
            <a:ext cx="2048256" cy="487680"/>
          </a:xfrm>
          <a:prstGeom prst="rect">
            <a:avLst/>
          </a:prstGeom>
          <a:noFill/>
          <a:ln/>
        </p:spPr>
        <p:txBody>
          <a:bodyPr wrap="square" lIns="0" tIns="0" rIns="0" bIns="0" rtlCol="0" anchor="ctr"/>
          <a:lstStyle/>
          <a:p>
            <a:endParaRPr lang="en-US" sz="1600" b="1" dirty="0">
              <a:solidFill>
                <a:srgbClr val="FFFFFF"/>
              </a:solidFill>
              <a:latin typeface="Arial" panose="020B0604020202020204" pitchFamily="34" charset="0"/>
              <a:ea typeface="Calibri" pitchFamily="34" charset="-122"/>
              <a:cs typeface="Arial" panose="020B0604020202020204" pitchFamily="34" charset="0"/>
            </a:endParaRPr>
          </a:p>
        </p:txBody>
      </p:sp>
      <p:sp>
        <p:nvSpPr>
          <p:cNvPr id="31" name="Text 30">
            <a:extLst>
              <a:ext uri="{FF2B5EF4-FFF2-40B4-BE49-F238E27FC236}">
                <a16:creationId xmlns:a16="http://schemas.microsoft.com/office/drawing/2014/main" id="{D7174768-0951-CDED-6E89-FDD8EDA6A998}"/>
              </a:ext>
            </a:extLst>
          </p:cNvPr>
          <p:cNvSpPr/>
          <p:nvPr/>
        </p:nvSpPr>
        <p:spPr>
          <a:xfrm>
            <a:off x="9192768" y="4535424"/>
            <a:ext cx="2438400" cy="158496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406368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69D99-A570-5345-4079-8DC3B797683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AB81203-28C2-B566-255B-503A0900BC3D}"/>
              </a:ext>
            </a:extLst>
          </p:cNvPr>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415816C5-43BA-06DD-EF27-315D10F53F30}"/>
              </a:ext>
            </a:extLst>
          </p:cNvPr>
          <p:cNvSpPr/>
          <p:nvPr/>
        </p:nvSpPr>
        <p:spPr>
          <a:xfrm>
            <a:off x="487680" y="121920"/>
            <a:ext cx="11216640" cy="670560"/>
          </a:xfrm>
          <a:prstGeom prst="rect">
            <a:avLst/>
          </a:prstGeom>
          <a:noFill/>
          <a:ln/>
        </p:spPr>
        <p:txBody>
          <a:bodyPr wrap="square" lIns="0" tIns="0" rIns="0" bIns="0" rtlCol="0" anchor="ctr"/>
          <a:lstStyle/>
          <a:p>
            <a:r>
              <a:rPr lang="en-US" sz="2800" b="1" dirty="0">
                <a:solidFill>
                  <a:schemeClr val="bg1"/>
                </a:solidFill>
                <a:latin typeface="Arial" panose="020B0604020202020204" pitchFamily="34" charset="0"/>
                <a:cs typeface="Arial" panose="020B0604020202020204" pitchFamily="34" charset="0"/>
              </a:rPr>
              <a:t>EVENTS </a:t>
            </a:r>
            <a:endParaRPr lang="en-US" sz="2667" dirty="0">
              <a:solidFill>
                <a:schemeClr val="bg1"/>
              </a:solidFill>
              <a:latin typeface="Arial" panose="020B0604020202020204" pitchFamily="34" charset="0"/>
              <a:cs typeface="Arial" panose="020B0604020202020204" pitchFamily="34" charset="0"/>
            </a:endParaRPr>
          </a:p>
        </p:txBody>
      </p:sp>
      <p:sp>
        <p:nvSpPr>
          <p:cNvPr id="5" name="Shape 3">
            <a:extLst>
              <a:ext uri="{FF2B5EF4-FFF2-40B4-BE49-F238E27FC236}">
                <a16:creationId xmlns:a16="http://schemas.microsoft.com/office/drawing/2014/main" id="{E1E96251-9B05-9E89-E4DC-519C3D02F945}"/>
              </a:ext>
            </a:extLst>
          </p:cNvPr>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4" name="Text 5">
            <a:extLst>
              <a:ext uri="{FF2B5EF4-FFF2-40B4-BE49-F238E27FC236}">
                <a16:creationId xmlns:a16="http://schemas.microsoft.com/office/drawing/2014/main" id="{2715B038-BFA1-2D23-2F17-FA6F56BADB36}"/>
              </a:ext>
            </a:extLst>
          </p:cNvPr>
          <p:cNvSpPr/>
          <p:nvPr/>
        </p:nvSpPr>
        <p:spPr>
          <a:xfrm>
            <a:off x="641619" y="2192429"/>
            <a:ext cx="10972800" cy="2069019"/>
          </a:xfrm>
          <a:prstGeom prst="rect">
            <a:avLst/>
          </a:prstGeom>
          <a:noFill/>
          <a:ln/>
        </p:spPr>
        <p:txBody>
          <a:bodyPr wrap="square" rtlCol="0" anchor="ctr"/>
          <a:lstStyle/>
          <a:p>
            <a:pPr marL="285750" indent="-285750" algn="just">
              <a:buFont typeface="Arial" panose="020B0604020202020204" pitchFamily="34" charset="0"/>
              <a:buChar char="•"/>
            </a:pPr>
            <a:r>
              <a:rPr lang="en-GB" sz="1600" i="1" dirty="0">
                <a:latin typeface="Arial" panose="020B0604020202020204" pitchFamily="34" charset="0"/>
                <a:ea typeface="Calibri" pitchFamily="34" charset="-122"/>
                <a:cs typeface="Arial" panose="020B0604020202020204" pitchFamily="34" charset="0"/>
              </a:rPr>
              <a:t>NEHAWU National Organising, Servicing and Bargaining Conference </a:t>
            </a:r>
          </a:p>
          <a:p>
            <a:pPr marL="285750" indent="-285750" algn="just">
              <a:buFont typeface="Arial" panose="020B0604020202020204" pitchFamily="34" charset="0"/>
              <a:buChar char="•"/>
            </a:pPr>
            <a:r>
              <a:rPr lang="en-GB" sz="1600" i="1" dirty="0">
                <a:latin typeface="Arial" panose="020B0604020202020204" pitchFamily="34" charset="0"/>
                <a:ea typeface="Calibri" pitchFamily="34" charset="-122"/>
                <a:cs typeface="Arial" panose="020B0604020202020204" pitchFamily="34" charset="0"/>
              </a:rPr>
              <a:t>National Teachers' Union (NATU) 107th Triennial National Conference </a:t>
            </a:r>
          </a:p>
          <a:p>
            <a:pPr marL="285750" indent="-285750" algn="just">
              <a:buFont typeface="Arial" panose="020B0604020202020204" pitchFamily="34" charset="0"/>
              <a:buChar char="•"/>
            </a:pPr>
            <a:r>
              <a:rPr lang="en-GB" sz="1600" i="1" dirty="0">
                <a:latin typeface="Arial" panose="020B0604020202020204" pitchFamily="34" charset="0"/>
                <a:ea typeface="Calibri" pitchFamily="34" charset="-122"/>
                <a:cs typeface="Arial" panose="020B0604020202020204" pitchFamily="34" charset="0"/>
              </a:rPr>
              <a:t>Professional Educators' Union Elective Congress </a:t>
            </a:r>
          </a:p>
          <a:p>
            <a:pPr marL="285750" indent="-285750" algn="just">
              <a:buFont typeface="Arial" panose="020B0604020202020204" pitchFamily="34" charset="0"/>
              <a:buChar char="•"/>
            </a:pPr>
            <a:r>
              <a:rPr lang="en-GB" sz="1600" i="1" dirty="0">
                <a:latin typeface="Arial" panose="020B0604020202020204" pitchFamily="34" charset="0"/>
                <a:ea typeface="Calibri" pitchFamily="34" charset="-122"/>
                <a:cs typeface="Arial" panose="020B0604020202020204" pitchFamily="34" charset="0"/>
              </a:rPr>
              <a:t>NAPTOSA 8th National Congress </a:t>
            </a:r>
          </a:p>
          <a:p>
            <a:pPr marL="285750" indent="-285750" algn="just">
              <a:buFont typeface="Arial" panose="020B0604020202020204" pitchFamily="34" charset="0"/>
              <a:buChar char="•"/>
            </a:pPr>
            <a:r>
              <a:rPr lang="en-GB" sz="1600" i="1" dirty="0">
                <a:latin typeface="Arial" panose="020B0604020202020204" pitchFamily="34" charset="0"/>
                <a:ea typeface="Calibri" pitchFamily="34" charset="-122"/>
                <a:cs typeface="Arial" panose="020B0604020202020204" pitchFamily="34" charset="0"/>
              </a:rPr>
              <a:t>POPCRU Central Executive Committee Conference </a:t>
            </a:r>
          </a:p>
          <a:p>
            <a:pPr marL="285750" indent="-285750" algn="just">
              <a:buFont typeface="Arial" panose="020B0604020202020204" pitchFamily="34" charset="0"/>
              <a:buChar char="•"/>
            </a:pPr>
            <a:r>
              <a:rPr lang="en-GB" sz="1600" i="1" dirty="0">
                <a:latin typeface="Arial" panose="020B0604020202020204" pitchFamily="34" charset="0"/>
                <a:ea typeface="Calibri" pitchFamily="34" charset="-122"/>
                <a:cs typeface="Arial" panose="020B0604020202020204" pitchFamily="34" charset="0"/>
              </a:rPr>
              <a:t>DPSA National Labour Relations Forum </a:t>
            </a:r>
          </a:p>
          <a:p>
            <a:pPr marL="285750" indent="-285750" algn="just">
              <a:buFont typeface="Arial" panose="020B0604020202020204" pitchFamily="34" charset="0"/>
              <a:buChar char="•"/>
            </a:pPr>
            <a:r>
              <a:rPr lang="en-GB" sz="1600" i="1" dirty="0">
                <a:latin typeface="Arial" panose="020B0604020202020204" pitchFamily="34" charset="0"/>
                <a:ea typeface="Calibri" pitchFamily="34" charset="-122"/>
                <a:cs typeface="Arial" panose="020B0604020202020204" pitchFamily="34" charset="0"/>
              </a:rPr>
              <a:t>SAPU Book Launch on Gender-Based Violence </a:t>
            </a:r>
          </a:p>
        </p:txBody>
      </p:sp>
      <p:sp>
        <p:nvSpPr>
          <p:cNvPr id="7" name="Shape 6">
            <a:extLst>
              <a:ext uri="{FF2B5EF4-FFF2-40B4-BE49-F238E27FC236}">
                <a16:creationId xmlns:a16="http://schemas.microsoft.com/office/drawing/2014/main" id="{8B6F3A9C-A43E-1CD8-DB18-E2CC692883BC}"/>
              </a:ext>
            </a:extLst>
          </p:cNvPr>
          <p:cNvSpPr/>
          <p:nvPr/>
        </p:nvSpPr>
        <p:spPr>
          <a:xfrm>
            <a:off x="444002" y="1633728"/>
            <a:ext cx="11460480" cy="694944"/>
          </a:xfrm>
          <a:prstGeom prst="rect">
            <a:avLst/>
          </a:prstGeom>
          <a:solidFill>
            <a:schemeClr val="accent5">
              <a:lumMod val="50000"/>
            </a:schemeClr>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8" name="Shape 7">
            <a:extLst>
              <a:ext uri="{FF2B5EF4-FFF2-40B4-BE49-F238E27FC236}">
                <a16:creationId xmlns:a16="http://schemas.microsoft.com/office/drawing/2014/main" id="{89083638-E54E-846E-6947-3863DBE5B09C}"/>
              </a:ext>
            </a:extLst>
          </p:cNvPr>
          <p:cNvSpPr/>
          <p:nvPr/>
        </p:nvSpPr>
        <p:spPr>
          <a:xfrm>
            <a:off x="358658" y="1633728"/>
            <a:ext cx="85344" cy="694944"/>
          </a:xfrm>
          <a:prstGeom prst="rect">
            <a:avLst/>
          </a:prstGeom>
          <a:solidFill>
            <a:schemeClr val="accent4">
              <a:lumMod val="75000"/>
            </a:schemeClr>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9" name="Text 8">
            <a:extLst>
              <a:ext uri="{FF2B5EF4-FFF2-40B4-BE49-F238E27FC236}">
                <a16:creationId xmlns:a16="http://schemas.microsoft.com/office/drawing/2014/main" id="{A3A88228-9460-CA4A-860F-4DC40C8A640A}"/>
              </a:ext>
            </a:extLst>
          </p:cNvPr>
          <p:cNvSpPr/>
          <p:nvPr/>
        </p:nvSpPr>
        <p:spPr>
          <a:xfrm>
            <a:off x="3694176" y="1557183"/>
            <a:ext cx="4267200" cy="784514"/>
          </a:xfrm>
          <a:prstGeom prst="rect">
            <a:avLst/>
          </a:prstGeom>
          <a:noFill/>
          <a:ln/>
        </p:spPr>
        <p:txBody>
          <a:bodyPr wrap="square" lIns="0" tIns="0" rIns="0" bIns="0" rtlCol="0" anchor="ctr"/>
          <a:lstStyle/>
          <a:p>
            <a:pPr algn="ctr"/>
            <a:r>
              <a:rPr lang="en-GB" sz="1600" b="1" dirty="0">
                <a:solidFill>
                  <a:schemeClr val="bg1"/>
                </a:solidFill>
                <a:latin typeface="Arial" panose="020B0604020202020204" pitchFamily="34" charset="0"/>
                <a:ea typeface="Calibri" pitchFamily="34" charset="-122"/>
                <a:cs typeface="Arial" panose="020B0604020202020204" pitchFamily="34" charset="0"/>
              </a:rPr>
              <a:t>Labour Relations and Stakeholder Engagement Events</a:t>
            </a:r>
          </a:p>
        </p:txBody>
      </p:sp>
      <p:sp>
        <p:nvSpPr>
          <p:cNvPr id="10" name="Text 9">
            <a:extLst>
              <a:ext uri="{FF2B5EF4-FFF2-40B4-BE49-F238E27FC236}">
                <a16:creationId xmlns:a16="http://schemas.microsoft.com/office/drawing/2014/main" id="{615BBF55-3053-9B3C-9A5D-4E5908F6C557}"/>
              </a:ext>
            </a:extLst>
          </p:cNvPr>
          <p:cNvSpPr/>
          <p:nvPr/>
        </p:nvSpPr>
        <p:spPr>
          <a:xfrm>
            <a:off x="945886" y="1987296"/>
            <a:ext cx="10972800" cy="341376"/>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11" name="Text 10">
            <a:extLst>
              <a:ext uri="{FF2B5EF4-FFF2-40B4-BE49-F238E27FC236}">
                <a16:creationId xmlns:a16="http://schemas.microsoft.com/office/drawing/2014/main" id="{5502DE66-F035-0A54-2A3E-BA5F4D124604}"/>
              </a:ext>
            </a:extLst>
          </p:cNvPr>
          <p:cNvSpPr/>
          <p:nvPr/>
        </p:nvSpPr>
        <p:spPr>
          <a:xfrm>
            <a:off x="365760" y="3450336"/>
            <a:ext cx="11460480" cy="390144"/>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13" name="Shape 12">
            <a:extLst>
              <a:ext uri="{FF2B5EF4-FFF2-40B4-BE49-F238E27FC236}">
                <a16:creationId xmlns:a16="http://schemas.microsoft.com/office/drawing/2014/main" id="{D32057C1-34A6-31AD-5D8D-00244BF93725}"/>
              </a:ext>
            </a:extLst>
          </p:cNvPr>
          <p:cNvSpPr/>
          <p:nvPr/>
        </p:nvSpPr>
        <p:spPr>
          <a:xfrm>
            <a:off x="401330" y="4152152"/>
            <a:ext cx="11538722" cy="522042"/>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4" name="Text 13">
            <a:extLst>
              <a:ext uri="{FF2B5EF4-FFF2-40B4-BE49-F238E27FC236}">
                <a16:creationId xmlns:a16="http://schemas.microsoft.com/office/drawing/2014/main" id="{732D1F91-8217-B248-EFD8-11EA004BC6D8}"/>
              </a:ext>
            </a:extLst>
          </p:cNvPr>
          <p:cNvSpPr/>
          <p:nvPr/>
        </p:nvSpPr>
        <p:spPr>
          <a:xfrm>
            <a:off x="365760" y="3962400"/>
            <a:ext cx="512064" cy="487680"/>
          </a:xfrm>
          <a:prstGeom prst="rect">
            <a:avLst/>
          </a:prstGeom>
          <a:noFill/>
          <a:ln/>
        </p:spPr>
        <p:txBody>
          <a:bodyPr wrap="square" lIns="0" tIns="0" rIns="0" bIns="0" rtlCol="0" anchor="ctr"/>
          <a:lstStyle/>
          <a:p>
            <a:pPr algn="ctr"/>
            <a:endParaRPr lang="en-US" sz="1600" dirty="0">
              <a:latin typeface="Arial" panose="020B0604020202020204" pitchFamily="34" charset="0"/>
              <a:cs typeface="Arial" panose="020B0604020202020204" pitchFamily="34" charset="0"/>
            </a:endParaRPr>
          </a:p>
        </p:txBody>
      </p:sp>
      <p:sp>
        <p:nvSpPr>
          <p:cNvPr id="15" name="Text 14">
            <a:extLst>
              <a:ext uri="{FF2B5EF4-FFF2-40B4-BE49-F238E27FC236}">
                <a16:creationId xmlns:a16="http://schemas.microsoft.com/office/drawing/2014/main" id="{5E1D596C-5081-94F1-0066-CF4CCFF68645}"/>
              </a:ext>
            </a:extLst>
          </p:cNvPr>
          <p:cNvSpPr/>
          <p:nvPr/>
        </p:nvSpPr>
        <p:spPr>
          <a:xfrm>
            <a:off x="2609088" y="4173444"/>
            <a:ext cx="5805576" cy="487680"/>
          </a:xfrm>
          <a:prstGeom prst="rect">
            <a:avLst/>
          </a:prstGeom>
          <a:noFill/>
          <a:ln/>
        </p:spPr>
        <p:txBody>
          <a:bodyPr wrap="square" lIns="0" tIns="0" rIns="0" bIns="0" rtlCol="0" anchor="ctr"/>
          <a:lstStyle/>
          <a:p>
            <a:pPr algn="ctr"/>
            <a:r>
              <a:rPr lang="en-GB" sz="1600" b="1" dirty="0">
                <a:solidFill>
                  <a:srgbClr val="FFFFFF"/>
                </a:solidFill>
                <a:latin typeface="Arial" panose="020B0604020202020204" pitchFamily="34" charset="0"/>
                <a:ea typeface="Calibri" pitchFamily="34" charset="-122"/>
                <a:cs typeface="Arial" panose="020B0604020202020204" pitchFamily="34" charset="0"/>
              </a:rPr>
              <a:t>Healthcare and GEMS Related Events</a:t>
            </a:r>
          </a:p>
        </p:txBody>
      </p:sp>
      <p:sp>
        <p:nvSpPr>
          <p:cNvPr id="16" name="Text 15">
            <a:extLst>
              <a:ext uri="{FF2B5EF4-FFF2-40B4-BE49-F238E27FC236}">
                <a16:creationId xmlns:a16="http://schemas.microsoft.com/office/drawing/2014/main" id="{CD900CC0-F3FA-4174-8EEA-36AC524006ED}"/>
              </a:ext>
            </a:extLst>
          </p:cNvPr>
          <p:cNvSpPr/>
          <p:nvPr/>
        </p:nvSpPr>
        <p:spPr>
          <a:xfrm>
            <a:off x="653278" y="4661124"/>
            <a:ext cx="11251204" cy="1889890"/>
          </a:xfrm>
          <a:prstGeom prst="rect">
            <a:avLst/>
          </a:prstGeom>
          <a:noFill/>
          <a:ln/>
        </p:spPr>
        <p:txBody>
          <a:bodyPr wrap="square" rtlCol="0" anchor="ctr"/>
          <a:lstStyle/>
          <a:p>
            <a:pPr marL="285750" indent="-285750" algn="just">
              <a:buFont typeface="Arial" panose="020B0604020202020204" pitchFamily="34" charset="0"/>
              <a:buChar char="•"/>
            </a:pPr>
            <a:r>
              <a:rPr lang="en-GB" sz="1600" dirty="0">
                <a:latin typeface="Arial" panose="020B0604020202020204" pitchFamily="34" charset="0"/>
                <a:ea typeface="Calibri" pitchFamily="34" charset="-122"/>
                <a:cs typeface="Arial" panose="020B0604020202020204" pitchFamily="34" charset="0"/>
              </a:rPr>
              <a:t>GEMS Symposium 2025 </a:t>
            </a:r>
          </a:p>
          <a:p>
            <a:pPr marL="285750" indent="-285750" algn="just">
              <a:buFont typeface="Arial" panose="020B0604020202020204" pitchFamily="34" charset="0"/>
              <a:buChar char="•"/>
            </a:pPr>
            <a:r>
              <a:rPr lang="en-GB" sz="1600" dirty="0">
                <a:latin typeface="Arial" panose="020B0604020202020204" pitchFamily="34" charset="0"/>
                <a:ea typeface="Calibri" pitchFamily="34" charset="-122"/>
                <a:cs typeface="Arial" panose="020B0604020202020204" pitchFamily="34" charset="0"/>
              </a:rPr>
              <a:t>FEDUSA-Affiliated Trade Unions March and Memorandum Submission to GEMS </a:t>
            </a:r>
          </a:p>
          <a:p>
            <a:pPr marL="285750" indent="-285750" algn="just">
              <a:buFont typeface="Arial" panose="020B0604020202020204" pitchFamily="34" charset="0"/>
              <a:buChar char="•"/>
            </a:pPr>
            <a:r>
              <a:rPr lang="en-GB" sz="1600" dirty="0">
                <a:latin typeface="Arial" panose="020B0604020202020204" pitchFamily="34" charset="0"/>
                <a:ea typeface="Calibri" pitchFamily="34" charset="-122"/>
                <a:cs typeface="Arial" panose="020B0604020202020204" pitchFamily="34" charset="0"/>
              </a:rPr>
              <a:t>COSATU-Affiliated Trade Unions Media Briefing and Protest Action Against GEMS Contribution Increases </a:t>
            </a:r>
          </a:p>
          <a:p>
            <a:pPr marL="285750" indent="-285750" algn="just">
              <a:buFont typeface="Arial" panose="020B0604020202020204" pitchFamily="34" charset="0"/>
              <a:buChar char="•"/>
            </a:pPr>
            <a:r>
              <a:rPr lang="en-GB" sz="1600" dirty="0">
                <a:latin typeface="Arial" panose="020B0604020202020204" pitchFamily="34" charset="0"/>
                <a:ea typeface="Calibri" pitchFamily="34" charset="-122"/>
                <a:cs typeface="Arial" panose="020B0604020202020204" pitchFamily="34" charset="0"/>
              </a:rPr>
              <a:t>PSCBC Engagements on GEMS Contribution Increases </a:t>
            </a:r>
          </a:p>
          <a:p>
            <a:pPr marL="285750" indent="-285750" algn="just">
              <a:buFont typeface="Wingdings" panose="05000000000000000000" pitchFamily="2" charset="2"/>
              <a:buChar char="v"/>
            </a:pPr>
            <a:endParaRPr lang="en-GB" sz="1600" b="1" dirty="0">
              <a:solidFill>
                <a:schemeClr val="accent5">
                  <a:lumMod val="50000"/>
                </a:schemeClr>
              </a:solidFill>
              <a:latin typeface="Arial" panose="020B0604020202020204" pitchFamily="34" charset="0"/>
              <a:ea typeface="Calibri" pitchFamily="34" charset="-122"/>
              <a:cs typeface="Arial" panose="020B0604020202020204" pitchFamily="34" charset="0"/>
            </a:endParaRPr>
          </a:p>
        </p:txBody>
      </p:sp>
      <p:sp>
        <p:nvSpPr>
          <p:cNvPr id="19" name="Text 18">
            <a:extLst>
              <a:ext uri="{FF2B5EF4-FFF2-40B4-BE49-F238E27FC236}">
                <a16:creationId xmlns:a16="http://schemas.microsoft.com/office/drawing/2014/main" id="{9B9B31EA-867B-16A4-09B0-91E163EF874A}"/>
              </a:ext>
            </a:extLst>
          </p:cNvPr>
          <p:cNvSpPr/>
          <p:nvPr/>
        </p:nvSpPr>
        <p:spPr>
          <a:xfrm>
            <a:off x="3267456" y="3962400"/>
            <a:ext cx="512064" cy="487680"/>
          </a:xfrm>
          <a:prstGeom prst="rect">
            <a:avLst/>
          </a:prstGeom>
          <a:noFill/>
          <a:ln/>
        </p:spPr>
        <p:txBody>
          <a:bodyPr wrap="square" lIns="0" tIns="0" rIns="0" bIns="0" rtlCol="0" anchor="ctr"/>
          <a:lstStyle/>
          <a:p>
            <a:pPr algn="ctr"/>
            <a:endParaRPr lang="en-US" sz="1600" dirty="0">
              <a:latin typeface="Arial" panose="020B0604020202020204" pitchFamily="34" charset="0"/>
              <a:cs typeface="Arial" panose="020B0604020202020204" pitchFamily="34" charset="0"/>
            </a:endParaRPr>
          </a:p>
        </p:txBody>
      </p:sp>
      <p:sp>
        <p:nvSpPr>
          <p:cNvPr id="20" name="Text 19">
            <a:extLst>
              <a:ext uri="{FF2B5EF4-FFF2-40B4-BE49-F238E27FC236}">
                <a16:creationId xmlns:a16="http://schemas.microsoft.com/office/drawing/2014/main" id="{9656F050-7AEE-48BB-8202-546937094A55}"/>
              </a:ext>
            </a:extLst>
          </p:cNvPr>
          <p:cNvSpPr/>
          <p:nvPr/>
        </p:nvSpPr>
        <p:spPr>
          <a:xfrm>
            <a:off x="3790528" y="4093464"/>
            <a:ext cx="2048256" cy="487680"/>
          </a:xfrm>
          <a:prstGeom prst="rect">
            <a:avLst/>
          </a:prstGeom>
          <a:noFill/>
          <a:ln/>
        </p:spPr>
        <p:txBody>
          <a:bodyPr wrap="square" lIns="0" tIns="0" rIns="0" bIns="0" rtlCol="0" anchor="ctr"/>
          <a:lstStyle/>
          <a:p>
            <a:r>
              <a:rPr lang="en-US" sz="1600" b="1" dirty="0">
                <a:solidFill>
                  <a:srgbClr val="FFFFFF"/>
                </a:solidFill>
                <a:latin typeface="Arial" panose="020B0604020202020204" pitchFamily="34" charset="0"/>
                <a:ea typeface="Calibri" pitchFamily="34" charset="-122"/>
                <a:cs typeface="Arial" panose="020B0604020202020204" pitchFamily="34" charset="0"/>
              </a:rPr>
              <a:t> </a:t>
            </a:r>
          </a:p>
        </p:txBody>
      </p:sp>
      <p:sp>
        <p:nvSpPr>
          <p:cNvPr id="21" name="Text 20">
            <a:extLst>
              <a:ext uri="{FF2B5EF4-FFF2-40B4-BE49-F238E27FC236}">
                <a16:creationId xmlns:a16="http://schemas.microsoft.com/office/drawing/2014/main" id="{B8D6360B-0533-DDF9-D6CF-045F53727E50}"/>
              </a:ext>
            </a:extLst>
          </p:cNvPr>
          <p:cNvSpPr/>
          <p:nvPr/>
        </p:nvSpPr>
        <p:spPr>
          <a:xfrm>
            <a:off x="3805324" y="4514088"/>
            <a:ext cx="2438400" cy="158496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
        <p:nvSpPr>
          <p:cNvPr id="24" name="Text 23">
            <a:extLst>
              <a:ext uri="{FF2B5EF4-FFF2-40B4-BE49-F238E27FC236}">
                <a16:creationId xmlns:a16="http://schemas.microsoft.com/office/drawing/2014/main" id="{46228646-E025-255B-6E7D-83B6782A7DB5}"/>
              </a:ext>
            </a:extLst>
          </p:cNvPr>
          <p:cNvSpPr/>
          <p:nvPr/>
        </p:nvSpPr>
        <p:spPr>
          <a:xfrm>
            <a:off x="6169152" y="3962400"/>
            <a:ext cx="512064" cy="487680"/>
          </a:xfrm>
          <a:prstGeom prst="rect">
            <a:avLst/>
          </a:prstGeom>
          <a:noFill/>
          <a:ln/>
        </p:spPr>
        <p:txBody>
          <a:bodyPr wrap="square" lIns="0" tIns="0" rIns="0" bIns="0" rtlCol="0" anchor="ctr"/>
          <a:lstStyle/>
          <a:p>
            <a:pPr algn="ctr"/>
            <a:endParaRPr lang="en-US" sz="1600" dirty="0">
              <a:latin typeface="Arial" panose="020B0604020202020204" pitchFamily="34" charset="0"/>
              <a:cs typeface="Arial" panose="020B0604020202020204" pitchFamily="34" charset="0"/>
            </a:endParaRPr>
          </a:p>
        </p:txBody>
      </p:sp>
      <p:sp>
        <p:nvSpPr>
          <p:cNvPr id="25" name="Text 24">
            <a:extLst>
              <a:ext uri="{FF2B5EF4-FFF2-40B4-BE49-F238E27FC236}">
                <a16:creationId xmlns:a16="http://schemas.microsoft.com/office/drawing/2014/main" id="{813BDFEF-33C8-73CC-FC6D-88CB6DF17AA8}"/>
              </a:ext>
            </a:extLst>
          </p:cNvPr>
          <p:cNvSpPr/>
          <p:nvPr/>
        </p:nvSpPr>
        <p:spPr>
          <a:xfrm>
            <a:off x="6699504" y="4093464"/>
            <a:ext cx="2048256" cy="487680"/>
          </a:xfrm>
          <a:prstGeom prst="rect">
            <a:avLst/>
          </a:prstGeom>
          <a:noFill/>
          <a:ln/>
        </p:spPr>
        <p:txBody>
          <a:bodyPr wrap="square" lIns="0" tIns="0" rIns="0" bIns="0" rtlCol="0" anchor="ctr"/>
          <a:lstStyle/>
          <a:p>
            <a:r>
              <a:rPr lang="en-US" sz="1600" b="1" dirty="0">
                <a:solidFill>
                  <a:srgbClr val="FFFFFF"/>
                </a:solidFill>
                <a:latin typeface="Arial" panose="020B0604020202020204" pitchFamily="34" charset="0"/>
                <a:ea typeface="Calibri" pitchFamily="34" charset="-122"/>
                <a:cs typeface="Arial" panose="020B0604020202020204" pitchFamily="34" charset="0"/>
              </a:rPr>
              <a:t> </a:t>
            </a:r>
          </a:p>
        </p:txBody>
      </p:sp>
      <p:sp>
        <p:nvSpPr>
          <p:cNvPr id="26" name="Text 25">
            <a:extLst>
              <a:ext uri="{FF2B5EF4-FFF2-40B4-BE49-F238E27FC236}">
                <a16:creationId xmlns:a16="http://schemas.microsoft.com/office/drawing/2014/main" id="{AF513228-D3A9-687D-3930-E030909E290C}"/>
              </a:ext>
            </a:extLst>
          </p:cNvPr>
          <p:cNvSpPr/>
          <p:nvPr/>
        </p:nvSpPr>
        <p:spPr>
          <a:xfrm>
            <a:off x="6291072" y="4535424"/>
            <a:ext cx="2438400" cy="158496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
        <p:nvSpPr>
          <p:cNvPr id="29" name="Text 28">
            <a:extLst>
              <a:ext uri="{FF2B5EF4-FFF2-40B4-BE49-F238E27FC236}">
                <a16:creationId xmlns:a16="http://schemas.microsoft.com/office/drawing/2014/main" id="{4694FE8D-7EE3-014E-86AA-9126AE2A6B35}"/>
              </a:ext>
            </a:extLst>
          </p:cNvPr>
          <p:cNvSpPr/>
          <p:nvPr/>
        </p:nvSpPr>
        <p:spPr>
          <a:xfrm>
            <a:off x="9070848" y="3962400"/>
            <a:ext cx="512064" cy="487680"/>
          </a:xfrm>
          <a:prstGeom prst="rect">
            <a:avLst/>
          </a:prstGeom>
          <a:noFill/>
          <a:ln/>
        </p:spPr>
        <p:txBody>
          <a:bodyPr wrap="square" lIns="0" tIns="0" rIns="0" bIns="0" rtlCol="0" anchor="ctr"/>
          <a:lstStyle/>
          <a:p>
            <a:pPr algn="ctr"/>
            <a:endParaRPr lang="en-US" sz="1600" dirty="0">
              <a:latin typeface="Arial" panose="020B0604020202020204" pitchFamily="34" charset="0"/>
              <a:cs typeface="Arial" panose="020B0604020202020204" pitchFamily="34" charset="0"/>
            </a:endParaRPr>
          </a:p>
        </p:txBody>
      </p:sp>
      <p:sp>
        <p:nvSpPr>
          <p:cNvPr id="30" name="Text 29">
            <a:extLst>
              <a:ext uri="{FF2B5EF4-FFF2-40B4-BE49-F238E27FC236}">
                <a16:creationId xmlns:a16="http://schemas.microsoft.com/office/drawing/2014/main" id="{D238EAC0-13FE-4A69-0E7B-DD507FEBAD6E}"/>
              </a:ext>
            </a:extLst>
          </p:cNvPr>
          <p:cNvSpPr/>
          <p:nvPr/>
        </p:nvSpPr>
        <p:spPr>
          <a:xfrm>
            <a:off x="9619488" y="3962400"/>
            <a:ext cx="2048256" cy="487680"/>
          </a:xfrm>
          <a:prstGeom prst="rect">
            <a:avLst/>
          </a:prstGeom>
          <a:noFill/>
          <a:ln/>
        </p:spPr>
        <p:txBody>
          <a:bodyPr wrap="square" lIns="0" tIns="0" rIns="0" bIns="0" rtlCol="0" anchor="ctr"/>
          <a:lstStyle/>
          <a:p>
            <a:endParaRPr lang="en-US" sz="1600" b="1" dirty="0">
              <a:solidFill>
                <a:srgbClr val="FFFFFF"/>
              </a:solidFill>
              <a:latin typeface="Arial" panose="020B0604020202020204" pitchFamily="34" charset="0"/>
              <a:ea typeface="Calibri" pitchFamily="34" charset="-122"/>
              <a:cs typeface="Arial" panose="020B0604020202020204" pitchFamily="34" charset="0"/>
            </a:endParaRPr>
          </a:p>
        </p:txBody>
      </p:sp>
      <p:sp>
        <p:nvSpPr>
          <p:cNvPr id="31" name="Text 30">
            <a:extLst>
              <a:ext uri="{FF2B5EF4-FFF2-40B4-BE49-F238E27FC236}">
                <a16:creationId xmlns:a16="http://schemas.microsoft.com/office/drawing/2014/main" id="{966D3BC2-0581-1133-B98C-E0F5E2435186}"/>
              </a:ext>
            </a:extLst>
          </p:cNvPr>
          <p:cNvSpPr/>
          <p:nvPr/>
        </p:nvSpPr>
        <p:spPr>
          <a:xfrm>
            <a:off x="9192768" y="4535424"/>
            <a:ext cx="2438400" cy="158496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173738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7C2C7-0C2B-6C5B-C0A1-222A439E3EF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C6198FD-30CC-8335-4EC6-7AE209550CDD}"/>
              </a:ext>
            </a:extLst>
          </p:cNvPr>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31C86395-8D65-6BAC-EFEB-1E3B9D4D410A}"/>
              </a:ext>
            </a:extLst>
          </p:cNvPr>
          <p:cNvSpPr/>
          <p:nvPr/>
        </p:nvSpPr>
        <p:spPr>
          <a:xfrm>
            <a:off x="487680" y="121920"/>
            <a:ext cx="11216640" cy="670560"/>
          </a:xfrm>
          <a:prstGeom prst="rect">
            <a:avLst/>
          </a:prstGeom>
          <a:noFill/>
          <a:ln/>
        </p:spPr>
        <p:txBody>
          <a:bodyPr wrap="square" lIns="0" tIns="0" rIns="0" bIns="0" rtlCol="0" anchor="ctr"/>
          <a:lstStyle/>
          <a:p>
            <a:r>
              <a:rPr lang="en-US" sz="2800" b="1" dirty="0">
                <a:solidFill>
                  <a:schemeClr val="bg1"/>
                </a:solidFill>
                <a:latin typeface="Arial" panose="020B0604020202020204" pitchFamily="34" charset="0"/>
                <a:cs typeface="Arial" panose="020B0604020202020204" pitchFamily="34" charset="0"/>
              </a:rPr>
              <a:t>EVENTS </a:t>
            </a:r>
            <a:endParaRPr lang="en-US" sz="2667" dirty="0">
              <a:solidFill>
                <a:schemeClr val="bg1"/>
              </a:solidFill>
              <a:latin typeface="Arial" panose="020B0604020202020204" pitchFamily="34" charset="0"/>
              <a:cs typeface="Arial" panose="020B0604020202020204" pitchFamily="34" charset="0"/>
            </a:endParaRPr>
          </a:p>
        </p:txBody>
      </p:sp>
      <p:sp>
        <p:nvSpPr>
          <p:cNvPr id="5" name="Shape 3">
            <a:extLst>
              <a:ext uri="{FF2B5EF4-FFF2-40B4-BE49-F238E27FC236}">
                <a16:creationId xmlns:a16="http://schemas.microsoft.com/office/drawing/2014/main" id="{2FE337F2-A47F-0BC3-D8AD-D8BB4292C32B}"/>
              </a:ext>
            </a:extLst>
          </p:cNvPr>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4" name="Text 5">
            <a:extLst>
              <a:ext uri="{FF2B5EF4-FFF2-40B4-BE49-F238E27FC236}">
                <a16:creationId xmlns:a16="http://schemas.microsoft.com/office/drawing/2014/main" id="{4E981E47-CCC0-ADC4-4FBE-37A8A35E4177}"/>
              </a:ext>
            </a:extLst>
          </p:cNvPr>
          <p:cNvSpPr/>
          <p:nvPr/>
        </p:nvSpPr>
        <p:spPr>
          <a:xfrm>
            <a:off x="641619" y="2192429"/>
            <a:ext cx="10972800" cy="2069019"/>
          </a:xfrm>
          <a:prstGeom prst="rect">
            <a:avLst/>
          </a:prstGeom>
          <a:noFill/>
          <a:ln/>
        </p:spPr>
        <p:txBody>
          <a:bodyPr wrap="square" rtlCol="0" anchor="ctr"/>
          <a:lstStyle/>
          <a:p>
            <a:pPr marL="285750" indent="-285750" algn="just">
              <a:buFont typeface="Arial" panose="020B0604020202020204" pitchFamily="34" charset="0"/>
              <a:buChar char="•"/>
            </a:pPr>
            <a:r>
              <a:rPr lang="en-GB" sz="1600" i="1" dirty="0">
                <a:latin typeface="Arial" panose="020B0604020202020204" pitchFamily="34" charset="0"/>
                <a:ea typeface="Calibri" pitchFamily="34" charset="-122"/>
                <a:cs typeface="Arial" panose="020B0604020202020204" pitchFamily="34" charset="0"/>
              </a:rPr>
              <a:t>NEHAWU National Organising, Servicing and Bargaining Conference </a:t>
            </a:r>
          </a:p>
          <a:p>
            <a:pPr marL="285750" indent="-285750" algn="just">
              <a:buFont typeface="Arial" panose="020B0604020202020204" pitchFamily="34" charset="0"/>
              <a:buChar char="•"/>
            </a:pPr>
            <a:r>
              <a:rPr lang="en-GB" sz="1600" i="1" dirty="0">
                <a:latin typeface="Arial" panose="020B0604020202020204" pitchFamily="34" charset="0"/>
                <a:ea typeface="Calibri" pitchFamily="34" charset="-122"/>
                <a:cs typeface="Arial" panose="020B0604020202020204" pitchFamily="34" charset="0"/>
              </a:rPr>
              <a:t>National Teachers' Union (NATU) 107th Triennial National Conference </a:t>
            </a:r>
          </a:p>
          <a:p>
            <a:pPr marL="285750" indent="-285750" algn="just">
              <a:buFont typeface="Arial" panose="020B0604020202020204" pitchFamily="34" charset="0"/>
              <a:buChar char="•"/>
            </a:pPr>
            <a:r>
              <a:rPr lang="en-GB" sz="1600" i="1" dirty="0">
                <a:latin typeface="Arial" panose="020B0604020202020204" pitchFamily="34" charset="0"/>
                <a:ea typeface="Calibri" pitchFamily="34" charset="-122"/>
                <a:cs typeface="Arial" panose="020B0604020202020204" pitchFamily="34" charset="0"/>
              </a:rPr>
              <a:t>Professional Educators' Union Elective Congress </a:t>
            </a:r>
          </a:p>
          <a:p>
            <a:pPr marL="285750" indent="-285750" algn="just">
              <a:buFont typeface="Arial" panose="020B0604020202020204" pitchFamily="34" charset="0"/>
              <a:buChar char="•"/>
            </a:pPr>
            <a:r>
              <a:rPr lang="en-GB" sz="1600" i="1" dirty="0">
                <a:latin typeface="Arial" panose="020B0604020202020204" pitchFamily="34" charset="0"/>
                <a:ea typeface="Calibri" pitchFamily="34" charset="-122"/>
                <a:cs typeface="Arial" panose="020B0604020202020204" pitchFamily="34" charset="0"/>
              </a:rPr>
              <a:t>NAPTOSA 8th National Congress </a:t>
            </a:r>
          </a:p>
          <a:p>
            <a:pPr marL="285750" indent="-285750" algn="just">
              <a:buFont typeface="Arial" panose="020B0604020202020204" pitchFamily="34" charset="0"/>
              <a:buChar char="•"/>
            </a:pPr>
            <a:r>
              <a:rPr lang="en-GB" sz="1600" i="1" dirty="0">
                <a:latin typeface="Arial" panose="020B0604020202020204" pitchFamily="34" charset="0"/>
                <a:ea typeface="Calibri" pitchFamily="34" charset="-122"/>
                <a:cs typeface="Arial" panose="020B0604020202020204" pitchFamily="34" charset="0"/>
              </a:rPr>
              <a:t>POPCRU Central Executive Committee Conference </a:t>
            </a:r>
          </a:p>
          <a:p>
            <a:pPr marL="285750" indent="-285750" algn="just">
              <a:buFont typeface="Arial" panose="020B0604020202020204" pitchFamily="34" charset="0"/>
              <a:buChar char="•"/>
            </a:pPr>
            <a:r>
              <a:rPr lang="en-GB" sz="1600" i="1" dirty="0">
                <a:latin typeface="Arial" panose="020B0604020202020204" pitchFamily="34" charset="0"/>
                <a:ea typeface="Calibri" pitchFamily="34" charset="-122"/>
                <a:cs typeface="Arial" panose="020B0604020202020204" pitchFamily="34" charset="0"/>
              </a:rPr>
              <a:t>DPSA National Labour Relations Forum </a:t>
            </a:r>
          </a:p>
          <a:p>
            <a:pPr marL="285750" indent="-285750" algn="just">
              <a:buFont typeface="Arial" panose="020B0604020202020204" pitchFamily="34" charset="0"/>
              <a:buChar char="•"/>
            </a:pPr>
            <a:r>
              <a:rPr lang="en-GB" sz="1600" i="1" dirty="0">
                <a:latin typeface="Arial" panose="020B0604020202020204" pitchFamily="34" charset="0"/>
                <a:ea typeface="Calibri" pitchFamily="34" charset="-122"/>
                <a:cs typeface="Arial" panose="020B0604020202020204" pitchFamily="34" charset="0"/>
              </a:rPr>
              <a:t>SAPU Book Launch on Gender-Based Violence </a:t>
            </a:r>
          </a:p>
        </p:txBody>
      </p:sp>
      <p:sp>
        <p:nvSpPr>
          <p:cNvPr id="7" name="Shape 6">
            <a:extLst>
              <a:ext uri="{FF2B5EF4-FFF2-40B4-BE49-F238E27FC236}">
                <a16:creationId xmlns:a16="http://schemas.microsoft.com/office/drawing/2014/main" id="{AAA39AA2-1412-79D2-B684-4CCA2187D568}"/>
              </a:ext>
            </a:extLst>
          </p:cNvPr>
          <p:cNvSpPr/>
          <p:nvPr/>
        </p:nvSpPr>
        <p:spPr>
          <a:xfrm>
            <a:off x="444002" y="1633728"/>
            <a:ext cx="11460480" cy="694944"/>
          </a:xfrm>
          <a:prstGeom prst="rect">
            <a:avLst/>
          </a:prstGeom>
          <a:solidFill>
            <a:schemeClr val="accent5">
              <a:lumMod val="50000"/>
            </a:schemeClr>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8" name="Shape 7">
            <a:extLst>
              <a:ext uri="{FF2B5EF4-FFF2-40B4-BE49-F238E27FC236}">
                <a16:creationId xmlns:a16="http://schemas.microsoft.com/office/drawing/2014/main" id="{529A1003-72B2-EF53-C560-FF7C6B3F4B99}"/>
              </a:ext>
            </a:extLst>
          </p:cNvPr>
          <p:cNvSpPr/>
          <p:nvPr/>
        </p:nvSpPr>
        <p:spPr>
          <a:xfrm>
            <a:off x="358658" y="1633728"/>
            <a:ext cx="85344" cy="694944"/>
          </a:xfrm>
          <a:prstGeom prst="rect">
            <a:avLst/>
          </a:prstGeom>
          <a:solidFill>
            <a:schemeClr val="accent4">
              <a:lumMod val="75000"/>
            </a:schemeClr>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9" name="Text 8">
            <a:extLst>
              <a:ext uri="{FF2B5EF4-FFF2-40B4-BE49-F238E27FC236}">
                <a16:creationId xmlns:a16="http://schemas.microsoft.com/office/drawing/2014/main" id="{38C2D286-DCA0-F71C-3C79-BB29609E7105}"/>
              </a:ext>
            </a:extLst>
          </p:cNvPr>
          <p:cNvSpPr/>
          <p:nvPr/>
        </p:nvSpPr>
        <p:spPr>
          <a:xfrm>
            <a:off x="3694176" y="1557183"/>
            <a:ext cx="4267200" cy="784514"/>
          </a:xfrm>
          <a:prstGeom prst="rect">
            <a:avLst/>
          </a:prstGeom>
          <a:noFill/>
          <a:ln/>
        </p:spPr>
        <p:txBody>
          <a:bodyPr wrap="square" lIns="0" tIns="0" rIns="0" bIns="0" rtlCol="0" anchor="ctr"/>
          <a:lstStyle/>
          <a:p>
            <a:pPr algn="ctr"/>
            <a:r>
              <a:rPr lang="en-GB" sz="1600" b="1" dirty="0">
                <a:solidFill>
                  <a:schemeClr val="bg1"/>
                </a:solidFill>
                <a:latin typeface="Arial" panose="020B0604020202020204" pitchFamily="34" charset="0"/>
                <a:ea typeface="Calibri" pitchFamily="34" charset="-122"/>
                <a:cs typeface="Arial" panose="020B0604020202020204" pitchFamily="34" charset="0"/>
              </a:rPr>
              <a:t>Labour Relations and Stakeholder Engagement Events</a:t>
            </a:r>
          </a:p>
        </p:txBody>
      </p:sp>
      <p:sp>
        <p:nvSpPr>
          <p:cNvPr id="10" name="Text 9">
            <a:extLst>
              <a:ext uri="{FF2B5EF4-FFF2-40B4-BE49-F238E27FC236}">
                <a16:creationId xmlns:a16="http://schemas.microsoft.com/office/drawing/2014/main" id="{2B327D50-E11E-C6D9-122F-E4E395E54FD0}"/>
              </a:ext>
            </a:extLst>
          </p:cNvPr>
          <p:cNvSpPr/>
          <p:nvPr/>
        </p:nvSpPr>
        <p:spPr>
          <a:xfrm>
            <a:off x="945886" y="1987296"/>
            <a:ext cx="10972800" cy="341376"/>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11" name="Text 10">
            <a:extLst>
              <a:ext uri="{FF2B5EF4-FFF2-40B4-BE49-F238E27FC236}">
                <a16:creationId xmlns:a16="http://schemas.microsoft.com/office/drawing/2014/main" id="{7BDA602A-34E9-B32E-E804-EE9B47A943D9}"/>
              </a:ext>
            </a:extLst>
          </p:cNvPr>
          <p:cNvSpPr/>
          <p:nvPr/>
        </p:nvSpPr>
        <p:spPr>
          <a:xfrm>
            <a:off x="365760" y="3450336"/>
            <a:ext cx="11460480" cy="390144"/>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13" name="Shape 12">
            <a:extLst>
              <a:ext uri="{FF2B5EF4-FFF2-40B4-BE49-F238E27FC236}">
                <a16:creationId xmlns:a16="http://schemas.microsoft.com/office/drawing/2014/main" id="{C2571FBB-FBB6-D07D-7B5B-E52966BC28F0}"/>
              </a:ext>
            </a:extLst>
          </p:cNvPr>
          <p:cNvSpPr/>
          <p:nvPr/>
        </p:nvSpPr>
        <p:spPr>
          <a:xfrm>
            <a:off x="401330" y="4152152"/>
            <a:ext cx="11538722" cy="522042"/>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4" name="Text 13">
            <a:extLst>
              <a:ext uri="{FF2B5EF4-FFF2-40B4-BE49-F238E27FC236}">
                <a16:creationId xmlns:a16="http://schemas.microsoft.com/office/drawing/2014/main" id="{C30E0403-4141-FADD-A27D-0FE9F54FC82B}"/>
              </a:ext>
            </a:extLst>
          </p:cNvPr>
          <p:cNvSpPr/>
          <p:nvPr/>
        </p:nvSpPr>
        <p:spPr>
          <a:xfrm>
            <a:off x="365760" y="3962400"/>
            <a:ext cx="512064" cy="487680"/>
          </a:xfrm>
          <a:prstGeom prst="rect">
            <a:avLst/>
          </a:prstGeom>
          <a:noFill/>
          <a:ln/>
        </p:spPr>
        <p:txBody>
          <a:bodyPr wrap="square" lIns="0" tIns="0" rIns="0" bIns="0" rtlCol="0" anchor="ctr"/>
          <a:lstStyle/>
          <a:p>
            <a:pPr algn="ctr"/>
            <a:endParaRPr lang="en-US" sz="1600" dirty="0">
              <a:latin typeface="Arial" panose="020B0604020202020204" pitchFamily="34" charset="0"/>
              <a:cs typeface="Arial" panose="020B0604020202020204" pitchFamily="34" charset="0"/>
            </a:endParaRPr>
          </a:p>
        </p:txBody>
      </p:sp>
      <p:sp>
        <p:nvSpPr>
          <p:cNvPr id="15" name="Text 14">
            <a:extLst>
              <a:ext uri="{FF2B5EF4-FFF2-40B4-BE49-F238E27FC236}">
                <a16:creationId xmlns:a16="http://schemas.microsoft.com/office/drawing/2014/main" id="{D6CAC4C9-622F-ED48-5C95-D5D06D526465}"/>
              </a:ext>
            </a:extLst>
          </p:cNvPr>
          <p:cNvSpPr/>
          <p:nvPr/>
        </p:nvSpPr>
        <p:spPr>
          <a:xfrm>
            <a:off x="2609088" y="4173444"/>
            <a:ext cx="5805576" cy="487680"/>
          </a:xfrm>
          <a:prstGeom prst="rect">
            <a:avLst/>
          </a:prstGeom>
          <a:noFill/>
          <a:ln/>
        </p:spPr>
        <p:txBody>
          <a:bodyPr wrap="square" lIns="0" tIns="0" rIns="0" bIns="0" rtlCol="0" anchor="ctr"/>
          <a:lstStyle/>
          <a:p>
            <a:pPr algn="ctr"/>
            <a:r>
              <a:rPr lang="en-GB" sz="1600" b="1" dirty="0">
                <a:solidFill>
                  <a:srgbClr val="FFFFFF"/>
                </a:solidFill>
                <a:latin typeface="Arial" panose="020B0604020202020204" pitchFamily="34" charset="0"/>
                <a:ea typeface="Calibri" pitchFamily="34" charset="-122"/>
                <a:cs typeface="Arial" panose="020B0604020202020204" pitchFamily="34" charset="0"/>
              </a:rPr>
              <a:t>International and Industry Conferences</a:t>
            </a:r>
          </a:p>
        </p:txBody>
      </p:sp>
      <p:sp>
        <p:nvSpPr>
          <p:cNvPr id="16" name="Text 15">
            <a:extLst>
              <a:ext uri="{FF2B5EF4-FFF2-40B4-BE49-F238E27FC236}">
                <a16:creationId xmlns:a16="http://schemas.microsoft.com/office/drawing/2014/main" id="{40C5F92A-C5BF-1D90-96FA-7B818DC0F81C}"/>
              </a:ext>
            </a:extLst>
          </p:cNvPr>
          <p:cNvSpPr/>
          <p:nvPr/>
        </p:nvSpPr>
        <p:spPr>
          <a:xfrm>
            <a:off x="621792" y="4719015"/>
            <a:ext cx="11251204" cy="1889890"/>
          </a:xfrm>
          <a:prstGeom prst="rect">
            <a:avLst/>
          </a:prstGeom>
          <a:noFill/>
          <a:ln/>
        </p:spPr>
        <p:txBody>
          <a:bodyPr wrap="square" rtlCol="0" anchor="ctr"/>
          <a:lstStyle/>
          <a:p>
            <a:pPr marL="285750" indent="-285750" algn="just">
              <a:buFont typeface="Arial" panose="020B0604020202020204" pitchFamily="34" charset="0"/>
              <a:buChar char="•"/>
            </a:pPr>
            <a:r>
              <a:rPr lang="en-GB" sz="1600" dirty="0">
                <a:latin typeface="Arial" panose="020B0604020202020204" pitchFamily="34" charset="0"/>
                <a:ea typeface="Calibri" pitchFamily="34" charset="-122"/>
                <a:cs typeface="Arial" panose="020B0604020202020204" pitchFamily="34" charset="0"/>
              </a:rPr>
              <a:t>ILERA Europa Conference </a:t>
            </a:r>
          </a:p>
          <a:p>
            <a:pPr marL="285750" indent="-285750" algn="just">
              <a:buFont typeface="Arial" panose="020B0604020202020204" pitchFamily="34" charset="0"/>
              <a:buChar char="•"/>
            </a:pPr>
            <a:r>
              <a:rPr lang="en-GB" sz="1600" dirty="0">
                <a:latin typeface="Arial" panose="020B0604020202020204" pitchFamily="34" charset="0"/>
                <a:ea typeface="Calibri" pitchFamily="34" charset="-122"/>
                <a:cs typeface="Arial" panose="020B0604020202020204" pitchFamily="34" charset="0"/>
              </a:rPr>
              <a:t>South African Public Administration and Management (SAPAAM) Summit </a:t>
            </a:r>
          </a:p>
          <a:p>
            <a:pPr marL="285750" indent="-285750" algn="just">
              <a:buFont typeface="Arial" panose="020B0604020202020204" pitchFamily="34" charset="0"/>
              <a:buChar char="•"/>
            </a:pPr>
            <a:r>
              <a:rPr lang="en-GB" sz="1600" dirty="0">
                <a:latin typeface="Arial" panose="020B0604020202020204" pitchFamily="34" charset="0"/>
                <a:ea typeface="Calibri" pitchFamily="34" charset="-122"/>
                <a:cs typeface="Arial" panose="020B0604020202020204" pitchFamily="34" charset="0"/>
              </a:rPr>
              <a:t>Labour Law and Compliance Summit </a:t>
            </a:r>
          </a:p>
          <a:p>
            <a:pPr marL="285750" indent="-285750" algn="just">
              <a:buFont typeface="Arial" panose="020B0604020202020204" pitchFamily="34" charset="0"/>
              <a:buChar char="•"/>
            </a:pPr>
            <a:r>
              <a:rPr lang="en-GB" sz="1600" dirty="0">
                <a:latin typeface="Arial" panose="020B0604020202020204" pitchFamily="34" charset="0"/>
                <a:ea typeface="Calibri" pitchFamily="34" charset="-122"/>
                <a:cs typeface="Arial" panose="020B0604020202020204" pitchFamily="34" charset="0"/>
              </a:rPr>
              <a:t>Trade Union Conference on Gender-Based Violence </a:t>
            </a:r>
          </a:p>
          <a:p>
            <a:pPr marL="285750" indent="-285750" algn="just">
              <a:buFont typeface="Arial" panose="020B0604020202020204" pitchFamily="34" charset="0"/>
              <a:buChar char="•"/>
            </a:pPr>
            <a:r>
              <a:rPr lang="en-GB" sz="1600" dirty="0">
                <a:latin typeface="Arial" panose="020B0604020202020204" pitchFamily="34" charset="0"/>
                <a:ea typeface="Calibri" pitchFamily="34" charset="-122"/>
                <a:cs typeface="Arial" panose="020B0604020202020204" pitchFamily="34" charset="0"/>
              </a:rPr>
              <a:t>14th ILERA European Congress (United Kingdom) </a:t>
            </a:r>
          </a:p>
          <a:p>
            <a:pPr marL="285750" indent="-285750" algn="just">
              <a:buFont typeface="Arial" panose="020B0604020202020204" pitchFamily="34" charset="0"/>
              <a:buChar char="•"/>
            </a:pPr>
            <a:r>
              <a:rPr lang="en-GB" sz="1600" dirty="0">
                <a:latin typeface="Arial" panose="020B0604020202020204" pitchFamily="34" charset="0"/>
                <a:ea typeface="Calibri" pitchFamily="34" charset="-122"/>
                <a:cs typeface="Arial" panose="020B0604020202020204" pitchFamily="34" charset="0"/>
              </a:rPr>
              <a:t>7th African Labour Law Society Conference (Botswana) </a:t>
            </a:r>
          </a:p>
          <a:p>
            <a:pPr marL="285750" indent="-285750" algn="just">
              <a:buFont typeface="Wingdings" panose="05000000000000000000" pitchFamily="2" charset="2"/>
              <a:buChar char="v"/>
            </a:pPr>
            <a:endParaRPr lang="en-GB" sz="1600" b="1" dirty="0">
              <a:solidFill>
                <a:schemeClr val="accent5">
                  <a:lumMod val="50000"/>
                </a:schemeClr>
              </a:solidFill>
              <a:latin typeface="Arial" panose="020B0604020202020204" pitchFamily="34" charset="0"/>
              <a:ea typeface="Calibri" pitchFamily="34" charset="-122"/>
              <a:cs typeface="Arial" panose="020B0604020202020204" pitchFamily="34" charset="0"/>
            </a:endParaRPr>
          </a:p>
        </p:txBody>
      </p:sp>
      <p:sp>
        <p:nvSpPr>
          <p:cNvPr id="19" name="Text 18">
            <a:extLst>
              <a:ext uri="{FF2B5EF4-FFF2-40B4-BE49-F238E27FC236}">
                <a16:creationId xmlns:a16="http://schemas.microsoft.com/office/drawing/2014/main" id="{15A17F40-B8DA-DF1D-CDB2-5B3F73019122}"/>
              </a:ext>
            </a:extLst>
          </p:cNvPr>
          <p:cNvSpPr/>
          <p:nvPr/>
        </p:nvSpPr>
        <p:spPr>
          <a:xfrm>
            <a:off x="3267456" y="3962400"/>
            <a:ext cx="512064" cy="487680"/>
          </a:xfrm>
          <a:prstGeom prst="rect">
            <a:avLst/>
          </a:prstGeom>
          <a:noFill/>
          <a:ln/>
        </p:spPr>
        <p:txBody>
          <a:bodyPr wrap="square" lIns="0" tIns="0" rIns="0" bIns="0" rtlCol="0" anchor="ctr"/>
          <a:lstStyle/>
          <a:p>
            <a:pPr algn="ctr"/>
            <a:endParaRPr lang="en-US" sz="1600" dirty="0">
              <a:latin typeface="Arial" panose="020B0604020202020204" pitchFamily="34" charset="0"/>
              <a:cs typeface="Arial" panose="020B0604020202020204" pitchFamily="34" charset="0"/>
            </a:endParaRPr>
          </a:p>
        </p:txBody>
      </p:sp>
      <p:sp>
        <p:nvSpPr>
          <p:cNvPr id="20" name="Text 19">
            <a:extLst>
              <a:ext uri="{FF2B5EF4-FFF2-40B4-BE49-F238E27FC236}">
                <a16:creationId xmlns:a16="http://schemas.microsoft.com/office/drawing/2014/main" id="{6BF4F017-E09A-B349-21B5-311761445779}"/>
              </a:ext>
            </a:extLst>
          </p:cNvPr>
          <p:cNvSpPr/>
          <p:nvPr/>
        </p:nvSpPr>
        <p:spPr>
          <a:xfrm>
            <a:off x="3790528" y="4093464"/>
            <a:ext cx="2048256" cy="487680"/>
          </a:xfrm>
          <a:prstGeom prst="rect">
            <a:avLst/>
          </a:prstGeom>
          <a:noFill/>
          <a:ln/>
        </p:spPr>
        <p:txBody>
          <a:bodyPr wrap="square" lIns="0" tIns="0" rIns="0" bIns="0" rtlCol="0" anchor="ctr"/>
          <a:lstStyle/>
          <a:p>
            <a:r>
              <a:rPr lang="en-US" sz="1600" b="1" dirty="0">
                <a:solidFill>
                  <a:srgbClr val="FFFFFF"/>
                </a:solidFill>
                <a:latin typeface="Arial" panose="020B0604020202020204" pitchFamily="34" charset="0"/>
                <a:ea typeface="Calibri" pitchFamily="34" charset="-122"/>
                <a:cs typeface="Arial" panose="020B0604020202020204" pitchFamily="34" charset="0"/>
              </a:rPr>
              <a:t> </a:t>
            </a:r>
          </a:p>
        </p:txBody>
      </p:sp>
      <p:sp>
        <p:nvSpPr>
          <p:cNvPr id="21" name="Text 20">
            <a:extLst>
              <a:ext uri="{FF2B5EF4-FFF2-40B4-BE49-F238E27FC236}">
                <a16:creationId xmlns:a16="http://schemas.microsoft.com/office/drawing/2014/main" id="{7294823D-4D7A-0804-B5F0-E3B1C3BC9C52}"/>
              </a:ext>
            </a:extLst>
          </p:cNvPr>
          <p:cNvSpPr/>
          <p:nvPr/>
        </p:nvSpPr>
        <p:spPr>
          <a:xfrm>
            <a:off x="3805324" y="4514088"/>
            <a:ext cx="2438400" cy="158496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
        <p:nvSpPr>
          <p:cNvPr id="24" name="Text 23">
            <a:extLst>
              <a:ext uri="{FF2B5EF4-FFF2-40B4-BE49-F238E27FC236}">
                <a16:creationId xmlns:a16="http://schemas.microsoft.com/office/drawing/2014/main" id="{62027404-A2F9-E042-5A00-9504E13D2CD4}"/>
              </a:ext>
            </a:extLst>
          </p:cNvPr>
          <p:cNvSpPr/>
          <p:nvPr/>
        </p:nvSpPr>
        <p:spPr>
          <a:xfrm>
            <a:off x="6169152" y="3962400"/>
            <a:ext cx="512064" cy="487680"/>
          </a:xfrm>
          <a:prstGeom prst="rect">
            <a:avLst/>
          </a:prstGeom>
          <a:noFill/>
          <a:ln/>
        </p:spPr>
        <p:txBody>
          <a:bodyPr wrap="square" lIns="0" tIns="0" rIns="0" bIns="0" rtlCol="0" anchor="ctr"/>
          <a:lstStyle/>
          <a:p>
            <a:pPr algn="ctr"/>
            <a:endParaRPr lang="en-US" sz="1600" dirty="0">
              <a:latin typeface="Arial" panose="020B0604020202020204" pitchFamily="34" charset="0"/>
              <a:cs typeface="Arial" panose="020B0604020202020204" pitchFamily="34" charset="0"/>
            </a:endParaRPr>
          </a:p>
        </p:txBody>
      </p:sp>
      <p:sp>
        <p:nvSpPr>
          <p:cNvPr id="25" name="Text 24">
            <a:extLst>
              <a:ext uri="{FF2B5EF4-FFF2-40B4-BE49-F238E27FC236}">
                <a16:creationId xmlns:a16="http://schemas.microsoft.com/office/drawing/2014/main" id="{476241D2-7B41-3F4C-3C1E-CFAAD2CB2C0C}"/>
              </a:ext>
            </a:extLst>
          </p:cNvPr>
          <p:cNvSpPr/>
          <p:nvPr/>
        </p:nvSpPr>
        <p:spPr>
          <a:xfrm>
            <a:off x="6699504" y="4093464"/>
            <a:ext cx="2048256" cy="487680"/>
          </a:xfrm>
          <a:prstGeom prst="rect">
            <a:avLst/>
          </a:prstGeom>
          <a:noFill/>
          <a:ln/>
        </p:spPr>
        <p:txBody>
          <a:bodyPr wrap="square" lIns="0" tIns="0" rIns="0" bIns="0" rtlCol="0" anchor="ctr"/>
          <a:lstStyle/>
          <a:p>
            <a:r>
              <a:rPr lang="en-US" sz="1600" b="1" dirty="0">
                <a:solidFill>
                  <a:srgbClr val="FFFFFF"/>
                </a:solidFill>
                <a:latin typeface="Arial" panose="020B0604020202020204" pitchFamily="34" charset="0"/>
                <a:ea typeface="Calibri" pitchFamily="34" charset="-122"/>
                <a:cs typeface="Arial" panose="020B0604020202020204" pitchFamily="34" charset="0"/>
              </a:rPr>
              <a:t> </a:t>
            </a:r>
          </a:p>
        </p:txBody>
      </p:sp>
      <p:sp>
        <p:nvSpPr>
          <p:cNvPr id="26" name="Text 25">
            <a:extLst>
              <a:ext uri="{FF2B5EF4-FFF2-40B4-BE49-F238E27FC236}">
                <a16:creationId xmlns:a16="http://schemas.microsoft.com/office/drawing/2014/main" id="{6EA38BF7-1814-485B-67E4-D064993CE310}"/>
              </a:ext>
            </a:extLst>
          </p:cNvPr>
          <p:cNvSpPr/>
          <p:nvPr/>
        </p:nvSpPr>
        <p:spPr>
          <a:xfrm>
            <a:off x="6291072" y="4535424"/>
            <a:ext cx="2438400" cy="158496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
        <p:nvSpPr>
          <p:cNvPr id="29" name="Text 28">
            <a:extLst>
              <a:ext uri="{FF2B5EF4-FFF2-40B4-BE49-F238E27FC236}">
                <a16:creationId xmlns:a16="http://schemas.microsoft.com/office/drawing/2014/main" id="{79C17A69-77D3-DEC6-8D32-26FE23A13597}"/>
              </a:ext>
            </a:extLst>
          </p:cNvPr>
          <p:cNvSpPr/>
          <p:nvPr/>
        </p:nvSpPr>
        <p:spPr>
          <a:xfrm>
            <a:off x="9070848" y="3962400"/>
            <a:ext cx="512064" cy="487680"/>
          </a:xfrm>
          <a:prstGeom prst="rect">
            <a:avLst/>
          </a:prstGeom>
          <a:noFill/>
          <a:ln/>
        </p:spPr>
        <p:txBody>
          <a:bodyPr wrap="square" lIns="0" tIns="0" rIns="0" bIns="0" rtlCol="0" anchor="ctr"/>
          <a:lstStyle/>
          <a:p>
            <a:pPr algn="ctr"/>
            <a:endParaRPr lang="en-US" sz="1600" dirty="0">
              <a:latin typeface="Arial" panose="020B0604020202020204" pitchFamily="34" charset="0"/>
              <a:cs typeface="Arial" panose="020B0604020202020204" pitchFamily="34" charset="0"/>
            </a:endParaRPr>
          </a:p>
        </p:txBody>
      </p:sp>
      <p:sp>
        <p:nvSpPr>
          <p:cNvPr id="30" name="Text 29">
            <a:extLst>
              <a:ext uri="{FF2B5EF4-FFF2-40B4-BE49-F238E27FC236}">
                <a16:creationId xmlns:a16="http://schemas.microsoft.com/office/drawing/2014/main" id="{D4A51287-A8B4-C3A1-4A5D-F6CE998C7FC5}"/>
              </a:ext>
            </a:extLst>
          </p:cNvPr>
          <p:cNvSpPr/>
          <p:nvPr/>
        </p:nvSpPr>
        <p:spPr>
          <a:xfrm>
            <a:off x="9619488" y="3962400"/>
            <a:ext cx="2048256" cy="487680"/>
          </a:xfrm>
          <a:prstGeom prst="rect">
            <a:avLst/>
          </a:prstGeom>
          <a:noFill/>
          <a:ln/>
        </p:spPr>
        <p:txBody>
          <a:bodyPr wrap="square" lIns="0" tIns="0" rIns="0" bIns="0" rtlCol="0" anchor="ctr"/>
          <a:lstStyle/>
          <a:p>
            <a:endParaRPr lang="en-US" sz="1600" b="1" dirty="0">
              <a:solidFill>
                <a:srgbClr val="FFFFFF"/>
              </a:solidFill>
              <a:latin typeface="Arial" panose="020B0604020202020204" pitchFamily="34" charset="0"/>
              <a:ea typeface="Calibri" pitchFamily="34" charset="-122"/>
              <a:cs typeface="Arial" panose="020B0604020202020204" pitchFamily="34" charset="0"/>
            </a:endParaRPr>
          </a:p>
        </p:txBody>
      </p:sp>
      <p:sp>
        <p:nvSpPr>
          <p:cNvPr id="31" name="Text 30">
            <a:extLst>
              <a:ext uri="{FF2B5EF4-FFF2-40B4-BE49-F238E27FC236}">
                <a16:creationId xmlns:a16="http://schemas.microsoft.com/office/drawing/2014/main" id="{2D606711-0EE8-C129-8DD4-92C8DFFFA962}"/>
              </a:ext>
            </a:extLst>
          </p:cNvPr>
          <p:cNvSpPr/>
          <p:nvPr/>
        </p:nvSpPr>
        <p:spPr>
          <a:xfrm>
            <a:off x="9192768" y="4535424"/>
            <a:ext cx="2438400" cy="158496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583593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5201A-C655-D874-D865-18379679B6C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9CAD988-D573-C4FA-B51C-49F885111296}"/>
              </a:ext>
            </a:extLst>
          </p:cNvPr>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A368257C-D12B-1D53-0CCB-25F7396E446B}"/>
              </a:ext>
            </a:extLst>
          </p:cNvPr>
          <p:cNvSpPr/>
          <p:nvPr/>
        </p:nvSpPr>
        <p:spPr>
          <a:xfrm>
            <a:off x="487680" y="121920"/>
            <a:ext cx="11216640" cy="670560"/>
          </a:xfrm>
          <a:prstGeom prst="rect">
            <a:avLst/>
          </a:prstGeom>
          <a:noFill/>
          <a:ln/>
        </p:spPr>
        <p:txBody>
          <a:bodyPr wrap="square" lIns="0" tIns="0" rIns="0" bIns="0" rtlCol="0" anchor="ctr"/>
          <a:lstStyle/>
          <a:p>
            <a:r>
              <a:rPr lang="en-US" sz="2800" b="1" dirty="0">
                <a:solidFill>
                  <a:schemeClr val="bg1"/>
                </a:solidFill>
                <a:latin typeface="Arial" panose="020B0604020202020204" pitchFamily="34" charset="0"/>
                <a:cs typeface="Arial" panose="020B0604020202020204" pitchFamily="34" charset="0"/>
              </a:rPr>
              <a:t>EVENTS </a:t>
            </a:r>
            <a:endParaRPr lang="en-US" sz="2667" dirty="0">
              <a:solidFill>
                <a:schemeClr val="bg1"/>
              </a:solidFill>
              <a:latin typeface="Arial" panose="020B0604020202020204" pitchFamily="34" charset="0"/>
              <a:cs typeface="Arial" panose="020B0604020202020204" pitchFamily="34" charset="0"/>
            </a:endParaRPr>
          </a:p>
        </p:txBody>
      </p:sp>
      <p:sp>
        <p:nvSpPr>
          <p:cNvPr id="5" name="Shape 3">
            <a:extLst>
              <a:ext uri="{FF2B5EF4-FFF2-40B4-BE49-F238E27FC236}">
                <a16:creationId xmlns:a16="http://schemas.microsoft.com/office/drawing/2014/main" id="{E07A87CF-D6C9-F3C2-A05A-B7AA3B68F96A}"/>
              </a:ext>
            </a:extLst>
          </p:cNvPr>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4" name="Text 5">
            <a:extLst>
              <a:ext uri="{FF2B5EF4-FFF2-40B4-BE49-F238E27FC236}">
                <a16:creationId xmlns:a16="http://schemas.microsoft.com/office/drawing/2014/main" id="{8A1024CF-02FD-BFD1-AC4D-7FBE332B80A4}"/>
              </a:ext>
            </a:extLst>
          </p:cNvPr>
          <p:cNvSpPr/>
          <p:nvPr/>
        </p:nvSpPr>
        <p:spPr>
          <a:xfrm>
            <a:off x="2928264" y="1742606"/>
            <a:ext cx="10972800" cy="2069019"/>
          </a:xfrm>
          <a:prstGeom prst="rect">
            <a:avLst/>
          </a:prstGeom>
          <a:noFill/>
          <a:ln/>
        </p:spPr>
        <p:txBody>
          <a:bodyPr wrap="square" rtlCol="0" anchor="ctr"/>
          <a:lstStyle/>
          <a:p>
            <a:pPr marL="285750" indent="-285750" algn="just">
              <a:buFont typeface="Arial" panose="020B0604020202020204" pitchFamily="34" charset="0"/>
              <a:buChar char="•"/>
            </a:pPr>
            <a:r>
              <a:rPr lang="en-GB" sz="1600" i="1" dirty="0">
                <a:latin typeface="Arial" panose="020B0604020202020204" pitchFamily="34" charset="0"/>
                <a:ea typeface="Calibri" pitchFamily="34" charset="-122"/>
                <a:cs typeface="Arial" panose="020B0604020202020204" pitchFamily="34" charset="0"/>
              </a:rPr>
              <a:t>Batho Pele Excellence and Innovation Awards </a:t>
            </a:r>
          </a:p>
        </p:txBody>
      </p:sp>
      <p:sp>
        <p:nvSpPr>
          <p:cNvPr id="7" name="Shape 6">
            <a:extLst>
              <a:ext uri="{FF2B5EF4-FFF2-40B4-BE49-F238E27FC236}">
                <a16:creationId xmlns:a16="http://schemas.microsoft.com/office/drawing/2014/main" id="{BF487D3C-7CD7-A109-E68D-CDBE409640D9}"/>
              </a:ext>
            </a:extLst>
          </p:cNvPr>
          <p:cNvSpPr/>
          <p:nvPr/>
        </p:nvSpPr>
        <p:spPr>
          <a:xfrm>
            <a:off x="444002" y="1633728"/>
            <a:ext cx="11460480" cy="694944"/>
          </a:xfrm>
          <a:prstGeom prst="rect">
            <a:avLst/>
          </a:prstGeom>
          <a:solidFill>
            <a:schemeClr val="accent5">
              <a:lumMod val="50000"/>
            </a:schemeClr>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8" name="Shape 7">
            <a:extLst>
              <a:ext uri="{FF2B5EF4-FFF2-40B4-BE49-F238E27FC236}">
                <a16:creationId xmlns:a16="http://schemas.microsoft.com/office/drawing/2014/main" id="{09447C90-96A9-C5AF-4FFC-49FDB8117DD9}"/>
              </a:ext>
            </a:extLst>
          </p:cNvPr>
          <p:cNvSpPr/>
          <p:nvPr/>
        </p:nvSpPr>
        <p:spPr>
          <a:xfrm>
            <a:off x="358658" y="1633728"/>
            <a:ext cx="85344" cy="694944"/>
          </a:xfrm>
          <a:prstGeom prst="rect">
            <a:avLst/>
          </a:prstGeom>
          <a:solidFill>
            <a:schemeClr val="accent4">
              <a:lumMod val="75000"/>
            </a:schemeClr>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9" name="Text 8">
            <a:extLst>
              <a:ext uri="{FF2B5EF4-FFF2-40B4-BE49-F238E27FC236}">
                <a16:creationId xmlns:a16="http://schemas.microsoft.com/office/drawing/2014/main" id="{C7B27980-2DDA-8507-097B-498029A6C7F9}"/>
              </a:ext>
            </a:extLst>
          </p:cNvPr>
          <p:cNvSpPr/>
          <p:nvPr/>
        </p:nvSpPr>
        <p:spPr>
          <a:xfrm>
            <a:off x="3694176" y="1557183"/>
            <a:ext cx="4267200" cy="784514"/>
          </a:xfrm>
          <a:prstGeom prst="rect">
            <a:avLst/>
          </a:prstGeom>
          <a:noFill/>
          <a:ln/>
        </p:spPr>
        <p:txBody>
          <a:bodyPr wrap="square" lIns="0" tIns="0" rIns="0" bIns="0" rtlCol="0" anchor="ctr"/>
          <a:lstStyle/>
          <a:p>
            <a:pPr algn="ctr"/>
            <a:r>
              <a:rPr lang="en-GB" sz="1600" b="1" dirty="0">
                <a:solidFill>
                  <a:schemeClr val="bg1"/>
                </a:solidFill>
                <a:latin typeface="Arial" panose="020B0604020202020204" pitchFamily="34" charset="0"/>
                <a:ea typeface="Calibri" pitchFamily="34" charset="-122"/>
                <a:cs typeface="Arial" panose="020B0604020202020204" pitchFamily="34" charset="0"/>
              </a:rPr>
              <a:t>Public Service Recognition and Awards Events</a:t>
            </a:r>
          </a:p>
        </p:txBody>
      </p:sp>
      <p:sp>
        <p:nvSpPr>
          <p:cNvPr id="10" name="Text 9">
            <a:extLst>
              <a:ext uri="{FF2B5EF4-FFF2-40B4-BE49-F238E27FC236}">
                <a16:creationId xmlns:a16="http://schemas.microsoft.com/office/drawing/2014/main" id="{3DF9B74E-DDEF-73D3-88A3-B7C8DBCF274B}"/>
              </a:ext>
            </a:extLst>
          </p:cNvPr>
          <p:cNvSpPr/>
          <p:nvPr/>
        </p:nvSpPr>
        <p:spPr>
          <a:xfrm>
            <a:off x="945886" y="1987296"/>
            <a:ext cx="10972800" cy="341376"/>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11" name="Text 10">
            <a:extLst>
              <a:ext uri="{FF2B5EF4-FFF2-40B4-BE49-F238E27FC236}">
                <a16:creationId xmlns:a16="http://schemas.microsoft.com/office/drawing/2014/main" id="{6572951C-58B2-43A7-E3AA-8AC0D51E925F}"/>
              </a:ext>
            </a:extLst>
          </p:cNvPr>
          <p:cNvSpPr/>
          <p:nvPr/>
        </p:nvSpPr>
        <p:spPr>
          <a:xfrm>
            <a:off x="365760" y="3450336"/>
            <a:ext cx="11460480" cy="390144"/>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13" name="Shape 12">
            <a:extLst>
              <a:ext uri="{FF2B5EF4-FFF2-40B4-BE49-F238E27FC236}">
                <a16:creationId xmlns:a16="http://schemas.microsoft.com/office/drawing/2014/main" id="{02E8B2F7-B783-AB11-1994-2C8F0DCC52DD}"/>
              </a:ext>
            </a:extLst>
          </p:cNvPr>
          <p:cNvSpPr/>
          <p:nvPr/>
        </p:nvSpPr>
        <p:spPr>
          <a:xfrm>
            <a:off x="444002" y="3272730"/>
            <a:ext cx="11538722" cy="522042"/>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4" name="Text 13">
            <a:extLst>
              <a:ext uri="{FF2B5EF4-FFF2-40B4-BE49-F238E27FC236}">
                <a16:creationId xmlns:a16="http://schemas.microsoft.com/office/drawing/2014/main" id="{CDCD0310-FD77-90D2-9F4D-041AFD67A04A}"/>
              </a:ext>
            </a:extLst>
          </p:cNvPr>
          <p:cNvSpPr/>
          <p:nvPr/>
        </p:nvSpPr>
        <p:spPr>
          <a:xfrm>
            <a:off x="365760" y="3962400"/>
            <a:ext cx="512064" cy="487680"/>
          </a:xfrm>
          <a:prstGeom prst="rect">
            <a:avLst/>
          </a:prstGeom>
          <a:noFill/>
          <a:ln/>
        </p:spPr>
        <p:txBody>
          <a:bodyPr wrap="square" lIns="0" tIns="0" rIns="0" bIns="0" rtlCol="0" anchor="ctr"/>
          <a:lstStyle/>
          <a:p>
            <a:pPr algn="ctr"/>
            <a:endParaRPr lang="en-US" sz="1600" dirty="0">
              <a:latin typeface="Arial" panose="020B0604020202020204" pitchFamily="34" charset="0"/>
              <a:cs typeface="Arial" panose="020B0604020202020204" pitchFamily="34" charset="0"/>
            </a:endParaRPr>
          </a:p>
        </p:txBody>
      </p:sp>
      <p:sp>
        <p:nvSpPr>
          <p:cNvPr id="15" name="Text 14">
            <a:extLst>
              <a:ext uri="{FF2B5EF4-FFF2-40B4-BE49-F238E27FC236}">
                <a16:creationId xmlns:a16="http://schemas.microsoft.com/office/drawing/2014/main" id="{3C218913-9EC0-FC38-0D88-AE07A60274DC}"/>
              </a:ext>
            </a:extLst>
          </p:cNvPr>
          <p:cNvSpPr/>
          <p:nvPr/>
        </p:nvSpPr>
        <p:spPr>
          <a:xfrm>
            <a:off x="2942184" y="3302196"/>
            <a:ext cx="5805576" cy="487680"/>
          </a:xfrm>
          <a:prstGeom prst="rect">
            <a:avLst/>
          </a:prstGeom>
          <a:noFill/>
          <a:ln/>
        </p:spPr>
        <p:txBody>
          <a:bodyPr wrap="square" lIns="0" tIns="0" rIns="0" bIns="0" rtlCol="0" anchor="ctr"/>
          <a:lstStyle/>
          <a:p>
            <a:pPr algn="ctr"/>
            <a:r>
              <a:rPr lang="en-GB" sz="1600" b="1" dirty="0">
                <a:solidFill>
                  <a:srgbClr val="FFFFFF"/>
                </a:solidFill>
                <a:latin typeface="Arial" panose="020B0604020202020204" pitchFamily="34" charset="0"/>
                <a:ea typeface="Calibri" pitchFamily="34" charset="-122"/>
                <a:cs typeface="Arial" panose="020B0604020202020204" pitchFamily="34" charset="0"/>
              </a:rPr>
              <a:t>Publications and Knowledge Sharing Launches</a:t>
            </a:r>
          </a:p>
        </p:txBody>
      </p:sp>
      <p:sp>
        <p:nvSpPr>
          <p:cNvPr id="16" name="Text 15">
            <a:extLst>
              <a:ext uri="{FF2B5EF4-FFF2-40B4-BE49-F238E27FC236}">
                <a16:creationId xmlns:a16="http://schemas.microsoft.com/office/drawing/2014/main" id="{42C4C0A7-9D43-70B5-54FA-F63AD4BDC96D}"/>
              </a:ext>
            </a:extLst>
          </p:cNvPr>
          <p:cNvSpPr/>
          <p:nvPr/>
        </p:nvSpPr>
        <p:spPr>
          <a:xfrm>
            <a:off x="1260984" y="3410927"/>
            <a:ext cx="11251204" cy="1889890"/>
          </a:xfrm>
          <a:prstGeom prst="rect">
            <a:avLst/>
          </a:prstGeom>
          <a:noFill/>
          <a:ln/>
        </p:spPr>
        <p:txBody>
          <a:bodyPr wrap="square" rtlCol="0" anchor="ctr"/>
          <a:lstStyle/>
          <a:p>
            <a:pPr marL="285750" indent="-285750" algn="just">
              <a:buFont typeface="Arial" panose="020B0604020202020204" pitchFamily="34" charset="0"/>
              <a:buChar char="•"/>
            </a:pPr>
            <a:r>
              <a:rPr lang="en-GB" sz="1600" dirty="0">
                <a:latin typeface="Arial" panose="020B0604020202020204" pitchFamily="34" charset="0"/>
                <a:ea typeface="Calibri" pitchFamily="34" charset="-122"/>
                <a:cs typeface="Arial" panose="020B0604020202020204" pitchFamily="34" charset="0"/>
              </a:rPr>
              <a:t>Launch of the PSCBC Commemorative Book – From Struggle to Structure: One Agreement at a Time</a:t>
            </a:r>
          </a:p>
          <a:p>
            <a:pPr marL="285750" indent="-285750" algn="just">
              <a:buFont typeface="Wingdings" panose="05000000000000000000" pitchFamily="2" charset="2"/>
              <a:buChar char="v"/>
            </a:pPr>
            <a:endParaRPr lang="en-GB" sz="1600" b="1" dirty="0">
              <a:solidFill>
                <a:schemeClr val="accent5">
                  <a:lumMod val="50000"/>
                </a:schemeClr>
              </a:solidFill>
              <a:latin typeface="Arial" panose="020B0604020202020204" pitchFamily="34" charset="0"/>
              <a:ea typeface="Calibri" pitchFamily="34" charset="-122"/>
              <a:cs typeface="Arial" panose="020B0604020202020204" pitchFamily="34" charset="0"/>
            </a:endParaRPr>
          </a:p>
        </p:txBody>
      </p:sp>
      <p:sp>
        <p:nvSpPr>
          <p:cNvPr id="19" name="Text 18">
            <a:extLst>
              <a:ext uri="{FF2B5EF4-FFF2-40B4-BE49-F238E27FC236}">
                <a16:creationId xmlns:a16="http://schemas.microsoft.com/office/drawing/2014/main" id="{CD4E8609-D6F9-A52D-7918-F0E2AE0254B1}"/>
              </a:ext>
            </a:extLst>
          </p:cNvPr>
          <p:cNvSpPr/>
          <p:nvPr/>
        </p:nvSpPr>
        <p:spPr>
          <a:xfrm>
            <a:off x="3267456" y="3962400"/>
            <a:ext cx="512064" cy="487680"/>
          </a:xfrm>
          <a:prstGeom prst="rect">
            <a:avLst/>
          </a:prstGeom>
          <a:noFill/>
          <a:ln/>
        </p:spPr>
        <p:txBody>
          <a:bodyPr wrap="square" lIns="0" tIns="0" rIns="0" bIns="0" rtlCol="0" anchor="ctr"/>
          <a:lstStyle/>
          <a:p>
            <a:pPr algn="ctr"/>
            <a:endParaRPr lang="en-US" sz="1600" dirty="0">
              <a:latin typeface="Arial" panose="020B0604020202020204" pitchFamily="34" charset="0"/>
              <a:cs typeface="Arial" panose="020B0604020202020204" pitchFamily="34" charset="0"/>
            </a:endParaRPr>
          </a:p>
        </p:txBody>
      </p:sp>
      <p:sp>
        <p:nvSpPr>
          <p:cNvPr id="20" name="Text 19">
            <a:extLst>
              <a:ext uri="{FF2B5EF4-FFF2-40B4-BE49-F238E27FC236}">
                <a16:creationId xmlns:a16="http://schemas.microsoft.com/office/drawing/2014/main" id="{36A38CAB-A012-7BDA-A1DC-9CCE428C5A79}"/>
              </a:ext>
            </a:extLst>
          </p:cNvPr>
          <p:cNvSpPr/>
          <p:nvPr/>
        </p:nvSpPr>
        <p:spPr>
          <a:xfrm>
            <a:off x="3790528" y="4093464"/>
            <a:ext cx="2048256" cy="487680"/>
          </a:xfrm>
          <a:prstGeom prst="rect">
            <a:avLst/>
          </a:prstGeom>
          <a:noFill/>
          <a:ln/>
        </p:spPr>
        <p:txBody>
          <a:bodyPr wrap="square" lIns="0" tIns="0" rIns="0" bIns="0" rtlCol="0" anchor="ctr"/>
          <a:lstStyle/>
          <a:p>
            <a:r>
              <a:rPr lang="en-US" sz="1600" b="1" dirty="0">
                <a:solidFill>
                  <a:srgbClr val="FFFFFF"/>
                </a:solidFill>
                <a:latin typeface="Arial" panose="020B0604020202020204" pitchFamily="34" charset="0"/>
                <a:ea typeface="Calibri" pitchFamily="34" charset="-122"/>
                <a:cs typeface="Arial" panose="020B0604020202020204" pitchFamily="34" charset="0"/>
              </a:rPr>
              <a:t> </a:t>
            </a:r>
          </a:p>
        </p:txBody>
      </p:sp>
      <p:sp>
        <p:nvSpPr>
          <p:cNvPr id="21" name="Text 20">
            <a:extLst>
              <a:ext uri="{FF2B5EF4-FFF2-40B4-BE49-F238E27FC236}">
                <a16:creationId xmlns:a16="http://schemas.microsoft.com/office/drawing/2014/main" id="{1669CD34-30CD-3685-4C14-E81759C44C3A}"/>
              </a:ext>
            </a:extLst>
          </p:cNvPr>
          <p:cNvSpPr/>
          <p:nvPr/>
        </p:nvSpPr>
        <p:spPr>
          <a:xfrm>
            <a:off x="3805324" y="4514088"/>
            <a:ext cx="2438400" cy="158496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
        <p:nvSpPr>
          <p:cNvPr id="24" name="Text 23">
            <a:extLst>
              <a:ext uri="{FF2B5EF4-FFF2-40B4-BE49-F238E27FC236}">
                <a16:creationId xmlns:a16="http://schemas.microsoft.com/office/drawing/2014/main" id="{EAABEC38-B75C-C4D2-6F58-6998029F4815}"/>
              </a:ext>
            </a:extLst>
          </p:cNvPr>
          <p:cNvSpPr/>
          <p:nvPr/>
        </p:nvSpPr>
        <p:spPr>
          <a:xfrm>
            <a:off x="6169152" y="3962400"/>
            <a:ext cx="512064" cy="487680"/>
          </a:xfrm>
          <a:prstGeom prst="rect">
            <a:avLst/>
          </a:prstGeom>
          <a:noFill/>
          <a:ln/>
        </p:spPr>
        <p:txBody>
          <a:bodyPr wrap="square" lIns="0" tIns="0" rIns="0" bIns="0" rtlCol="0" anchor="ctr"/>
          <a:lstStyle/>
          <a:p>
            <a:pPr algn="ctr"/>
            <a:endParaRPr lang="en-US" sz="1600" dirty="0">
              <a:latin typeface="Arial" panose="020B0604020202020204" pitchFamily="34" charset="0"/>
              <a:cs typeface="Arial" panose="020B0604020202020204" pitchFamily="34" charset="0"/>
            </a:endParaRPr>
          </a:p>
        </p:txBody>
      </p:sp>
      <p:sp>
        <p:nvSpPr>
          <p:cNvPr id="25" name="Text 24">
            <a:extLst>
              <a:ext uri="{FF2B5EF4-FFF2-40B4-BE49-F238E27FC236}">
                <a16:creationId xmlns:a16="http://schemas.microsoft.com/office/drawing/2014/main" id="{F6A64186-8B9F-D4F7-B094-2AF7883FC042}"/>
              </a:ext>
            </a:extLst>
          </p:cNvPr>
          <p:cNvSpPr/>
          <p:nvPr/>
        </p:nvSpPr>
        <p:spPr>
          <a:xfrm>
            <a:off x="6699504" y="4093464"/>
            <a:ext cx="2048256" cy="487680"/>
          </a:xfrm>
          <a:prstGeom prst="rect">
            <a:avLst/>
          </a:prstGeom>
          <a:noFill/>
          <a:ln/>
        </p:spPr>
        <p:txBody>
          <a:bodyPr wrap="square" lIns="0" tIns="0" rIns="0" bIns="0" rtlCol="0" anchor="ctr"/>
          <a:lstStyle/>
          <a:p>
            <a:r>
              <a:rPr lang="en-US" sz="1600" b="1" dirty="0">
                <a:solidFill>
                  <a:srgbClr val="FFFFFF"/>
                </a:solidFill>
                <a:latin typeface="Arial" panose="020B0604020202020204" pitchFamily="34" charset="0"/>
                <a:ea typeface="Calibri" pitchFamily="34" charset="-122"/>
                <a:cs typeface="Arial" panose="020B0604020202020204" pitchFamily="34" charset="0"/>
              </a:rPr>
              <a:t> </a:t>
            </a:r>
          </a:p>
        </p:txBody>
      </p:sp>
      <p:sp>
        <p:nvSpPr>
          <p:cNvPr id="26" name="Text 25">
            <a:extLst>
              <a:ext uri="{FF2B5EF4-FFF2-40B4-BE49-F238E27FC236}">
                <a16:creationId xmlns:a16="http://schemas.microsoft.com/office/drawing/2014/main" id="{74F5C6ED-73DB-6A50-6714-8CDD99757AD5}"/>
              </a:ext>
            </a:extLst>
          </p:cNvPr>
          <p:cNvSpPr/>
          <p:nvPr/>
        </p:nvSpPr>
        <p:spPr>
          <a:xfrm>
            <a:off x="6291072" y="4535424"/>
            <a:ext cx="2438400" cy="158496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
        <p:nvSpPr>
          <p:cNvPr id="29" name="Text 28">
            <a:extLst>
              <a:ext uri="{FF2B5EF4-FFF2-40B4-BE49-F238E27FC236}">
                <a16:creationId xmlns:a16="http://schemas.microsoft.com/office/drawing/2014/main" id="{96231E65-4BBB-E593-540A-6AB34BBB761A}"/>
              </a:ext>
            </a:extLst>
          </p:cNvPr>
          <p:cNvSpPr/>
          <p:nvPr/>
        </p:nvSpPr>
        <p:spPr>
          <a:xfrm>
            <a:off x="9070848" y="3962400"/>
            <a:ext cx="512064" cy="487680"/>
          </a:xfrm>
          <a:prstGeom prst="rect">
            <a:avLst/>
          </a:prstGeom>
          <a:noFill/>
          <a:ln/>
        </p:spPr>
        <p:txBody>
          <a:bodyPr wrap="square" lIns="0" tIns="0" rIns="0" bIns="0" rtlCol="0" anchor="ctr"/>
          <a:lstStyle/>
          <a:p>
            <a:pPr algn="ctr"/>
            <a:endParaRPr lang="en-US" sz="1600" dirty="0">
              <a:latin typeface="Arial" panose="020B0604020202020204" pitchFamily="34" charset="0"/>
              <a:cs typeface="Arial" panose="020B0604020202020204" pitchFamily="34" charset="0"/>
            </a:endParaRPr>
          </a:p>
        </p:txBody>
      </p:sp>
      <p:sp>
        <p:nvSpPr>
          <p:cNvPr id="30" name="Text 29">
            <a:extLst>
              <a:ext uri="{FF2B5EF4-FFF2-40B4-BE49-F238E27FC236}">
                <a16:creationId xmlns:a16="http://schemas.microsoft.com/office/drawing/2014/main" id="{EDA3C54B-1F22-F246-3EC1-DAA1FCED0D0C}"/>
              </a:ext>
            </a:extLst>
          </p:cNvPr>
          <p:cNvSpPr/>
          <p:nvPr/>
        </p:nvSpPr>
        <p:spPr>
          <a:xfrm>
            <a:off x="9619488" y="3962400"/>
            <a:ext cx="2048256" cy="487680"/>
          </a:xfrm>
          <a:prstGeom prst="rect">
            <a:avLst/>
          </a:prstGeom>
          <a:noFill/>
          <a:ln/>
        </p:spPr>
        <p:txBody>
          <a:bodyPr wrap="square" lIns="0" tIns="0" rIns="0" bIns="0" rtlCol="0" anchor="ctr"/>
          <a:lstStyle/>
          <a:p>
            <a:endParaRPr lang="en-US" sz="1600" b="1" dirty="0">
              <a:solidFill>
                <a:srgbClr val="FFFFFF"/>
              </a:solidFill>
              <a:latin typeface="Arial" panose="020B0604020202020204" pitchFamily="34" charset="0"/>
              <a:ea typeface="Calibri" pitchFamily="34" charset="-122"/>
              <a:cs typeface="Arial" panose="020B0604020202020204" pitchFamily="34" charset="0"/>
            </a:endParaRPr>
          </a:p>
        </p:txBody>
      </p:sp>
      <p:sp>
        <p:nvSpPr>
          <p:cNvPr id="31" name="Text 30">
            <a:extLst>
              <a:ext uri="{FF2B5EF4-FFF2-40B4-BE49-F238E27FC236}">
                <a16:creationId xmlns:a16="http://schemas.microsoft.com/office/drawing/2014/main" id="{1083BE99-F964-4068-8ABE-B673E0C09D8B}"/>
              </a:ext>
            </a:extLst>
          </p:cNvPr>
          <p:cNvSpPr/>
          <p:nvPr/>
        </p:nvSpPr>
        <p:spPr>
          <a:xfrm>
            <a:off x="9192768" y="4535424"/>
            <a:ext cx="2438400" cy="158496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773020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A859E-F595-DDC0-39D4-348EA08F201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ACBA5C3-784A-EA94-682E-42945DBD205A}"/>
              </a:ext>
            </a:extLst>
          </p:cNvPr>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A2234E67-DFB4-2079-2F5D-A109585A7E19}"/>
              </a:ext>
            </a:extLst>
          </p:cNvPr>
          <p:cNvSpPr/>
          <p:nvPr/>
        </p:nvSpPr>
        <p:spPr>
          <a:xfrm>
            <a:off x="487680" y="121920"/>
            <a:ext cx="11216640" cy="670560"/>
          </a:xfrm>
          <a:prstGeom prst="rect">
            <a:avLst/>
          </a:prstGeom>
          <a:noFill/>
          <a:ln/>
        </p:spPr>
        <p:txBody>
          <a:bodyPr wrap="square" lIns="0" tIns="0" rIns="0" bIns="0" rtlCol="0" anchor="ctr"/>
          <a:lstStyle/>
          <a:p>
            <a:r>
              <a:rPr lang="en-US" sz="2800" b="1" dirty="0">
                <a:solidFill>
                  <a:schemeClr val="bg1"/>
                </a:solidFill>
                <a:latin typeface="Arial" panose="020B0604020202020204" pitchFamily="34" charset="0"/>
                <a:cs typeface="Arial" panose="020B0604020202020204" pitchFamily="34" charset="0"/>
              </a:rPr>
              <a:t>Acknowledgements</a:t>
            </a:r>
            <a:endParaRPr lang="en-US" sz="2667" dirty="0">
              <a:solidFill>
                <a:schemeClr val="bg1"/>
              </a:solidFill>
              <a:latin typeface="Arial" panose="020B0604020202020204" pitchFamily="34" charset="0"/>
              <a:cs typeface="Arial" panose="020B0604020202020204" pitchFamily="34" charset="0"/>
            </a:endParaRPr>
          </a:p>
        </p:txBody>
      </p:sp>
      <p:sp>
        <p:nvSpPr>
          <p:cNvPr id="5" name="Shape 3">
            <a:extLst>
              <a:ext uri="{FF2B5EF4-FFF2-40B4-BE49-F238E27FC236}">
                <a16:creationId xmlns:a16="http://schemas.microsoft.com/office/drawing/2014/main" id="{E98B773B-1CB4-F61D-5ADE-CBBC7F5DB4AA}"/>
              </a:ext>
            </a:extLst>
          </p:cNvPr>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4" name="Content Placeholder 6">
            <a:extLst>
              <a:ext uri="{FF2B5EF4-FFF2-40B4-BE49-F238E27FC236}">
                <a16:creationId xmlns:a16="http://schemas.microsoft.com/office/drawing/2014/main" id="{340EC4B7-0B1F-A73C-84A0-60CE69A33C6C}"/>
              </a:ext>
            </a:extLst>
          </p:cNvPr>
          <p:cNvSpPr txBox="1">
            <a:spLocks/>
          </p:cNvSpPr>
          <p:nvPr/>
        </p:nvSpPr>
        <p:spPr>
          <a:xfrm>
            <a:off x="838200" y="1825625"/>
            <a:ext cx="10515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a:lnSpc>
                <a:spcPct val="150000"/>
              </a:lnSpc>
              <a:spcBef>
                <a:spcPts val="600"/>
              </a:spcBef>
              <a:spcAft>
                <a:spcPts val="600"/>
              </a:spcAft>
              <a:buClr>
                <a:srgbClr val="002774"/>
              </a:buClr>
              <a:defRPr/>
            </a:pPr>
            <a:r>
              <a:rPr lang="en-US" sz="1800" dirty="0">
                <a:solidFill>
                  <a:prstClr val="black"/>
                </a:solidFill>
                <a:latin typeface="Arial" panose="020B0604020202020204" pitchFamily="34" charset="0"/>
                <a:cs typeface="Arial" panose="020B0604020202020204" pitchFamily="34" charset="0"/>
              </a:rPr>
              <a:t>The Chairpersons of Council – </a:t>
            </a:r>
            <a:r>
              <a:rPr lang="en-US" sz="1800" dirty="0" err="1">
                <a:solidFill>
                  <a:prstClr val="black"/>
                </a:solidFill>
                <a:latin typeface="Arial" panose="020B0604020202020204" pitchFamily="34" charset="0"/>
                <a:cs typeface="Arial" panose="020B0604020202020204" pitchFamily="34" charset="0"/>
              </a:rPr>
              <a:t>Mr</a:t>
            </a:r>
            <a:r>
              <a:rPr lang="en-US" sz="1800" dirty="0">
                <a:solidFill>
                  <a:prstClr val="black"/>
                </a:solidFill>
                <a:latin typeface="Arial" panose="020B0604020202020204" pitchFamily="34" charset="0"/>
                <a:cs typeface="Arial" panose="020B0604020202020204" pitchFamily="34" charset="0"/>
              </a:rPr>
              <a:t> </a:t>
            </a:r>
            <a:r>
              <a:rPr lang="en-US" sz="1800" dirty="0" err="1">
                <a:solidFill>
                  <a:prstClr val="black"/>
                </a:solidFill>
                <a:latin typeface="Arial" panose="020B0604020202020204" pitchFamily="34" charset="0"/>
                <a:cs typeface="Arial" panose="020B0604020202020204" pitchFamily="34" charset="0"/>
              </a:rPr>
              <a:t>Magate</a:t>
            </a:r>
            <a:r>
              <a:rPr lang="en-US" sz="1800" dirty="0">
                <a:solidFill>
                  <a:prstClr val="black"/>
                </a:solidFill>
                <a:latin typeface="Arial" panose="020B0604020202020204" pitchFamily="34" charset="0"/>
                <a:cs typeface="Arial" panose="020B0604020202020204" pitchFamily="34" charset="0"/>
              </a:rPr>
              <a:t> Phala, </a:t>
            </a:r>
            <a:r>
              <a:rPr lang="en-US" sz="1800" dirty="0" err="1">
                <a:solidFill>
                  <a:prstClr val="black"/>
                </a:solidFill>
                <a:latin typeface="Arial" panose="020B0604020202020204" pitchFamily="34" charset="0"/>
                <a:cs typeface="Arial" panose="020B0604020202020204" pitchFamily="34" charset="0"/>
              </a:rPr>
              <a:t>Mr</a:t>
            </a:r>
            <a:r>
              <a:rPr lang="en-US" sz="1800" dirty="0">
                <a:solidFill>
                  <a:prstClr val="black"/>
                </a:solidFill>
                <a:latin typeface="Arial" panose="020B0604020202020204" pitchFamily="34" charset="0"/>
                <a:cs typeface="Arial" panose="020B0604020202020204" pitchFamily="34" charset="0"/>
              </a:rPr>
              <a:t> David Phala, Mr. </a:t>
            </a:r>
            <a:r>
              <a:rPr lang="en-US" sz="1800" dirty="0" err="1">
                <a:solidFill>
                  <a:prstClr val="black"/>
                </a:solidFill>
                <a:latin typeface="Arial" panose="020B0604020202020204" pitchFamily="34" charset="0"/>
                <a:cs typeface="Arial" panose="020B0604020202020204" pitchFamily="34" charset="0"/>
              </a:rPr>
              <a:t>Mompati</a:t>
            </a:r>
            <a:r>
              <a:rPr lang="en-US" sz="1800" dirty="0">
                <a:solidFill>
                  <a:prstClr val="black"/>
                </a:solidFill>
                <a:latin typeface="Arial" panose="020B0604020202020204" pitchFamily="34" charset="0"/>
                <a:cs typeface="Arial" panose="020B0604020202020204" pitchFamily="34" charset="0"/>
              </a:rPr>
              <a:t> </a:t>
            </a:r>
            <a:r>
              <a:rPr lang="en-US" sz="1800" dirty="0" err="1">
                <a:solidFill>
                  <a:prstClr val="black"/>
                </a:solidFill>
                <a:latin typeface="Arial" panose="020B0604020202020204" pitchFamily="34" charset="0"/>
                <a:cs typeface="Arial" panose="020B0604020202020204" pitchFamily="34" charset="0"/>
              </a:rPr>
              <a:t>Galorale</a:t>
            </a:r>
            <a:r>
              <a:rPr lang="en-US" sz="1800" dirty="0">
                <a:solidFill>
                  <a:prstClr val="black"/>
                </a:solidFill>
                <a:latin typeface="Arial" panose="020B0604020202020204" pitchFamily="34" charset="0"/>
                <a:cs typeface="Arial" panose="020B0604020202020204" pitchFamily="34" charset="0"/>
              </a:rPr>
              <a:t>,</a:t>
            </a:r>
          </a:p>
          <a:p>
            <a:pPr marL="800100" lvl="1" indent="-342900">
              <a:lnSpc>
                <a:spcPct val="150000"/>
              </a:lnSpc>
              <a:spcBef>
                <a:spcPts val="600"/>
              </a:spcBef>
              <a:spcAft>
                <a:spcPts val="600"/>
              </a:spcAft>
              <a:buClr>
                <a:srgbClr val="002774"/>
              </a:buClr>
              <a:defRPr/>
            </a:pPr>
            <a:r>
              <a:rPr lang="en-US" sz="1800" dirty="0">
                <a:solidFill>
                  <a:prstClr val="black"/>
                </a:solidFill>
                <a:latin typeface="Arial" panose="020B0604020202020204" pitchFamily="34" charset="0"/>
                <a:cs typeface="Arial" panose="020B0604020202020204" pitchFamily="34" charset="0"/>
              </a:rPr>
              <a:t>Members of the Executive Committee and members of Council, thank you for your commitment and support;</a:t>
            </a:r>
          </a:p>
          <a:p>
            <a:pPr marL="800100" indent="-355600">
              <a:lnSpc>
                <a:spcPct val="150000"/>
              </a:lnSpc>
              <a:spcBef>
                <a:spcPts val="600"/>
              </a:spcBef>
              <a:spcAft>
                <a:spcPts val="600"/>
              </a:spcAft>
              <a:buClr>
                <a:srgbClr val="002774"/>
              </a:buClr>
              <a:defRPr/>
            </a:pPr>
            <a:r>
              <a:rPr lang="en-US" sz="1800" dirty="0">
                <a:solidFill>
                  <a:prstClr val="black"/>
                </a:solidFill>
                <a:latin typeface="Arial" panose="020B0604020202020204" pitchFamily="34" charset="0"/>
                <a:cs typeface="Arial" panose="020B0604020202020204" pitchFamily="34" charset="0"/>
              </a:rPr>
              <a:t>My appreciation also to the staff of PSCBC for their relentless commitment, support and hard work. </a:t>
            </a:r>
          </a:p>
          <a:p>
            <a:pPr marL="800100" indent="-355600">
              <a:lnSpc>
                <a:spcPct val="150000"/>
              </a:lnSpc>
              <a:spcBef>
                <a:spcPts val="600"/>
              </a:spcBef>
              <a:spcAft>
                <a:spcPts val="600"/>
              </a:spcAft>
              <a:buClr>
                <a:srgbClr val="002774"/>
              </a:buClr>
              <a:defRPr/>
            </a:pPr>
            <a:r>
              <a:rPr lang="en-US" sz="1800" dirty="0">
                <a:solidFill>
                  <a:prstClr val="black"/>
                </a:solidFill>
                <a:latin typeface="Arial" panose="020B0604020202020204" pitchFamily="34" charset="0"/>
                <a:cs typeface="Arial" panose="020B0604020202020204" pitchFamily="34" charset="0"/>
              </a:rPr>
              <a:t>We look forward to a great year ahead filled with new, redefined &amp; improved ways of working </a:t>
            </a:r>
          </a:p>
          <a:p>
            <a:endParaRPr lang="en-ZA" sz="3200" dirty="0"/>
          </a:p>
        </p:txBody>
      </p:sp>
    </p:spTree>
    <p:extLst>
      <p:ext uri="{BB962C8B-B14F-4D97-AF65-F5344CB8AC3E}">
        <p14:creationId xmlns:p14="http://schemas.microsoft.com/office/powerpoint/2010/main" val="9073428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000" r="-2000"/>
          </a:stretch>
        </a:blipFill>
        <a:effectLst/>
      </p:bgPr>
    </p:bg>
    <p:spTree>
      <p:nvGrpSpPr>
        <p:cNvPr id="1" name="">
          <a:extLst>
            <a:ext uri="{FF2B5EF4-FFF2-40B4-BE49-F238E27FC236}">
              <a16:creationId xmlns:a16="http://schemas.microsoft.com/office/drawing/2014/main" id="{44094180-CC72-FC74-1482-E7387F4B483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5621A79-48D5-70B8-6F95-E24E3F17DDEB}"/>
              </a:ext>
            </a:extLst>
          </p:cNvPr>
          <p:cNvSpPr/>
          <p:nvPr/>
        </p:nvSpPr>
        <p:spPr>
          <a:xfrm>
            <a:off x="0" y="0"/>
            <a:ext cx="219456" cy="6858000"/>
          </a:xfrm>
          <a:prstGeom prst="rect">
            <a:avLst/>
          </a:prstGeom>
          <a:solidFill>
            <a:srgbClr val="C9A03C"/>
          </a:solidFill>
          <a:ln w="12700">
            <a:solidFill>
              <a:srgbClr val="C9A03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4" name="Text 2">
            <a:extLst>
              <a:ext uri="{FF2B5EF4-FFF2-40B4-BE49-F238E27FC236}">
                <a16:creationId xmlns:a16="http://schemas.microsoft.com/office/drawing/2014/main" id="{45D9E7B1-245C-3728-0134-A43EA335B409}"/>
              </a:ext>
            </a:extLst>
          </p:cNvPr>
          <p:cNvSpPr/>
          <p:nvPr/>
        </p:nvSpPr>
        <p:spPr>
          <a:xfrm>
            <a:off x="609600" y="1706880"/>
            <a:ext cx="10972800" cy="1584960"/>
          </a:xfrm>
          <a:prstGeom prst="rect">
            <a:avLst/>
          </a:prstGeom>
          <a:noFill/>
          <a:ln/>
        </p:spPr>
        <p:txBody>
          <a:bodyPr wrap="square" rtlCol="0" anchor="ctr"/>
          <a:lstStyle/>
          <a:p>
            <a:pPr algn="ctr"/>
            <a:endParaRPr lang="en-US" sz="4533" dirty="0">
              <a:latin typeface="Arial" panose="020B0604020202020204" pitchFamily="34" charset="0"/>
              <a:cs typeface="Arial" panose="020B0604020202020204" pitchFamily="34" charset="0"/>
            </a:endParaRPr>
          </a:p>
        </p:txBody>
      </p:sp>
      <p:sp>
        <p:nvSpPr>
          <p:cNvPr id="6" name="Text 4">
            <a:extLst>
              <a:ext uri="{FF2B5EF4-FFF2-40B4-BE49-F238E27FC236}">
                <a16:creationId xmlns:a16="http://schemas.microsoft.com/office/drawing/2014/main" id="{3DB307D0-3D41-8C45-52AE-521809AE51B7}"/>
              </a:ext>
            </a:extLst>
          </p:cNvPr>
          <p:cNvSpPr/>
          <p:nvPr/>
        </p:nvSpPr>
        <p:spPr>
          <a:xfrm>
            <a:off x="609600" y="3657600"/>
            <a:ext cx="10972800" cy="670560"/>
          </a:xfrm>
          <a:prstGeom prst="rect">
            <a:avLst/>
          </a:prstGeom>
          <a:noFill/>
          <a:ln/>
        </p:spPr>
        <p:txBody>
          <a:bodyPr wrap="square" rtlCol="0" anchor="ctr"/>
          <a:lstStyle/>
          <a:p>
            <a:pPr algn="ctr"/>
            <a:endParaRPr lang="en-US" sz="2133" dirty="0">
              <a:latin typeface="Arial" panose="020B0604020202020204" pitchFamily="34" charset="0"/>
              <a:cs typeface="Arial" panose="020B0604020202020204" pitchFamily="34" charset="0"/>
            </a:endParaRPr>
          </a:p>
        </p:txBody>
      </p:sp>
      <p:sp>
        <p:nvSpPr>
          <p:cNvPr id="7" name="Text 5">
            <a:extLst>
              <a:ext uri="{FF2B5EF4-FFF2-40B4-BE49-F238E27FC236}">
                <a16:creationId xmlns:a16="http://schemas.microsoft.com/office/drawing/2014/main" id="{BBD66869-195B-7FA6-0D59-3476AB4B2BDF}"/>
              </a:ext>
            </a:extLst>
          </p:cNvPr>
          <p:cNvSpPr/>
          <p:nvPr/>
        </p:nvSpPr>
        <p:spPr>
          <a:xfrm>
            <a:off x="609600" y="4511040"/>
            <a:ext cx="10972800" cy="487680"/>
          </a:xfrm>
          <a:prstGeom prst="rect">
            <a:avLst/>
          </a:prstGeom>
          <a:noFill/>
          <a:ln/>
        </p:spPr>
        <p:txBody>
          <a:bodyPr wrap="square" rtlCol="0" anchor="ctr"/>
          <a:lstStyle/>
          <a:p>
            <a:pPr algn="ctr"/>
            <a:endParaRPr lang="en-US" sz="1733"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6DBA6574-799D-E54D-2716-E7CB1DF88378}"/>
              </a:ext>
            </a:extLst>
          </p:cNvPr>
          <p:cNvSpPr txBox="1"/>
          <p:nvPr/>
        </p:nvSpPr>
        <p:spPr>
          <a:xfrm>
            <a:off x="7503560" y="3291840"/>
            <a:ext cx="6097712" cy="212365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66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Thank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66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You!!</a:t>
            </a:r>
          </a:p>
        </p:txBody>
      </p:sp>
    </p:spTree>
    <p:extLst>
      <p:ext uri="{BB962C8B-B14F-4D97-AF65-F5344CB8AC3E}">
        <p14:creationId xmlns:p14="http://schemas.microsoft.com/office/powerpoint/2010/main" val="9342486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B9D6D9FC-37DA-4639-AF0B-61EB9C54753A}" vid="{725E97AF-1180-44A5-9052-E7BBF75953D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4569</TotalTime>
  <Words>3474</Words>
  <Application>Microsoft Office PowerPoint</Application>
  <PresentationFormat>Widescreen</PresentationFormat>
  <Paragraphs>534</Paragraphs>
  <Slides>49</Slides>
  <Notes>48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49</vt:i4>
      </vt:variant>
    </vt:vector>
  </HeadingPairs>
  <TitlesOfParts>
    <vt:vector size="57" baseType="lpstr">
      <vt:lpstr>Aptos</vt:lpstr>
      <vt:lpstr>Arial</vt:lpstr>
      <vt:lpstr>Arial Nova Light</vt:lpstr>
      <vt:lpstr>Calibri</vt:lpstr>
      <vt:lpstr>Calibri Light</vt:lpstr>
      <vt:lpstr>Segoe UI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 Of A Baguette</dc:creator>
  <cp:lastModifiedBy>Mmathapelo Mongwe</cp:lastModifiedBy>
  <cp:revision>16</cp:revision>
  <dcterms:created xsi:type="dcterms:W3CDTF">2025-02-18T12:08:31Z</dcterms:created>
  <dcterms:modified xsi:type="dcterms:W3CDTF">2026-06-24T14:23:19Z</dcterms:modified>
</cp:coreProperties>
</file>