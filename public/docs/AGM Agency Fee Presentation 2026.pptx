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0" r:id="rId4"/>
    <p:sldId id="279" r:id="rId5"/>
    <p:sldId id="280" r:id="rId6"/>
    <p:sldId id="281" r:id="rId7"/>
    <p:sldId id="282" r:id="rId8"/>
    <p:sldId id="261" r:id="rId9"/>
    <p:sldId id="262" r:id="rId10"/>
    <p:sldId id="263" r:id="rId11"/>
    <p:sldId id="283" r:id="rId12"/>
    <p:sldId id="27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41B4ED-6213-47AB-9AF3-869CDF1E6345}" v="16" dt="2026-06-24T06:25:17.2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404" autoAdjust="0"/>
  </p:normalViewPr>
  <p:slideViewPr>
    <p:cSldViewPr snapToGrid="0">
      <p:cViewPr varScale="1">
        <p:scale>
          <a:sx n="72" d="100"/>
          <a:sy n="72" d="100"/>
        </p:scale>
        <p:origin x="42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3D04CA-4285-4284-A7E5-3DCD48F53057}" type="datetimeFigureOut">
              <a:rPr lang="en-ZA" smtClean="0"/>
              <a:t>2026/06/25</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31106B-2C50-4EAD-99A9-66BB052CE524}" type="slidenum">
              <a:rPr lang="en-ZA" smtClean="0"/>
              <a:t>‹#›</a:t>
            </a:fld>
            <a:endParaRPr lang="en-ZA"/>
          </a:p>
        </p:txBody>
      </p:sp>
    </p:spTree>
    <p:extLst>
      <p:ext uri="{BB962C8B-B14F-4D97-AF65-F5344CB8AC3E}">
        <p14:creationId xmlns:p14="http://schemas.microsoft.com/office/powerpoint/2010/main" val="90427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AA50B-C1F8-FB5F-2090-5EC2142B48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E9254D-8EE5-7818-1117-07A3A40E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D26CCE-BF89-E540-7876-0C31B8DFA9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A516E1-300A-92D4-0F02-54F1E445A0C1}"/>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884105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5966F-85C9-6EC7-DEF6-8C13B8325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4CB543-F273-9DE4-21C1-BE8D218C2D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4D92A-2EEB-DB08-7513-D9BA553D35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7ED62C-F251-98DF-EE56-3C302A041ECF}"/>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166666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3DED2-906B-3BC1-9432-0A35C12E4F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29D190-B5D7-4584-1416-9A3AD40895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91451B-75D5-6F28-791C-2FC6121700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91DC2E-44DC-F9FE-6D65-3ABEA03B2279}"/>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98091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68DDC-2A68-DEBF-0B49-F13171B2F2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67A2B6-97DA-232B-2A15-C1AC6680B2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902087-0DE8-5877-AFF8-E3EF27BB67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E81983-5D26-E3C9-EA16-7FB025462AC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684397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C28C5-9FC9-009E-6D4E-91D442CB6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54120D-7ED7-93AE-B278-A6E37D7360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C6F5EC-BE46-31C0-B92E-868F95613E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BA6349-2F5F-B7F0-143F-8A13CCE41C9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2781516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EE342-FD4C-6EA8-82AB-99D7E3B363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C30D8-87A5-FBF9-A47A-A174908A65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3E0117-25CF-DB00-556E-CB72781092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48B8F7-ABA1-3D8A-C538-10EB8901F27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8443396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3B596F9-5707-46A5-8A68-4BEA380BFF85}"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3488975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B596F9-5707-46A5-8A68-4BEA380BFF85}"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3900973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3B596F9-5707-46A5-8A68-4BEA380BFF85}"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267258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3B596F9-5707-46A5-8A68-4BEA380BFF85}"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815907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3B596F9-5707-46A5-8A68-4BEA380BFF85}"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2710479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3B596F9-5707-46A5-8A68-4BEA380BFF85}" type="datetimeFigureOut">
              <a:rPr lang="en-US" smtClean="0"/>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826416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B596F9-5707-46A5-8A68-4BEA380BFF85}" type="datetimeFigureOut">
              <a:rPr lang="en-US" smtClean="0"/>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3574846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B596F9-5707-46A5-8A68-4BEA380BFF85}"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647784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B596F9-5707-46A5-8A68-4BEA380BFF85}"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2838147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B596F9-5707-46A5-8A68-4BEA380BFF85}"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605231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B596F9-5707-46A5-8A68-4BEA380BFF85}"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3E498B-40D9-43BB-A4C0-6EA5CC57FDCC}" type="slidenum">
              <a:rPr lang="en-US" smtClean="0"/>
              <a:t>‹#›</a:t>
            </a:fld>
            <a:endParaRPr lang="en-US"/>
          </a:p>
        </p:txBody>
      </p:sp>
    </p:spTree>
    <p:extLst>
      <p:ext uri="{BB962C8B-B14F-4D97-AF65-F5344CB8AC3E}">
        <p14:creationId xmlns:p14="http://schemas.microsoft.com/office/powerpoint/2010/main" val="1875159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9560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596F9-5707-46A5-8A68-4BEA380BFF85}" type="datetimeFigureOut">
              <a:rPr lang="en-US" smtClean="0"/>
              <a:t>6/25/2026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3E498B-40D9-43BB-A4C0-6EA5CC57FDCC}" type="slidenum">
              <a:rPr lang="en-US" smtClean="0"/>
              <a:t>‹#›</a:t>
            </a:fld>
            <a:endParaRPr lang="en-US"/>
          </a:p>
        </p:txBody>
      </p:sp>
    </p:spTree>
    <p:extLst>
      <p:ext uri="{BB962C8B-B14F-4D97-AF65-F5344CB8AC3E}">
        <p14:creationId xmlns:p14="http://schemas.microsoft.com/office/powerpoint/2010/main" val="655562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90" y="-1"/>
            <a:ext cx="12319744" cy="6880359"/>
          </a:xfrm>
          <a:prstGeom prst="rect">
            <a:avLst/>
          </a:prstGeom>
        </p:spPr>
      </p:pic>
      <p:sp>
        <p:nvSpPr>
          <p:cNvPr id="2" name="Text 2">
            <a:extLst>
              <a:ext uri="{FF2B5EF4-FFF2-40B4-BE49-F238E27FC236}">
                <a16:creationId xmlns:a16="http://schemas.microsoft.com/office/drawing/2014/main" id="{EC0F8BC5-DDCC-4E96-479C-483747A17780}"/>
              </a:ext>
            </a:extLst>
          </p:cNvPr>
          <p:cNvSpPr/>
          <p:nvPr/>
        </p:nvSpPr>
        <p:spPr>
          <a:xfrm>
            <a:off x="457200" y="1234440"/>
            <a:ext cx="8229600" cy="1554480"/>
          </a:xfrm>
          <a:prstGeom prst="rect">
            <a:avLst/>
          </a:prstGeom>
          <a:noFill/>
          <a:ln/>
        </p:spPr>
        <p:txBody>
          <a:bodyPr wrap="square" rtlCol="0" anchor="ctr"/>
          <a:lstStyle/>
          <a:p>
            <a:pPr algn="ctr"/>
            <a:r>
              <a:rPr lang="en-GB" sz="4000" b="1" dirty="0">
                <a:solidFill>
                  <a:schemeClr val="accent5">
                    <a:lumMod val="50000"/>
                  </a:schemeClr>
                </a:solidFill>
                <a:latin typeface="Arial" panose="020B0604020202020204" pitchFamily="34" charset="0"/>
                <a:cs typeface="Arial" panose="020B0604020202020204" pitchFamily="34" charset="0"/>
              </a:rPr>
              <a:t>29th ANNUAL GENERAL MEETING</a:t>
            </a:r>
          </a:p>
        </p:txBody>
      </p:sp>
      <p:sp>
        <p:nvSpPr>
          <p:cNvPr id="4" name="Text 4">
            <a:extLst>
              <a:ext uri="{FF2B5EF4-FFF2-40B4-BE49-F238E27FC236}">
                <a16:creationId xmlns:a16="http://schemas.microsoft.com/office/drawing/2014/main" id="{0A0A6E28-CDC7-D0EA-4E56-94123E236D8E}"/>
              </a:ext>
            </a:extLst>
          </p:cNvPr>
          <p:cNvSpPr/>
          <p:nvPr/>
        </p:nvSpPr>
        <p:spPr>
          <a:xfrm>
            <a:off x="1089303" y="2754378"/>
            <a:ext cx="6494850" cy="685800"/>
          </a:xfrm>
          <a:prstGeom prst="rect">
            <a:avLst/>
          </a:prstGeom>
          <a:noFill/>
          <a:ln/>
        </p:spPr>
        <p:txBody>
          <a:bodyPr wrap="square" rtlCol="0" anchor="ctr"/>
          <a:lstStyle/>
          <a:p>
            <a:pPr marL="0" indent="0" algn="ctr">
              <a:buNone/>
            </a:pPr>
            <a:r>
              <a:rPr lang="en-US" sz="2000" b="1" dirty="0">
                <a:solidFill>
                  <a:srgbClr val="00B050"/>
                </a:solidFill>
                <a:ea typeface="Calibri" pitchFamily="34" charset="-122"/>
                <a:cs typeface="Arabic Typesetting" panose="020F0502020204030204" pitchFamily="66" charset="-78"/>
              </a:rPr>
              <a:t>AGENCY FEE PRESENTATION </a:t>
            </a:r>
          </a:p>
        </p:txBody>
      </p:sp>
    </p:spTree>
    <p:extLst>
      <p:ext uri="{BB962C8B-B14F-4D97-AF65-F5344CB8AC3E}">
        <p14:creationId xmlns:p14="http://schemas.microsoft.com/office/powerpoint/2010/main" val="2698892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p:cNvSpPr/>
          <p:nvPr/>
        </p:nvSpPr>
        <p:spPr>
          <a:xfrm>
            <a:off x="447040" y="201168"/>
            <a:ext cx="11216640" cy="670560"/>
          </a:xfrm>
          <a:prstGeom prst="rect">
            <a:avLst/>
          </a:prstGeom>
          <a:noFill/>
          <a:ln/>
        </p:spPr>
        <p:txBody>
          <a:bodyPr wrap="square" lIns="0" tIns="0" rIns="0" bIns="0" rtlCol="0" anchor="ctr"/>
          <a:lstStyle/>
          <a:p>
            <a:r>
              <a:rPr lang="en-US" sz="2400" b="1" dirty="0">
                <a:solidFill>
                  <a:schemeClr val="bg1"/>
                </a:solidFill>
                <a:latin typeface="Arial" panose="020B0604020202020204" pitchFamily="34" charset="0"/>
                <a:ea typeface="Calibri" pitchFamily="34" charset="-122"/>
                <a:cs typeface="Arial" panose="020B0604020202020204" pitchFamily="34" charset="0"/>
              </a:rPr>
              <a:t>PRESENTATION OVERVIEW</a:t>
            </a:r>
            <a:endParaRPr lang="en-US" sz="2400"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6" name="Shape 4"/>
          <p:cNvSpPr/>
          <p:nvPr/>
        </p:nvSpPr>
        <p:spPr>
          <a:xfrm>
            <a:off x="304800" y="1524000"/>
            <a:ext cx="5547360" cy="95097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7" name="Shape 5"/>
          <p:cNvSpPr/>
          <p:nvPr/>
        </p:nvSpPr>
        <p:spPr>
          <a:xfrm>
            <a:off x="304800" y="1524000"/>
            <a:ext cx="670560" cy="950976"/>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8" name="Text 6"/>
          <p:cNvSpPr/>
          <p:nvPr/>
        </p:nvSpPr>
        <p:spPr>
          <a:xfrm>
            <a:off x="304800" y="1524000"/>
            <a:ext cx="670560" cy="950976"/>
          </a:xfrm>
          <a:prstGeom prst="rect">
            <a:avLst/>
          </a:prstGeom>
          <a:noFill/>
          <a:ln/>
        </p:spPr>
        <p:txBody>
          <a:bodyPr wrap="square" lIns="0" tIns="0" rIns="0" bIns="0" rtlCol="0" anchor="ctr"/>
          <a:lstStyle/>
          <a:p>
            <a:pPr algn="ctr"/>
            <a:r>
              <a:rPr lang="en-US" sz="1600" b="1" dirty="0">
                <a:latin typeface="Arial" panose="020B0604020202020204" pitchFamily="34" charset="0"/>
                <a:ea typeface="Calibri" pitchFamily="34" charset="-122"/>
                <a:cs typeface="Arial" panose="020B0604020202020204" pitchFamily="34" charset="0"/>
              </a:rPr>
              <a:t>01</a:t>
            </a:r>
            <a:endParaRPr lang="en-US" sz="1600" dirty="0">
              <a:latin typeface="Arial" panose="020B0604020202020204" pitchFamily="34" charset="0"/>
              <a:cs typeface="Arial" panose="020B0604020202020204" pitchFamily="34" charset="0"/>
            </a:endParaRPr>
          </a:p>
        </p:txBody>
      </p:sp>
      <p:sp>
        <p:nvSpPr>
          <p:cNvPr id="9" name="Text 7"/>
          <p:cNvSpPr/>
          <p:nvPr/>
        </p:nvSpPr>
        <p:spPr>
          <a:xfrm>
            <a:off x="1219200" y="1859280"/>
            <a:ext cx="4632960" cy="426720"/>
          </a:xfrm>
          <a:prstGeom prst="rect">
            <a:avLst/>
          </a:prstGeom>
          <a:noFill/>
          <a:ln/>
        </p:spPr>
        <p:txBody>
          <a:bodyPr wrap="square" lIns="0" tIns="0" rIns="0" bIns="0" rtlCol="0" anchor="ctr"/>
          <a:lstStyle/>
          <a:p>
            <a:r>
              <a:rPr lang="en-US" sz="1600" b="1" dirty="0">
                <a:latin typeface="Arial" panose="020B0604020202020204" pitchFamily="34" charset="0"/>
                <a:ea typeface="Calibri" pitchFamily="34" charset="-122"/>
                <a:cs typeface="Arial" panose="020B0604020202020204" pitchFamily="34" charset="0"/>
              </a:rPr>
              <a:t>LEGISLATIVE MANDATE </a:t>
            </a:r>
            <a:endParaRPr lang="en-US" sz="1600" dirty="0">
              <a:latin typeface="Arial" panose="020B0604020202020204" pitchFamily="34" charset="0"/>
              <a:cs typeface="Arial" panose="020B0604020202020204" pitchFamily="34" charset="0"/>
            </a:endParaRPr>
          </a:p>
        </p:txBody>
      </p:sp>
      <p:sp>
        <p:nvSpPr>
          <p:cNvPr id="10" name="Text 8"/>
          <p:cNvSpPr/>
          <p:nvPr/>
        </p:nvSpPr>
        <p:spPr>
          <a:xfrm>
            <a:off x="1097280" y="1987296"/>
            <a:ext cx="463296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1" name="Shape 9"/>
          <p:cNvSpPr/>
          <p:nvPr/>
        </p:nvSpPr>
        <p:spPr>
          <a:xfrm>
            <a:off x="6096000" y="1524000"/>
            <a:ext cx="5547360" cy="95097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2" name="Shape 10"/>
          <p:cNvSpPr/>
          <p:nvPr/>
        </p:nvSpPr>
        <p:spPr>
          <a:xfrm>
            <a:off x="6096000" y="1524000"/>
            <a:ext cx="670560" cy="950976"/>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3" name="Text 11"/>
          <p:cNvSpPr/>
          <p:nvPr/>
        </p:nvSpPr>
        <p:spPr>
          <a:xfrm>
            <a:off x="6096000" y="1524000"/>
            <a:ext cx="670560" cy="950976"/>
          </a:xfrm>
          <a:prstGeom prst="rect">
            <a:avLst/>
          </a:prstGeom>
          <a:noFill/>
          <a:ln/>
        </p:spPr>
        <p:txBody>
          <a:bodyPr wrap="square" lIns="0" tIns="0" rIns="0" bIns="0" rtlCol="0" anchor="ctr"/>
          <a:lstStyle/>
          <a:p>
            <a:pPr algn="ctr"/>
            <a:r>
              <a:rPr lang="en-US" sz="1600" b="1" dirty="0">
                <a:latin typeface="Arial" panose="020B0604020202020204" pitchFamily="34" charset="0"/>
                <a:ea typeface="Calibri" pitchFamily="34" charset="-122"/>
                <a:cs typeface="Arial" panose="020B0604020202020204" pitchFamily="34" charset="0"/>
              </a:rPr>
              <a:t>05</a:t>
            </a:r>
            <a:endParaRPr lang="en-US" sz="1600" dirty="0">
              <a:latin typeface="Arial" panose="020B0604020202020204" pitchFamily="34" charset="0"/>
              <a:cs typeface="Arial" panose="020B0604020202020204" pitchFamily="34" charset="0"/>
            </a:endParaRPr>
          </a:p>
        </p:txBody>
      </p:sp>
      <p:sp>
        <p:nvSpPr>
          <p:cNvPr id="14" name="Text 12"/>
          <p:cNvSpPr/>
          <p:nvPr/>
        </p:nvSpPr>
        <p:spPr>
          <a:xfrm>
            <a:off x="6949440" y="1816608"/>
            <a:ext cx="4632960" cy="426720"/>
          </a:xfrm>
          <a:prstGeom prst="rect">
            <a:avLst/>
          </a:prstGeom>
          <a:noFill/>
          <a:ln/>
        </p:spPr>
        <p:txBody>
          <a:bodyPr wrap="square" lIns="0" tIns="0" rIns="0" bIns="0" rtlCol="0" anchor="ctr"/>
          <a:lstStyle/>
          <a:p>
            <a:r>
              <a:rPr lang="en-US" sz="1600" b="1" dirty="0">
                <a:latin typeface="Arial" panose="020B0604020202020204" pitchFamily="34" charset="0"/>
                <a:ea typeface="Calibri" pitchFamily="34" charset="-122"/>
                <a:cs typeface="Arial" panose="020B0604020202020204" pitchFamily="34" charset="0"/>
              </a:rPr>
              <a:t>AGENCY FEE DISTRIBUTION</a:t>
            </a:r>
            <a:endParaRPr lang="en-US" sz="1600" dirty="0">
              <a:latin typeface="Arial" panose="020B0604020202020204" pitchFamily="34" charset="0"/>
              <a:cs typeface="Arial" panose="020B0604020202020204" pitchFamily="34" charset="0"/>
            </a:endParaRPr>
          </a:p>
        </p:txBody>
      </p:sp>
      <p:sp>
        <p:nvSpPr>
          <p:cNvPr id="15" name="Text 13"/>
          <p:cNvSpPr/>
          <p:nvPr/>
        </p:nvSpPr>
        <p:spPr>
          <a:xfrm>
            <a:off x="6888480" y="1987296"/>
            <a:ext cx="463296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6" name="Shape 14"/>
          <p:cNvSpPr/>
          <p:nvPr/>
        </p:nvSpPr>
        <p:spPr>
          <a:xfrm>
            <a:off x="304800" y="2767584"/>
            <a:ext cx="5547360" cy="95097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7" name="Shape 15"/>
          <p:cNvSpPr/>
          <p:nvPr/>
        </p:nvSpPr>
        <p:spPr>
          <a:xfrm>
            <a:off x="304800" y="2743200"/>
            <a:ext cx="670560" cy="950976"/>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8" name="Text 16"/>
          <p:cNvSpPr/>
          <p:nvPr/>
        </p:nvSpPr>
        <p:spPr>
          <a:xfrm>
            <a:off x="304800" y="2743200"/>
            <a:ext cx="670560" cy="950976"/>
          </a:xfrm>
          <a:prstGeom prst="rect">
            <a:avLst/>
          </a:prstGeom>
          <a:noFill/>
          <a:ln/>
        </p:spPr>
        <p:txBody>
          <a:bodyPr wrap="square" lIns="0" tIns="0" rIns="0" bIns="0" rtlCol="0" anchor="ctr"/>
          <a:lstStyle/>
          <a:p>
            <a:pPr algn="ctr"/>
            <a:r>
              <a:rPr lang="en-US" sz="1600" b="1" dirty="0">
                <a:latin typeface="Arial" panose="020B0604020202020204" pitchFamily="34" charset="0"/>
                <a:ea typeface="Calibri" pitchFamily="34" charset="-122"/>
                <a:cs typeface="Arial" panose="020B0604020202020204" pitchFamily="34" charset="0"/>
              </a:rPr>
              <a:t>02</a:t>
            </a:r>
            <a:endParaRPr lang="en-US" sz="1600" dirty="0">
              <a:latin typeface="Arial" panose="020B0604020202020204" pitchFamily="34" charset="0"/>
              <a:cs typeface="Arial" panose="020B0604020202020204" pitchFamily="34" charset="0"/>
            </a:endParaRPr>
          </a:p>
        </p:txBody>
      </p:sp>
      <p:sp>
        <p:nvSpPr>
          <p:cNvPr id="19" name="Text 17"/>
          <p:cNvSpPr/>
          <p:nvPr/>
        </p:nvSpPr>
        <p:spPr>
          <a:xfrm>
            <a:off x="1219200" y="3019590"/>
            <a:ext cx="4632960" cy="426720"/>
          </a:xfrm>
          <a:prstGeom prst="rect">
            <a:avLst/>
          </a:prstGeom>
          <a:noFill/>
          <a:ln/>
        </p:spPr>
        <p:txBody>
          <a:bodyPr wrap="square" lIns="0" tIns="0" rIns="0" bIns="0" rtlCol="0" anchor="ctr"/>
          <a:lstStyle/>
          <a:p>
            <a:r>
              <a:rPr lang="en-US" sz="1600" b="1" dirty="0">
                <a:latin typeface="Arial" panose="020B0604020202020204" pitchFamily="34" charset="0"/>
                <a:ea typeface="Calibri" pitchFamily="34" charset="-122"/>
                <a:cs typeface="Arial" panose="020B0604020202020204" pitchFamily="34" charset="0"/>
              </a:rPr>
              <a:t>TOTAL AGENCY FEE PAYERS</a:t>
            </a:r>
            <a:endParaRPr lang="en-US" sz="1600" dirty="0">
              <a:latin typeface="Arial" panose="020B0604020202020204" pitchFamily="34" charset="0"/>
              <a:cs typeface="Arial" panose="020B0604020202020204" pitchFamily="34" charset="0"/>
            </a:endParaRPr>
          </a:p>
        </p:txBody>
      </p:sp>
      <p:sp>
        <p:nvSpPr>
          <p:cNvPr id="20" name="Text 18"/>
          <p:cNvSpPr/>
          <p:nvPr/>
        </p:nvSpPr>
        <p:spPr>
          <a:xfrm>
            <a:off x="1097280" y="3206496"/>
            <a:ext cx="463296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21" name="Shape 19"/>
          <p:cNvSpPr/>
          <p:nvPr/>
        </p:nvSpPr>
        <p:spPr>
          <a:xfrm>
            <a:off x="6096000" y="2743200"/>
            <a:ext cx="5547360" cy="95097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22" name="Shape 20"/>
          <p:cNvSpPr/>
          <p:nvPr/>
        </p:nvSpPr>
        <p:spPr>
          <a:xfrm>
            <a:off x="6096000" y="2743200"/>
            <a:ext cx="670560" cy="950976"/>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23" name="Text 21"/>
          <p:cNvSpPr/>
          <p:nvPr/>
        </p:nvSpPr>
        <p:spPr>
          <a:xfrm>
            <a:off x="6096000" y="2743200"/>
            <a:ext cx="670560" cy="950976"/>
          </a:xfrm>
          <a:prstGeom prst="rect">
            <a:avLst/>
          </a:prstGeom>
          <a:noFill/>
          <a:ln/>
        </p:spPr>
        <p:txBody>
          <a:bodyPr wrap="square" lIns="0" tIns="0" rIns="0" bIns="0" rtlCol="0" anchor="ctr"/>
          <a:lstStyle/>
          <a:p>
            <a:pPr algn="ctr"/>
            <a:r>
              <a:rPr lang="en-US" sz="1600" b="1" dirty="0">
                <a:latin typeface="Arial" panose="020B0604020202020204" pitchFamily="34" charset="0"/>
                <a:ea typeface="Calibri" pitchFamily="34" charset="-122"/>
                <a:cs typeface="Arial" panose="020B0604020202020204" pitchFamily="34" charset="0"/>
              </a:rPr>
              <a:t>06</a:t>
            </a:r>
            <a:endParaRPr lang="en-US" sz="1600" dirty="0">
              <a:latin typeface="Arial" panose="020B0604020202020204" pitchFamily="34" charset="0"/>
              <a:cs typeface="Arial" panose="020B0604020202020204" pitchFamily="34" charset="0"/>
            </a:endParaRPr>
          </a:p>
        </p:txBody>
      </p:sp>
      <p:sp>
        <p:nvSpPr>
          <p:cNvPr id="24" name="Text 22"/>
          <p:cNvSpPr/>
          <p:nvPr/>
        </p:nvSpPr>
        <p:spPr>
          <a:xfrm>
            <a:off x="6908800" y="3011424"/>
            <a:ext cx="4632960" cy="426720"/>
          </a:xfrm>
          <a:prstGeom prst="rect">
            <a:avLst/>
          </a:prstGeom>
          <a:noFill/>
          <a:ln/>
        </p:spPr>
        <p:txBody>
          <a:bodyPr wrap="square" lIns="0" tIns="0" rIns="0" bIns="0" rtlCol="0" anchor="ctr"/>
          <a:lstStyle/>
          <a:p>
            <a:r>
              <a:rPr lang="en-GB" sz="1600" b="1" dirty="0">
                <a:latin typeface="Arial" panose="020B0604020202020204" pitchFamily="34" charset="0"/>
                <a:ea typeface="Calibri" pitchFamily="34" charset="-122"/>
                <a:cs typeface="Arial" panose="020B0604020202020204" pitchFamily="34" charset="0"/>
              </a:rPr>
              <a:t>AGENCY FEE GOVERNANCE AND ASSURANCE</a:t>
            </a:r>
            <a:endParaRPr lang="en-US" sz="1600" dirty="0">
              <a:latin typeface="Arial" panose="020B0604020202020204" pitchFamily="34" charset="0"/>
              <a:cs typeface="Arial" panose="020B0604020202020204" pitchFamily="34" charset="0"/>
            </a:endParaRPr>
          </a:p>
        </p:txBody>
      </p:sp>
      <p:sp>
        <p:nvSpPr>
          <p:cNvPr id="25" name="Text 23"/>
          <p:cNvSpPr/>
          <p:nvPr/>
        </p:nvSpPr>
        <p:spPr>
          <a:xfrm>
            <a:off x="6888480" y="3206496"/>
            <a:ext cx="463296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26" name="Shape 24"/>
          <p:cNvSpPr/>
          <p:nvPr/>
        </p:nvSpPr>
        <p:spPr>
          <a:xfrm>
            <a:off x="304800" y="3962400"/>
            <a:ext cx="5547360" cy="95097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27" name="Shape 25"/>
          <p:cNvSpPr/>
          <p:nvPr/>
        </p:nvSpPr>
        <p:spPr>
          <a:xfrm>
            <a:off x="304800" y="3962400"/>
            <a:ext cx="670560" cy="950976"/>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28" name="Text 26"/>
          <p:cNvSpPr/>
          <p:nvPr/>
        </p:nvSpPr>
        <p:spPr>
          <a:xfrm>
            <a:off x="304800" y="3962400"/>
            <a:ext cx="670560" cy="950976"/>
          </a:xfrm>
          <a:prstGeom prst="rect">
            <a:avLst/>
          </a:prstGeom>
          <a:noFill/>
          <a:ln/>
        </p:spPr>
        <p:txBody>
          <a:bodyPr wrap="square" lIns="0" tIns="0" rIns="0" bIns="0" rtlCol="0" anchor="ctr"/>
          <a:lstStyle/>
          <a:p>
            <a:pPr algn="ctr"/>
            <a:r>
              <a:rPr lang="en-US" sz="1600" b="1" dirty="0">
                <a:latin typeface="Arial" panose="020B0604020202020204" pitchFamily="34" charset="0"/>
                <a:ea typeface="Calibri" pitchFamily="34" charset="-122"/>
                <a:cs typeface="Arial" panose="020B0604020202020204" pitchFamily="34" charset="0"/>
              </a:rPr>
              <a:t>03</a:t>
            </a:r>
            <a:endParaRPr lang="en-US" sz="1600" dirty="0">
              <a:latin typeface="Arial" panose="020B0604020202020204" pitchFamily="34" charset="0"/>
              <a:cs typeface="Arial" panose="020B0604020202020204" pitchFamily="34" charset="0"/>
            </a:endParaRPr>
          </a:p>
        </p:txBody>
      </p:sp>
      <p:sp>
        <p:nvSpPr>
          <p:cNvPr id="29" name="Text 27"/>
          <p:cNvSpPr/>
          <p:nvPr/>
        </p:nvSpPr>
        <p:spPr>
          <a:xfrm>
            <a:off x="1097280" y="4346448"/>
            <a:ext cx="4632960" cy="426720"/>
          </a:xfrm>
          <a:prstGeom prst="rect">
            <a:avLst/>
          </a:prstGeom>
          <a:noFill/>
          <a:ln/>
        </p:spPr>
        <p:txBody>
          <a:bodyPr wrap="square" lIns="0" tIns="0" rIns="0" bIns="0" rtlCol="0" anchor="ctr"/>
          <a:lstStyle/>
          <a:p>
            <a:r>
              <a:rPr lang="en-GB" sz="1600" b="1" dirty="0">
                <a:latin typeface="Arial" panose="020B0604020202020204" pitchFamily="34" charset="0"/>
                <a:ea typeface="Calibri" pitchFamily="34" charset="-122"/>
                <a:cs typeface="Arial" panose="020B0604020202020204" pitchFamily="34" charset="0"/>
              </a:rPr>
              <a:t>AGENCY FEE PAYERS BY PROVINCE</a:t>
            </a:r>
            <a:br>
              <a:rPr lang="en-GB" sz="1600" b="1" dirty="0">
                <a:latin typeface="Arial" panose="020B0604020202020204" pitchFamily="34" charset="0"/>
                <a:ea typeface="Calibri" pitchFamily="34" charset="-122"/>
                <a:cs typeface="Arial" panose="020B0604020202020204" pitchFamily="34" charset="0"/>
              </a:rPr>
            </a:br>
            <a:endParaRPr lang="en-US" sz="1600" dirty="0">
              <a:latin typeface="Arial" panose="020B0604020202020204" pitchFamily="34" charset="0"/>
              <a:cs typeface="Arial" panose="020B0604020202020204" pitchFamily="34" charset="0"/>
            </a:endParaRPr>
          </a:p>
        </p:txBody>
      </p:sp>
      <p:sp>
        <p:nvSpPr>
          <p:cNvPr id="30" name="Text 28"/>
          <p:cNvSpPr/>
          <p:nvPr/>
        </p:nvSpPr>
        <p:spPr>
          <a:xfrm>
            <a:off x="1097280" y="4425696"/>
            <a:ext cx="463296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31" name="Shape 29"/>
          <p:cNvSpPr/>
          <p:nvPr/>
        </p:nvSpPr>
        <p:spPr>
          <a:xfrm>
            <a:off x="6096000" y="3962400"/>
            <a:ext cx="5547360" cy="95097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32" name="Shape 30"/>
          <p:cNvSpPr/>
          <p:nvPr/>
        </p:nvSpPr>
        <p:spPr>
          <a:xfrm>
            <a:off x="6096000" y="3950208"/>
            <a:ext cx="670560" cy="950976"/>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3" name="Text 31"/>
          <p:cNvSpPr/>
          <p:nvPr/>
        </p:nvSpPr>
        <p:spPr>
          <a:xfrm>
            <a:off x="6096000" y="3962400"/>
            <a:ext cx="670560" cy="950976"/>
          </a:xfrm>
          <a:prstGeom prst="rect">
            <a:avLst/>
          </a:prstGeom>
          <a:noFill/>
          <a:ln/>
        </p:spPr>
        <p:txBody>
          <a:bodyPr wrap="square" lIns="0" tIns="0" rIns="0" bIns="0" rtlCol="0" anchor="ctr"/>
          <a:lstStyle/>
          <a:p>
            <a:pPr algn="ctr"/>
            <a:r>
              <a:rPr lang="en-US" sz="1600" b="1" dirty="0">
                <a:latin typeface="Arial" panose="020B0604020202020204" pitchFamily="34" charset="0"/>
                <a:ea typeface="Calibri" pitchFamily="34" charset="-122"/>
                <a:cs typeface="Arial" panose="020B0604020202020204" pitchFamily="34" charset="0"/>
              </a:rPr>
              <a:t>07</a:t>
            </a:r>
            <a:endParaRPr lang="en-US" sz="1600" dirty="0">
              <a:latin typeface="Arial" panose="020B0604020202020204" pitchFamily="34" charset="0"/>
              <a:cs typeface="Arial" panose="020B0604020202020204" pitchFamily="34" charset="0"/>
            </a:endParaRPr>
          </a:p>
        </p:txBody>
      </p:sp>
      <p:sp>
        <p:nvSpPr>
          <p:cNvPr id="34" name="Text 32"/>
          <p:cNvSpPr/>
          <p:nvPr/>
        </p:nvSpPr>
        <p:spPr>
          <a:xfrm>
            <a:off x="6908800" y="4267200"/>
            <a:ext cx="4632960" cy="426720"/>
          </a:xfrm>
          <a:prstGeom prst="rect">
            <a:avLst/>
          </a:prstGeom>
          <a:noFill/>
          <a:ln/>
        </p:spPr>
        <p:txBody>
          <a:bodyPr wrap="square" lIns="0" tIns="0" rIns="0" bIns="0" rtlCol="0" anchor="ctr"/>
          <a:lstStyle/>
          <a:p>
            <a:r>
              <a:rPr lang="en-GB" sz="1600" b="1" dirty="0">
                <a:latin typeface="Arial" panose="020B0604020202020204" pitchFamily="34" charset="0"/>
                <a:ea typeface="Calibri" pitchFamily="34" charset="-122"/>
                <a:cs typeface="Arial" panose="020B0604020202020204" pitchFamily="34" charset="0"/>
              </a:rPr>
              <a:t>PROVISIONS OF PSCBC RESOLUTION 1 OF 2005 </a:t>
            </a:r>
            <a:endParaRPr lang="en-US" sz="1600" dirty="0">
              <a:latin typeface="Arial" panose="020B0604020202020204" pitchFamily="34" charset="0"/>
              <a:cs typeface="Arial" panose="020B0604020202020204" pitchFamily="34" charset="0"/>
            </a:endParaRPr>
          </a:p>
        </p:txBody>
      </p:sp>
      <p:sp>
        <p:nvSpPr>
          <p:cNvPr id="35" name="Text 33"/>
          <p:cNvSpPr/>
          <p:nvPr/>
        </p:nvSpPr>
        <p:spPr>
          <a:xfrm>
            <a:off x="6888480" y="4425696"/>
            <a:ext cx="463296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36" name="Shape 34"/>
          <p:cNvSpPr/>
          <p:nvPr/>
        </p:nvSpPr>
        <p:spPr>
          <a:xfrm>
            <a:off x="304800" y="5181600"/>
            <a:ext cx="5547360" cy="95097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37" name="Shape 35"/>
          <p:cNvSpPr/>
          <p:nvPr/>
        </p:nvSpPr>
        <p:spPr>
          <a:xfrm>
            <a:off x="294640" y="5169408"/>
            <a:ext cx="670560" cy="950976"/>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8" name="Text 36"/>
          <p:cNvSpPr/>
          <p:nvPr/>
        </p:nvSpPr>
        <p:spPr>
          <a:xfrm>
            <a:off x="304800" y="5181600"/>
            <a:ext cx="670560" cy="950976"/>
          </a:xfrm>
          <a:prstGeom prst="rect">
            <a:avLst/>
          </a:prstGeom>
          <a:noFill/>
          <a:ln/>
        </p:spPr>
        <p:txBody>
          <a:bodyPr wrap="square" lIns="0" tIns="0" rIns="0" bIns="0" rtlCol="0" anchor="ctr"/>
          <a:lstStyle/>
          <a:p>
            <a:pPr algn="ctr"/>
            <a:r>
              <a:rPr lang="en-US" sz="1600" b="1" dirty="0">
                <a:latin typeface="Arial" panose="020B0604020202020204" pitchFamily="34" charset="0"/>
                <a:ea typeface="Calibri" pitchFamily="34" charset="-122"/>
                <a:cs typeface="Arial" panose="020B0604020202020204" pitchFamily="34" charset="0"/>
              </a:rPr>
              <a:t>04</a:t>
            </a:r>
            <a:endParaRPr lang="en-US" sz="1600" dirty="0">
              <a:latin typeface="Arial" panose="020B0604020202020204" pitchFamily="34" charset="0"/>
              <a:cs typeface="Arial" panose="020B0604020202020204" pitchFamily="34" charset="0"/>
            </a:endParaRPr>
          </a:p>
        </p:txBody>
      </p:sp>
      <p:sp>
        <p:nvSpPr>
          <p:cNvPr id="39" name="Text 37"/>
          <p:cNvSpPr/>
          <p:nvPr/>
        </p:nvSpPr>
        <p:spPr>
          <a:xfrm>
            <a:off x="1163320" y="5443728"/>
            <a:ext cx="4632960" cy="426720"/>
          </a:xfrm>
          <a:prstGeom prst="rect">
            <a:avLst/>
          </a:prstGeom>
          <a:noFill/>
          <a:ln/>
        </p:spPr>
        <p:txBody>
          <a:bodyPr wrap="square" lIns="0" tIns="0" rIns="0" bIns="0" rtlCol="0" anchor="ctr"/>
          <a:lstStyle/>
          <a:p>
            <a:r>
              <a:rPr lang="en-US" sz="1600" b="1" dirty="0">
                <a:latin typeface="Arial" panose="020B0604020202020204" pitchFamily="34" charset="0"/>
                <a:ea typeface="Calibri" pitchFamily="34" charset="-122"/>
                <a:cs typeface="Arial" panose="020B0604020202020204" pitchFamily="34" charset="0"/>
              </a:rPr>
              <a:t>AGENCY FEE INCOME </a:t>
            </a:r>
            <a:endParaRPr lang="en-US" sz="1600" dirty="0">
              <a:latin typeface="Arial" panose="020B0604020202020204" pitchFamily="34" charset="0"/>
              <a:cs typeface="Arial" panose="020B0604020202020204" pitchFamily="34" charset="0"/>
            </a:endParaRPr>
          </a:p>
        </p:txBody>
      </p:sp>
      <p:sp>
        <p:nvSpPr>
          <p:cNvPr id="40" name="Text 38"/>
          <p:cNvSpPr/>
          <p:nvPr/>
        </p:nvSpPr>
        <p:spPr>
          <a:xfrm>
            <a:off x="1097280" y="5644896"/>
            <a:ext cx="463296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4" name="Shape 29">
            <a:extLst>
              <a:ext uri="{FF2B5EF4-FFF2-40B4-BE49-F238E27FC236}">
                <a16:creationId xmlns:a16="http://schemas.microsoft.com/office/drawing/2014/main" id="{C3CD95F4-AE17-6D95-7FAA-5971030E08DB}"/>
              </a:ext>
            </a:extLst>
          </p:cNvPr>
          <p:cNvSpPr/>
          <p:nvPr/>
        </p:nvSpPr>
        <p:spPr>
          <a:xfrm>
            <a:off x="6116320" y="5169408"/>
            <a:ext cx="5547360" cy="95097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41" name="Shape 30">
            <a:extLst>
              <a:ext uri="{FF2B5EF4-FFF2-40B4-BE49-F238E27FC236}">
                <a16:creationId xmlns:a16="http://schemas.microsoft.com/office/drawing/2014/main" id="{EE5F0F14-87FE-7D9A-125A-F74C94DB540B}"/>
              </a:ext>
            </a:extLst>
          </p:cNvPr>
          <p:cNvSpPr/>
          <p:nvPr/>
        </p:nvSpPr>
        <p:spPr>
          <a:xfrm>
            <a:off x="6085841" y="5157216"/>
            <a:ext cx="670560" cy="950976"/>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42" name="Text 31">
            <a:extLst>
              <a:ext uri="{FF2B5EF4-FFF2-40B4-BE49-F238E27FC236}">
                <a16:creationId xmlns:a16="http://schemas.microsoft.com/office/drawing/2014/main" id="{BF4A71AE-041E-1C0C-9892-2433B2CE462D}"/>
              </a:ext>
            </a:extLst>
          </p:cNvPr>
          <p:cNvSpPr/>
          <p:nvPr/>
        </p:nvSpPr>
        <p:spPr>
          <a:xfrm>
            <a:off x="6106160" y="5147056"/>
            <a:ext cx="670560" cy="950976"/>
          </a:xfrm>
          <a:prstGeom prst="rect">
            <a:avLst/>
          </a:prstGeom>
          <a:noFill/>
          <a:ln/>
        </p:spPr>
        <p:txBody>
          <a:bodyPr wrap="square" lIns="0" tIns="0" rIns="0" bIns="0" rtlCol="0" anchor="ctr"/>
          <a:lstStyle/>
          <a:p>
            <a:pPr algn="ctr"/>
            <a:r>
              <a:rPr lang="en-US" sz="1600" b="1" dirty="0">
                <a:latin typeface="Arial" panose="020B0604020202020204" pitchFamily="34" charset="0"/>
                <a:ea typeface="Calibri" pitchFamily="34" charset="-122"/>
                <a:cs typeface="Arial" panose="020B0604020202020204" pitchFamily="34" charset="0"/>
              </a:rPr>
              <a:t>08</a:t>
            </a:r>
            <a:endParaRPr lang="en-US" sz="1600" dirty="0">
              <a:latin typeface="Arial" panose="020B0604020202020204" pitchFamily="34" charset="0"/>
              <a:cs typeface="Arial" panose="020B0604020202020204" pitchFamily="34" charset="0"/>
            </a:endParaRPr>
          </a:p>
        </p:txBody>
      </p:sp>
      <p:sp>
        <p:nvSpPr>
          <p:cNvPr id="43" name="Text 32">
            <a:extLst>
              <a:ext uri="{FF2B5EF4-FFF2-40B4-BE49-F238E27FC236}">
                <a16:creationId xmlns:a16="http://schemas.microsoft.com/office/drawing/2014/main" id="{EF424FE2-3304-9310-2E74-020356DE8AA5}"/>
              </a:ext>
            </a:extLst>
          </p:cNvPr>
          <p:cNvSpPr/>
          <p:nvPr/>
        </p:nvSpPr>
        <p:spPr>
          <a:xfrm>
            <a:off x="6974840" y="5419344"/>
            <a:ext cx="4632960" cy="426720"/>
          </a:xfrm>
          <a:prstGeom prst="rect">
            <a:avLst/>
          </a:prstGeom>
          <a:noFill/>
          <a:ln/>
        </p:spPr>
        <p:txBody>
          <a:bodyPr wrap="square" lIns="0" tIns="0" rIns="0" bIns="0" rtlCol="0" anchor="ctr"/>
          <a:lstStyle/>
          <a:p>
            <a:r>
              <a:rPr lang="en-GB" sz="1600" b="1" dirty="0">
                <a:latin typeface="Arial" panose="020B0604020202020204" pitchFamily="34" charset="0"/>
                <a:ea typeface="Calibri" pitchFamily="34" charset="-122"/>
                <a:cs typeface="Arial" panose="020B0604020202020204" pitchFamily="34" charset="0"/>
              </a:rPr>
              <a:t>DETERMINATION- RESOLUTION 1 OF 2011</a:t>
            </a:r>
            <a:endParaRPr lang="en-US" sz="1600" dirty="0">
              <a:latin typeface="Arial" panose="020B0604020202020204" pitchFamily="34" charset="0"/>
              <a:cs typeface="Arial" panose="020B0604020202020204" pitchFamily="34" charset="0"/>
            </a:endParaRPr>
          </a:p>
        </p:txBody>
      </p:sp>
      <p:sp>
        <p:nvSpPr>
          <p:cNvPr id="44" name="Text 33">
            <a:extLst>
              <a:ext uri="{FF2B5EF4-FFF2-40B4-BE49-F238E27FC236}">
                <a16:creationId xmlns:a16="http://schemas.microsoft.com/office/drawing/2014/main" id="{FD9EC202-C9A4-87D8-0B7D-B39FE18A3981}"/>
              </a:ext>
            </a:extLst>
          </p:cNvPr>
          <p:cNvSpPr/>
          <p:nvPr/>
        </p:nvSpPr>
        <p:spPr>
          <a:xfrm>
            <a:off x="6918960" y="5632704"/>
            <a:ext cx="4632960" cy="390144"/>
          </a:xfrm>
          <a:prstGeom prst="rect">
            <a:avLst/>
          </a:prstGeom>
          <a:noFill/>
          <a:ln/>
        </p:spPr>
        <p:txBody>
          <a:bodyPr wrap="square" lIns="0" tIns="0" rIns="0" bIns="0" rtlCol="0" anchor="ctr"/>
          <a:lstStyle/>
          <a:p>
            <a:endParaRPr lang="en-GB" sz="1600" dirty="0">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DBBBBC0B-7495-4257-D498-1E5A3FFDEF18}"/>
              </a:ext>
            </a:extLst>
          </p:cNvPr>
          <p:cNvPicPr>
            <a:picLocks noChangeAspect="1"/>
          </p:cNvPicPr>
          <p:nvPr/>
        </p:nvPicPr>
        <p:blipFill>
          <a:blip r:embed="rId3"/>
          <a:stretch>
            <a:fillRect/>
          </a:stretch>
        </p:blipFill>
        <p:spPr>
          <a:xfrm>
            <a:off x="182853" y="6242304"/>
            <a:ext cx="609653" cy="53649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48768"/>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p:cNvSpPr/>
          <p:nvPr/>
        </p:nvSpPr>
        <p:spPr>
          <a:xfrm>
            <a:off x="625358" y="307086"/>
            <a:ext cx="6351085" cy="670560"/>
          </a:xfrm>
          <a:prstGeom prst="rect">
            <a:avLst/>
          </a:prstGeom>
          <a:noFill/>
          <a:ln/>
        </p:spPr>
        <p:txBody>
          <a:bodyPr wrap="square" lIns="0" tIns="0" rIns="0" bIns="0" rtlCol="0" anchor="ctr"/>
          <a:lstStyle/>
          <a:p>
            <a:r>
              <a:rPr lang="en-US" sz="2400" b="1" dirty="0">
                <a:solidFill>
                  <a:srgbClr val="FFFFFF"/>
                </a:solidFill>
                <a:latin typeface="Arial" panose="020B0604020202020204" pitchFamily="34" charset="0"/>
                <a:ea typeface="Calibri" pitchFamily="34" charset="-122"/>
                <a:cs typeface="Arial" panose="020B0604020202020204" pitchFamily="34" charset="0"/>
              </a:rPr>
              <a:t>LEGISLATIVE MANDATE </a:t>
            </a:r>
            <a:endParaRPr lang="en-US" sz="2400" dirty="0">
              <a:latin typeface="Arial" panose="020B0604020202020204" pitchFamily="34" charset="0"/>
              <a:cs typeface="Arial" panose="020B0604020202020204" pitchFamily="34" charset="0"/>
            </a:endParaRPr>
          </a:p>
        </p:txBody>
      </p:sp>
      <p:sp>
        <p:nvSpPr>
          <p:cNvPr id="4" name="Text 2"/>
          <p:cNvSpPr/>
          <p:nvPr/>
        </p:nvSpPr>
        <p:spPr>
          <a:xfrm>
            <a:off x="487680" y="755904"/>
            <a:ext cx="11216640" cy="487680"/>
          </a:xfrm>
          <a:prstGeom prst="rect">
            <a:avLst/>
          </a:prstGeom>
          <a:noFill/>
          <a:ln/>
        </p:spPr>
        <p:txBody>
          <a:bodyPr wrap="square" lIns="0" tIns="0" rIns="0" bIns="0" rtlCol="0" anchor="ctr"/>
          <a:lstStyle/>
          <a:p>
            <a:endParaRPr lang="en-US" sz="1600"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6" name="Shape 4"/>
          <p:cNvSpPr/>
          <p:nvPr/>
        </p:nvSpPr>
        <p:spPr>
          <a:xfrm>
            <a:off x="402854" y="1443228"/>
            <a:ext cx="11530066" cy="469392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dirty="0">
              <a:latin typeface="Arial" panose="020B0604020202020204" pitchFamily="34" charset="0"/>
              <a:cs typeface="Arial" panose="020B0604020202020204" pitchFamily="34" charset="0"/>
            </a:endParaRPr>
          </a:p>
        </p:txBody>
      </p:sp>
      <p:sp>
        <p:nvSpPr>
          <p:cNvPr id="7" name="Shape 5"/>
          <p:cNvSpPr/>
          <p:nvPr/>
        </p:nvSpPr>
        <p:spPr>
          <a:xfrm>
            <a:off x="365760" y="1524000"/>
            <a:ext cx="85344" cy="46939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8" name="Text 6"/>
          <p:cNvSpPr/>
          <p:nvPr/>
        </p:nvSpPr>
        <p:spPr>
          <a:xfrm>
            <a:off x="609600" y="1645920"/>
            <a:ext cx="6461760" cy="48768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9" name="Text 7"/>
          <p:cNvSpPr/>
          <p:nvPr/>
        </p:nvSpPr>
        <p:spPr>
          <a:xfrm>
            <a:off x="609600" y="2725444"/>
            <a:ext cx="6461760" cy="3285211"/>
          </a:xfrm>
          <a:prstGeom prst="rect">
            <a:avLst/>
          </a:prstGeom>
          <a:noFill/>
          <a:ln/>
        </p:spPr>
        <p:txBody>
          <a:bodyPr wrap="square" rtlCol="0" anchor="ctr"/>
          <a:lstStyle/>
          <a:p>
            <a:pPr marL="285750" indent="-285750">
              <a:buFont typeface="Arial" panose="020B0604020202020204" pitchFamily="34" charset="0"/>
              <a:buChar char="•"/>
            </a:pPr>
            <a:r>
              <a:rPr lang="en-GB" sz="1600" dirty="0">
                <a:solidFill>
                  <a:srgbClr val="1C2B3A"/>
                </a:solidFill>
                <a:latin typeface="Arial" panose="020B0604020202020204" pitchFamily="34" charset="0"/>
                <a:ea typeface="Calibri" pitchFamily="34" charset="-122"/>
                <a:cs typeface="Arial" panose="020B0604020202020204" pitchFamily="34" charset="0"/>
              </a:rPr>
              <a:t>Provisions of section 25 of the Labour Relations Act (66 of 1995) as amended</a:t>
            </a:r>
          </a:p>
          <a:p>
            <a:pPr marL="285750" indent="-285750">
              <a:buFont typeface="Arial" panose="020B0604020202020204" pitchFamily="34" charset="0"/>
              <a:buChar char="•"/>
            </a:pPr>
            <a:endParaRPr lang="en-GB" sz="1600" dirty="0">
              <a:solidFill>
                <a:srgbClr val="1C2B3A"/>
              </a:solidFill>
              <a:latin typeface="Arial" panose="020B0604020202020204" pitchFamily="34" charset="0"/>
              <a:ea typeface="Calibri" pitchFamily="34" charset="-122"/>
              <a:cs typeface="Arial" panose="020B0604020202020204" pitchFamily="34" charset="0"/>
            </a:endParaRPr>
          </a:p>
          <a:p>
            <a:pPr marL="285750" indent="-285750">
              <a:buFont typeface="Arial" panose="020B0604020202020204" pitchFamily="34" charset="0"/>
              <a:buChar char="•"/>
            </a:pPr>
            <a:r>
              <a:rPr lang="en-GB" sz="1600" dirty="0">
                <a:solidFill>
                  <a:srgbClr val="1C2B3A"/>
                </a:solidFill>
                <a:latin typeface="Arial" panose="020B0604020202020204" pitchFamily="34" charset="0"/>
                <a:ea typeface="Calibri" pitchFamily="34" charset="-122"/>
                <a:cs typeface="Arial" panose="020B0604020202020204" pitchFamily="34" charset="0"/>
              </a:rPr>
              <a:t>Agency Shop Agreement- PSCBC Resolution 1 of 2005  </a:t>
            </a:r>
          </a:p>
          <a:p>
            <a:endParaRPr lang="en-GB" sz="1600" dirty="0">
              <a:solidFill>
                <a:srgbClr val="1C2B3A"/>
              </a:solidFill>
              <a:latin typeface="Arial" panose="020B0604020202020204" pitchFamily="34" charset="0"/>
              <a:ea typeface="Calibri" pitchFamily="34" charset="-122"/>
              <a:cs typeface="Arial" panose="020B0604020202020204" pitchFamily="34" charset="0"/>
            </a:endParaRPr>
          </a:p>
          <a:p>
            <a:pPr marL="285750" indent="-285750">
              <a:buFont typeface="Arial" panose="020B0604020202020204" pitchFamily="34" charset="0"/>
              <a:buChar char="•"/>
            </a:pPr>
            <a:r>
              <a:rPr lang="en-GB" sz="1600" dirty="0">
                <a:solidFill>
                  <a:srgbClr val="1C2B3A"/>
                </a:solidFill>
                <a:latin typeface="Arial" panose="020B0604020202020204" pitchFamily="34" charset="0"/>
                <a:ea typeface="Calibri" pitchFamily="34" charset="-122"/>
                <a:cs typeface="Arial" panose="020B0604020202020204" pitchFamily="34" charset="0"/>
              </a:rPr>
              <a:t>Agency Fee Agreement- PSCBC Resolution 2 of 2010 </a:t>
            </a:r>
          </a:p>
          <a:p>
            <a:pPr marL="285750" indent="-285750">
              <a:buFont typeface="Arial" panose="020B0604020202020204" pitchFamily="34" charset="0"/>
              <a:buChar char="•"/>
            </a:pPr>
            <a:endParaRPr lang="en-GB" sz="1600" dirty="0">
              <a:solidFill>
                <a:srgbClr val="1C2B3A"/>
              </a:solidFill>
              <a:latin typeface="Arial" panose="020B0604020202020204" pitchFamily="34" charset="0"/>
              <a:ea typeface="Calibri" pitchFamily="34" charset="-122"/>
              <a:cs typeface="Arial" panose="020B0604020202020204" pitchFamily="34" charset="0"/>
            </a:endParaRPr>
          </a:p>
          <a:p>
            <a:pPr marL="285750" indent="-285750">
              <a:buFont typeface="Arial" panose="020B0604020202020204" pitchFamily="34" charset="0"/>
              <a:buChar char="•"/>
            </a:pPr>
            <a:r>
              <a:rPr lang="en-GB" sz="1600" dirty="0">
                <a:solidFill>
                  <a:srgbClr val="1C2B3A"/>
                </a:solidFill>
                <a:latin typeface="Arial" panose="020B0604020202020204" pitchFamily="34" charset="0"/>
                <a:ea typeface="Calibri" pitchFamily="34" charset="-122"/>
                <a:cs typeface="Arial" panose="020B0604020202020204" pitchFamily="34" charset="0"/>
              </a:rPr>
              <a:t>Agency Fee Agreement PSCBC Resolution 1of 2011 </a:t>
            </a:r>
          </a:p>
        </p:txBody>
      </p:sp>
      <p:sp>
        <p:nvSpPr>
          <p:cNvPr id="11" name="Shape 9"/>
          <p:cNvSpPr/>
          <p:nvPr/>
        </p:nvSpPr>
        <p:spPr>
          <a:xfrm>
            <a:off x="12070080" y="1450848"/>
            <a:ext cx="85344" cy="469392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2" name="Text 10"/>
          <p:cNvSpPr/>
          <p:nvPr/>
        </p:nvSpPr>
        <p:spPr>
          <a:xfrm>
            <a:off x="7802880" y="1645920"/>
            <a:ext cx="3779520" cy="48768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3" name="Text 11"/>
          <p:cNvSpPr/>
          <p:nvPr/>
        </p:nvSpPr>
        <p:spPr>
          <a:xfrm>
            <a:off x="7802880" y="2231136"/>
            <a:ext cx="3779520" cy="377952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34E02F0C-1D88-63D2-EE5D-C7F73AFEC6D8}"/>
              </a:ext>
            </a:extLst>
          </p:cNvPr>
          <p:cNvPicPr>
            <a:picLocks noChangeAspect="1"/>
          </p:cNvPicPr>
          <p:nvPr/>
        </p:nvPicPr>
        <p:blipFill>
          <a:blip r:embed="rId3"/>
          <a:stretch>
            <a:fillRect/>
          </a:stretch>
        </p:blipFill>
        <p:spPr>
          <a:xfrm>
            <a:off x="146277" y="6263640"/>
            <a:ext cx="609653" cy="536494"/>
          </a:xfrm>
          <a:prstGeom prst="rect">
            <a:avLst/>
          </a:prstGeom>
        </p:spPr>
      </p:pic>
      <p:sp>
        <p:nvSpPr>
          <p:cNvPr id="10" name="Shape 4">
            <a:extLst>
              <a:ext uri="{FF2B5EF4-FFF2-40B4-BE49-F238E27FC236}">
                <a16:creationId xmlns:a16="http://schemas.microsoft.com/office/drawing/2014/main" id="{9DE35A5A-4179-1CD3-8CE0-CB03FE1F2D0A}"/>
              </a:ext>
            </a:extLst>
          </p:cNvPr>
          <p:cNvSpPr/>
          <p:nvPr/>
        </p:nvSpPr>
        <p:spPr>
          <a:xfrm>
            <a:off x="625358" y="1408938"/>
            <a:ext cx="11085058" cy="877824"/>
          </a:xfrm>
          <a:prstGeom prst="rect">
            <a:avLst/>
          </a:prstGeom>
          <a:solidFill>
            <a:srgbClr val="D6E8F0"/>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GB" sz="1600" b="1" dirty="0">
              <a:solidFill>
                <a:srgbClr val="1C2B3A"/>
              </a:solidFill>
              <a:latin typeface="Arial" panose="020B0604020202020204" pitchFamily="34" charset="0"/>
              <a:ea typeface="Calibri" pitchFamily="34" charset="-122"/>
              <a:cs typeface="Arial" panose="020B0604020202020204" pitchFamily="34" charset="0"/>
            </a:endParaRPr>
          </a:p>
          <a:p>
            <a:r>
              <a:rPr lang="en-GB" sz="1600" b="1" dirty="0">
                <a:solidFill>
                  <a:srgbClr val="1C2B3A"/>
                </a:solidFill>
                <a:latin typeface="Arial" panose="020B0604020202020204" pitchFamily="34" charset="0"/>
                <a:ea typeface="Calibri" pitchFamily="34" charset="-122"/>
                <a:cs typeface="Arial" panose="020B0604020202020204" pitchFamily="34" charset="0"/>
              </a:rPr>
              <a:t>The following legislation and collective agreements, regulate the payment of agency fees:</a:t>
            </a:r>
          </a:p>
          <a:p>
            <a:endParaRPr lang="en-ZA" sz="16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D3363-3182-0CD3-9F2F-ADCE17C8567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E6592F3-34C3-7381-FA8D-CF0E330182EF}"/>
              </a:ext>
            </a:extLst>
          </p:cNvPr>
          <p:cNvSpPr/>
          <p:nvPr/>
        </p:nvSpPr>
        <p:spPr>
          <a:xfrm>
            <a:off x="0" y="-6858"/>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5E58D093-9062-6BE0-0124-CCE3AA909BA0}"/>
              </a:ext>
            </a:extLst>
          </p:cNvPr>
          <p:cNvSpPr/>
          <p:nvPr/>
        </p:nvSpPr>
        <p:spPr>
          <a:xfrm>
            <a:off x="335280" y="521823"/>
            <a:ext cx="11216640" cy="67056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1A864B66-6FD1-F077-E8D0-18D41C38F39C}"/>
              </a:ext>
            </a:extLst>
          </p:cNvPr>
          <p:cNvSpPr/>
          <p:nvPr/>
        </p:nvSpPr>
        <p:spPr>
          <a:xfrm>
            <a:off x="341376" y="142876"/>
            <a:ext cx="9692640" cy="589732"/>
          </a:xfrm>
          <a:prstGeom prst="rect">
            <a:avLst/>
          </a:prstGeom>
          <a:noFill/>
          <a:ln/>
        </p:spPr>
        <p:txBody>
          <a:bodyPr wrap="square" lIns="0" tIns="0" rIns="0" bIns="0" rtlCol="0" anchor="ctr"/>
          <a:lstStyle/>
          <a:p>
            <a:endParaRPr lang="en-US" sz="2400" b="1" dirty="0">
              <a:solidFill>
                <a:schemeClr val="bg1"/>
              </a:solidFill>
              <a:latin typeface="Arial" panose="020B0604020202020204" pitchFamily="34" charset="0"/>
              <a:ea typeface="Calibri" pitchFamily="34" charset="-122"/>
              <a:cs typeface="Arial" panose="020B0604020202020204" pitchFamily="34" charset="0"/>
            </a:endParaRPr>
          </a:p>
          <a:p>
            <a:r>
              <a:rPr lang="en-US" sz="2400" b="1" dirty="0">
                <a:solidFill>
                  <a:schemeClr val="bg1"/>
                </a:solidFill>
                <a:latin typeface="Arial" panose="020B0604020202020204" pitchFamily="34" charset="0"/>
                <a:ea typeface="Calibri" pitchFamily="34" charset="-122"/>
                <a:cs typeface="Arial" panose="020B0604020202020204" pitchFamily="34" charset="0"/>
              </a:rPr>
              <a:t> TOTAL AGENCY FEE PAYERS</a:t>
            </a:r>
            <a:endParaRPr lang="en-US" sz="2400" b="1"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E4553C63-7F32-93D4-1349-740EBD26779B}"/>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6" name="Shape 4">
            <a:extLst>
              <a:ext uri="{FF2B5EF4-FFF2-40B4-BE49-F238E27FC236}">
                <a16:creationId xmlns:a16="http://schemas.microsoft.com/office/drawing/2014/main" id="{0A429B13-3FAF-8A92-2237-6093923A7D4F}"/>
              </a:ext>
            </a:extLst>
          </p:cNvPr>
          <p:cNvSpPr/>
          <p:nvPr/>
        </p:nvSpPr>
        <p:spPr>
          <a:xfrm>
            <a:off x="249936" y="1408938"/>
            <a:ext cx="11460480" cy="877824"/>
          </a:xfrm>
          <a:prstGeom prst="rect">
            <a:avLst/>
          </a:prstGeom>
          <a:solidFill>
            <a:srgbClr val="D6E8F0"/>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7" name="Text 5">
            <a:extLst>
              <a:ext uri="{FF2B5EF4-FFF2-40B4-BE49-F238E27FC236}">
                <a16:creationId xmlns:a16="http://schemas.microsoft.com/office/drawing/2014/main" id="{93379B79-BD3B-C7DB-D0E4-05DABD70AEE3}"/>
              </a:ext>
            </a:extLst>
          </p:cNvPr>
          <p:cNvSpPr/>
          <p:nvPr/>
        </p:nvSpPr>
        <p:spPr>
          <a:xfrm>
            <a:off x="1309942" y="1430231"/>
            <a:ext cx="10239103" cy="707136"/>
          </a:xfrm>
          <a:prstGeom prst="rect">
            <a:avLst/>
          </a:prstGeom>
          <a:noFill/>
          <a:ln/>
        </p:spPr>
        <p:txBody>
          <a:bodyPr wrap="square" rtlCol="0" anchor="ctr"/>
          <a:lstStyle/>
          <a:p>
            <a:r>
              <a:rPr lang="en-GB" sz="1600" b="1" i="1" dirty="0">
                <a:solidFill>
                  <a:srgbClr val="1C2B3A"/>
                </a:solidFill>
                <a:latin typeface="Arial" panose="020B0604020202020204" pitchFamily="34" charset="0"/>
                <a:ea typeface="Calibri" pitchFamily="34" charset="-122"/>
                <a:cs typeface="Arial" panose="020B0604020202020204" pitchFamily="34" charset="0"/>
              </a:rPr>
              <a:t>Number of Agency Fee payers over the past seven financial years. </a:t>
            </a:r>
            <a:endParaRPr lang="en-US" sz="1600" dirty="0">
              <a:latin typeface="Arial" panose="020B0604020202020204" pitchFamily="34" charset="0"/>
              <a:cs typeface="Arial" panose="020B0604020202020204" pitchFamily="34" charset="0"/>
            </a:endParaRPr>
          </a:p>
        </p:txBody>
      </p:sp>
      <p:sp>
        <p:nvSpPr>
          <p:cNvPr id="15" name="Text 13">
            <a:extLst>
              <a:ext uri="{FF2B5EF4-FFF2-40B4-BE49-F238E27FC236}">
                <a16:creationId xmlns:a16="http://schemas.microsoft.com/office/drawing/2014/main" id="{C0412B50-A0EE-8D43-E17E-3F8E45C04B64}"/>
              </a:ext>
            </a:extLst>
          </p:cNvPr>
          <p:cNvSpPr/>
          <p:nvPr/>
        </p:nvSpPr>
        <p:spPr>
          <a:xfrm>
            <a:off x="249936" y="2950464"/>
            <a:ext cx="985593" cy="487680"/>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12.2.1</a:t>
            </a:r>
            <a:endParaRPr lang="en-US" sz="1600" dirty="0">
              <a:latin typeface="Arial" panose="020B0604020202020204" pitchFamily="34" charset="0"/>
              <a:cs typeface="Arial" panose="020B0604020202020204" pitchFamily="34" charset="0"/>
            </a:endParaRPr>
          </a:p>
        </p:txBody>
      </p:sp>
      <p:sp>
        <p:nvSpPr>
          <p:cNvPr id="16" name="Text 14">
            <a:extLst>
              <a:ext uri="{FF2B5EF4-FFF2-40B4-BE49-F238E27FC236}">
                <a16:creationId xmlns:a16="http://schemas.microsoft.com/office/drawing/2014/main" id="{5047F8FB-79D6-C86C-6E1F-EFA772EE2BBB}"/>
              </a:ext>
            </a:extLst>
          </p:cNvPr>
          <p:cNvSpPr/>
          <p:nvPr/>
        </p:nvSpPr>
        <p:spPr>
          <a:xfrm>
            <a:off x="1148444" y="2950464"/>
            <a:ext cx="1208314"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Promotion</a:t>
            </a:r>
            <a:endParaRPr lang="en-US" sz="1600" dirty="0">
              <a:latin typeface="Arial" panose="020B0604020202020204" pitchFamily="34" charset="0"/>
              <a:cs typeface="Arial" panose="020B0604020202020204" pitchFamily="34" charset="0"/>
            </a:endParaRPr>
          </a:p>
        </p:txBody>
      </p:sp>
      <p:sp>
        <p:nvSpPr>
          <p:cNvPr id="17" name="Text 15">
            <a:extLst>
              <a:ext uri="{FF2B5EF4-FFF2-40B4-BE49-F238E27FC236}">
                <a16:creationId xmlns:a16="http://schemas.microsoft.com/office/drawing/2014/main" id="{5C12AC37-74DC-C53B-19A5-76F5674F979E}"/>
              </a:ext>
            </a:extLst>
          </p:cNvPr>
          <p:cNvSpPr/>
          <p:nvPr/>
        </p:nvSpPr>
        <p:spPr>
          <a:xfrm>
            <a:off x="622119" y="3570296"/>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0" name="Text 18">
            <a:extLst>
              <a:ext uri="{FF2B5EF4-FFF2-40B4-BE49-F238E27FC236}">
                <a16:creationId xmlns:a16="http://schemas.microsoft.com/office/drawing/2014/main" id="{08EAEE19-049F-8A52-BFB2-DF1BEF988A76}"/>
              </a:ext>
            </a:extLst>
          </p:cNvPr>
          <p:cNvSpPr/>
          <p:nvPr/>
        </p:nvSpPr>
        <p:spPr>
          <a:xfrm>
            <a:off x="3206496" y="2950464"/>
            <a:ext cx="694944" cy="475488"/>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12.2.2</a:t>
            </a:r>
            <a:endParaRPr lang="en-US" sz="1600" dirty="0">
              <a:latin typeface="Arial" panose="020B0604020202020204" pitchFamily="34" charset="0"/>
              <a:cs typeface="Arial" panose="020B0604020202020204" pitchFamily="34" charset="0"/>
            </a:endParaRPr>
          </a:p>
        </p:txBody>
      </p:sp>
      <p:sp>
        <p:nvSpPr>
          <p:cNvPr id="21" name="Text 19">
            <a:extLst>
              <a:ext uri="{FF2B5EF4-FFF2-40B4-BE49-F238E27FC236}">
                <a16:creationId xmlns:a16="http://schemas.microsoft.com/office/drawing/2014/main" id="{40D13CFE-B22B-ED4A-B398-BA4D972D7877}"/>
              </a:ext>
            </a:extLst>
          </p:cNvPr>
          <p:cNvSpPr/>
          <p:nvPr/>
        </p:nvSpPr>
        <p:spPr>
          <a:xfrm>
            <a:off x="4019986" y="2938272"/>
            <a:ext cx="2048256" cy="48768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22" name="Text 20">
            <a:extLst>
              <a:ext uri="{FF2B5EF4-FFF2-40B4-BE49-F238E27FC236}">
                <a16:creationId xmlns:a16="http://schemas.microsoft.com/office/drawing/2014/main" id="{E2F9FE48-8A21-1426-A8A5-B493173B4380}"/>
              </a:ext>
            </a:extLst>
          </p:cNvPr>
          <p:cNvSpPr/>
          <p:nvPr/>
        </p:nvSpPr>
        <p:spPr>
          <a:xfrm>
            <a:off x="3328416" y="3746863"/>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5" name="Text 23">
            <a:extLst>
              <a:ext uri="{FF2B5EF4-FFF2-40B4-BE49-F238E27FC236}">
                <a16:creationId xmlns:a16="http://schemas.microsoft.com/office/drawing/2014/main" id="{523B15E3-2AE7-F34A-54F8-6D1DFC3657C0}"/>
              </a:ext>
            </a:extLst>
          </p:cNvPr>
          <p:cNvSpPr/>
          <p:nvPr/>
        </p:nvSpPr>
        <p:spPr>
          <a:xfrm>
            <a:off x="6065520" y="2963309"/>
            <a:ext cx="853440" cy="42672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6" name="Text 24">
            <a:extLst>
              <a:ext uri="{FF2B5EF4-FFF2-40B4-BE49-F238E27FC236}">
                <a16:creationId xmlns:a16="http://schemas.microsoft.com/office/drawing/2014/main" id="{6043413F-481A-B319-9A11-59EB7A6357A7}"/>
              </a:ext>
            </a:extLst>
          </p:cNvPr>
          <p:cNvSpPr/>
          <p:nvPr/>
        </p:nvSpPr>
        <p:spPr>
          <a:xfrm>
            <a:off x="6951617" y="2932829"/>
            <a:ext cx="2048256" cy="48768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27" name="Text 25">
            <a:extLst>
              <a:ext uri="{FF2B5EF4-FFF2-40B4-BE49-F238E27FC236}">
                <a16:creationId xmlns:a16="http://schemas.microsoft.com/office/drawing/2014/main" id="{49D00168-A493-57C9-9BA6-8208C26A343B}"/>
              </a:ext>
            </a:extLst>
          </p:cNvPr>
          <p:cNvSpPr/>
          <p:nvPr/>
        </p:nvSpPr>
        <p:spPr>
          <a:xfrm>
            <a:off x="6410162" y="3635829"/>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30" name="Text 28">
            <a:extLst>
              <a:ext uri="{FF2B5EF4-FFF2-40B4-BE49-F238E27FC236}">
                <a16:creationId xmlns:a16="http://schemas.microsoft.com/office/drawing/2014/main" id="{0C430DA0-E1CA-A47A-621F-980875FB1E42}"/>
              </a:ext>
            </a:extLst>
          </p:cNvPr>
          <p:cNvSpPr/>
          <p:nvPr/>
        </p:nvSpPr>
        <p:spPr>
          <a:xfrm>
            <a:off x="8851392" y="2964616"/>
            <a:ext cx="1182624" cy="475488"/>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12.2.4</a:t>
            </a:r>
            <a:endParaRPr lang="en-US" sz="1600" dirty="0">
              <a:latin typeface="Arial" panose="020B0604020202020204" pitchFamily="34" charset="0"/>
              <a:cs typeface="Arial" panose="020B0604020202020204" pitchFamily="34" charset="0"/>
            </a:endParaRPr>
          </a:p>
        </p:txBody>
      </p:sp>
      <p:sp>
        <p:nvSpPr>
          <p:cNvPr id="31" name="Text 29">
            <a:extLst>
              <a:ext uri="{FF2B5EF4-FFF2-40B4-BE49-F238E27FC236}">
                <a16:creationId xmlns:a16="http://schemas.microsoft.com/office/drawing/2014/main" id="{E23FDC04-18A0-0474-BF05-ADC23FD3C554}"/>
              </a:ext>
            </a:extLst>
          </p:cNvPr>
          <p:cNvSpPr/>
          <p:nvPr/>
        </p:nvSpPr>
        <p:spPr>
          <a:xfrm>
            <a:off x="9883248" y="2986006"/>
            <a:ext cx="1453679" cy="432708"/>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Financial </a:t>
            </a:r>
            <a:r>
              <a:rPr lang="en-US" sz="1600" b="1" dirty="0" err="1">
                <a:solidFill>
                  <a:srgbClr val="FFFFFF"/>
                </a:solidFill>
                <a:latin typeface="Arial" panose="020B0604020202020204" pitchFamily="34" charset="0"/>
                <a:ea typeface="Calibri" pitchFamily="34" charset="-122"/>
                <a:cs typeface="Arial" panose="020B0604020202020204" pitchFamily="34" charset="0"/>
              </a:rPr>
              <a:t>mpication</a:t>
            </a:r>
            <a:endParaRPr lang="en-US" sz="1600" dirty="0">
              <a:latin typeface="Arial" panose="020B0604020202020204" pitchFamily="34" charset="0"/>
              <a:cs typeface="Arial" panose="020B0604020202020204" pitchFamily="34" charset="0"/>
            </a:endParaRPr>
          </a:p>
        </p:txBody>
      </p:sp>
      <p:sp>
        <p:nvSpPr>
          <p:cNvPr id="32" name="Text 30">
            <a:extLst>
              <a:ext uri="{FF2B5EF4-FFF2-40B4-BE49-F238E27FC236}">
                <a16:creationId xmlns:a16="http://schemas.microsoft.com/office/drawing/2014/main" id="{E3F124D4-5488-C1FB-3F1F-C5C147EE2B99}"/>
              </a:ext>
            </a:extLst>
          </p:cNvPr>
          <p:cNvSpPr/>
          <p:nvPr/>
        </p:nvSpPr>
        <p:spPr>
          <a:xfrm>
            <a:off x="9265920" y="3620371"/>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33" name="Text 31">
            <a:extLst>
              <a:ext uri="{FF2B5EF4-FFF2-40B4-BE49-F238E27FC236}">
                <a16:creationId xmlns:a16="http://schemas.microsoft.com/office/drawing/2014/main" id="{1FFE24D2-8155-8FEB-F59A-4F3789CA7033}"/>
              </a:ext>
            </a:extLst>
          </p:cNvPr>
          <p:cNvSpPr/>
          <p:nvPr/>
        </p:nvSpPr>
        <p:spPr>
          <a:xfrm>
            <a:off x="365760" y="5940335"/>
            <a:ext cx="11460480" cy="633984"/>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pic>
        <p:nvPicPr>
          <p:cNvPr id="8" name="Content Placeholder 7">
            <a:extLst>
              <a:ext uri="{FF2B5EF4-FFF2-40B4-BE49-F238E27FC236}">
                <a16:creationId xmlns:a16="http://schemas.microsoft.com/office/drawing/2014/main" id="{AED06B4A-0EDD-28A0-5F37-A6F34C1CAA71}"/>
              </a:ext>
            </a:extLst>
          </p:cNvPr>
          <p:cNvPicPr>
            <a:picLocks noChangeAspect="1"/>
          </p:cNvPicPr>
          <p:nvPr/>
        </p:nvPicPr>
        <p:blipFill>
          <a:blip r:embed="rId3"/>
          <a:stretch>
            <a:fillRect/>
          </a:stretch>
        </p:blipFill>
        <p:spPr>
          <a:xfrm>
            <a:off x="1309942" y="2367341"/>
            <a:ext cx="9269460" cy="4347783"/>
          </a:xfrm>
          <a:prstGeom prst="rect">
            <a:avLst/>
          </a:prstGeom>
        </p:spPr>
      </p:pic>
      <p:pic>
        <p:nvPicPr>
          <p:cNvPr id="9" name="Picture 8">
            <a:extLst>
              <a:ext uri="{FF2B5EF4-FFF2-40B4-BE49-F238E27FC236}">
                <a16:creationId xmlns:a16="http://schemas.microsoft.com/office/drawing/2014/main" id="{80FE77C6-3C74-5B61-D264-F60561F0F59F}"/>
              </a:ext>
            </a:extLst>
          </p:cNvPr>
          <p:cNvPicPr>
            <a:picLocks noChangeAspect="1"/>
          </p:cNvPicPr>
          <p:nvPr/>
        </p:nvPicPr>
        <p:blipFill>
          <a:blip r:embed="rId4"/>
          <a:stretch>
            <a:fillRect/>
          </a:stretch>
        </p:blipFill>
        <p:spPr>
          <a:xfrm>
            <a:off x="63105" y="6369392"/>
            <a:ext cx="559928" cy="487680"/>
          </a:xfrm>
          <a:prstGeom prst="rect">
            <a:avLst/>
          </a:prstGeom>
        </p:spPr>
      </p:pic>
    </p:spTree>
    <p:extLst>
      <p:ext uri="{BB962C8B-B14F-4D97-AF65-F5344CB8AC3E}">
        <p14:creationId xmlns:p14="http://schemas.microsoft.com/office/powerpoint/2010/main" val="980326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87535-898D-4678-69DD-F36E644089F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6ADCDF1-6BC3-DC36-435E-718C9B564758}"/>
              </a:ext>
            </a:extLst>
          </p:cNvPr>
          <p:cNvSpPr/>
          <p:nvPr/>
        </p:nvSpPr>
        <p:spPr>
          <a:xfrm>
            <a:off x="0" y="-6858"/>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A585FE7C-D9FE-263C-3F26-E5DBA631FA58}"/>
              </a:ext>
            </a:extLst>
          </p:cNvPr>
          <p:cNvSpPr/>
          <p:nvPr/>
        </p:nvSpPr>
        <p:spPr>
          <a:xfrm>
            <a:off x="335280" y="521823"/>
            <a:ext cx="11216640" cy="67056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8FD9C74C-4BDB-75DA-794D-C20A855050AF}"/>
              </a:ext>
            </a:extLst>
          </p:cNvPr>
          <p:cNvSpPr/>
          <p:nvPr/>
        </p:nvSpPr>
        <p:spPr>
          <a:xfrm>
            <a:off x="335280" y="352129"/>
            <a:ext cx="11216640" cy="487680"/>
          </a:xfrm>
          <a:prstGeom prst="rect">
            <a:avLst/>
          </a:prstGeom>
          <a:noFill/>
          <a:ln/>
        </p:spPr>
        <p:txBody>
          <a:bodyPr wrap="square" lIns="0" tIns="0" rIns="0" bIns="0" rtlCol="0" anchor="ctr"/>
          <a:lstStyle/>
          <a:p>
            <a:r>
              <a:rPr lang="en-GB" sz="2400" b="1" dirty="0">
                <a:solidFill>
                  <a:schemeClr val="bg1"/>
                </a:solidFill>
                <a:latin typeface="Arial" panose="020B0604020202020204" pitchFamily="34" charset="0"/>
                <a:ea typeface="Calibri" pitchFamily="34" charset="-122"/>
                <a:cs typeface="Arial" panose="020B0604020202020204" pitchFamily="34" charset="0"/>
              </a:rPr>
              <a:t>AGENCY FEE PAYERS BY PROVINCE</a:t>
            </a:r>
            <a:endParaRPr lang="en-US" sz="2400" b="1"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46171045-F225-4EC1-6F2C-CF71753BB9CD}"/>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6" name="Shape 4">
            <a:extLst>
              <a:ext uri="{FF2B5EF4-FFF2-40B4-BE49-F238E27FC236}">
                <a16:creationId xmlns:a16="http://schemas.microsoft.com/office/drawing/2014/main" id="{F2BFAFF2-88E4-5F1D-F507-D4D4BB9B492B}"/>
              </a:ext>
            </a:extLst>
          </p:cNvPr>
          <p:cNvSpPr/>
          <p:nvPr/>
        </p:nvSpPr>
        <p:spPr>
          <a:xfrm>
            <a:off x="249936" y="1408938"/>
            <a:ext cx="11460480" cy="877824"/>
          </a:xfrm>
          <a:prstGeom prst="rect">
            <a:avLst/>
          </a:prstGeom>
          <a:solidFill>
            <a:srgbClr val="D6E8F0"/>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7" name="Text 5">
            <a:extLst>
              <a:ext uri="{FF2B5EF4-FFF2-40B4-BE49-F238E27FC236}">
                <a16:creationId xmlns:a16="http://schemas.microsoft.com/office/drawing/2014/main" id="{BC55A8A4-81C6-4E72-A0F0-1E2ED0AAEF17}"/>
              </a:ext>
            </a:extLst>
          </p:cNvPr>
          <p:cNvSpPr/>
          <p:nvPr/>
        </p:nvSpPr>
        <p:spPr>
          <a:xfrm>
            <a:off x="731520" y="1490689"/>
            <a:ext cx="10972800" cy="707136"/>
          </a:xfrm>
          <a:prstGeom prst="rect">
            <a:avLst/>
          </a:prstGeom>
          <a:noFill/>
          <a:ln/>
        </p:spPr>
        <p:txBody>
          <a:bodyPr wrap="square" rtlCol="0" anchor="ctr"/>
          <a:lstStyle/>
          <a:p>
            <a:r>
              <a:rPr lang="en-GB" sz="1600" b="1" i="1" dirty="0">
                <a:solidFill>
                  <a:srgbClr val="1C2B3A"/>
                </a:solidFill>
                <a:latin typeface="Arial" panose="020B0604020202020204" pitchFamily="34" charset="0"/>
                <a:ea typeface="Calibri" pitchFamily="34" charset="-122"/>
                <a:cs typeface="Arial" panose="020B0604020202020204" pitchFamily="34" charset="0"/>
              </a:rPr>
              <a:t>Gauteng accounts for approximately 24% of all Agency Fee payers, followed by National Departments (14%), Western Cape (12%) and KwaZulu Natal (12%) . </a:t>
            </a:r>
            <a:endParaRPr lang="en-US" sz="1600" dirty="0">
              <a:latin typeface="Arial" panose="020B0604020202020204" pitchFamily="34" charset="0"/>
              <a:cs typeface="Arial" panose="020B0604020202020204" pitchFamily="34" charset="0"/>
            </a:endParaRPr>
          </a:p>
        </p:txBody>
      </p:sp>
      <p:sp>
        <p:nvSpPr>
          <p:cNvPr id="15" name="Text 13">
            <a:extLst>
              <a:ext uri="{FF2B5EF4-FFF2-40B4-BE49-F238E27FC236}">
                <a16:creationId xmlns:a16="http://schemas.microsoft.com/office/drawing/2014/main" id="{897EE90F-9AE9-0EC5-648C-74BB054FFA90}"/>
              </a:ext>
            </a:extLst>
          </p:cNvPr>
          <p:cNvSpPr/>
          <p:nvPr/>
        </p:nvSpPr>
        <p:spPr>
          <a:xfrm>
            <a:off x="249936" y="2950464"/>
            <a:ext cx="985593" cy="487680"/>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12.2.1</a:t>
            </a:r>
            <a:endParaRPr lang="en-US" sz="1600" dirty="0">
              <a:latin typeface="Arial" panose="020B0604020202020204" pitchFamily="34" charset="0"/>
              <a:cs typeface="Arial" panose="020B0604020202020204" pitchFamily="34" charset="0"/>
            </a:endParaRPr>
          </a:p>
        </p:txBody>
      </p:sp>
      <p:sp>
        <p:nvSpPr>
          <p:cNvPr id="16" name="Text 14">
            <a:extLst>
              <a:ext uri="{FF2B5EF4-FFF2-40B4-BE49-F238E27FC236}">
                <a16:creationId xmlns:a16="http://schemas.microsoft.com/office/drawing/2014/main" id="{8B4AD7D9-9DC4-31EF-6F5D-8380E261F39C}"/>
              </a:ext>
            </a:extLst>
          </p:cNvPr>
          <p:cNvSpPr/>
          <p:nvPr/>
        </p:nvSpPr>
        <p:spPr>
          <a:xfrm>
            <a:off x="1148444" y="2950464"/>
            <a:ext cx="1208314"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Promotion</a:t>
            </a:r>
            <a:endParaRPr lang="en-US" sz="1600" dirty="0">
              <a:latin typeface="Arial" panose="020B0604020202020204" pitchFamily="34" charset="0"/>
              <a:cs typeface="Arial" panose="020B0604020202020204" pitchFamily="34" charset="0"/>
            </a:endParaRPr>
          </a:p>
        </p:txBody>
      </p:sp>
      <p:sp>
        <p:nvSpPr>
          <p:cNvPr id="17" name="Text 15">
            <a:extLst>
              <a:ext uri="{FF2B5EF4-FFF2-40B4-BE49-F238E27FC236}">
                <a16:creationId xmlns:a16="http://schemas.microsoft.com/office/drawing/2014/main" id="{FF95CAD2-71CA-647E-E3E6-229C1C32E4D0}"/>
              </a:ext>
            </a:extLst>
          </p:cNvPr>
          <p:cNvSpPr/>
          <p:nvPr/>
        </p:nvSpPr>
        <p:spPr>
          <a:xfrm>
            <a:off x="622119" y="3570296"/>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1" name="Text 19">
            <a:extLst>
              <a:ext uri="{FF2B5EF4-FFF2-40B4-BE49-F238E27FC236}">
                <a16:creationId xmlns:a16="http://schemas.microsoft.com/office/drawing/2014/main" id="{5EAD7F71-F8DF-2479-6F2B-F945FCE8FAF2}"/>
              </a:ext>
            </a:extLst>
          </p:cNvPr>
          <p:cNvSpPr/>
          <p:nvPr/>
        </p:nvSpPr>
        <p:spPr>
          <a:xfrm>
            <a:off x="4019986" y="2938272"/>
            <a:ext cx="2048256" cy="48768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22" name="Text 20">
            <a:extLst>
              <a:ext uri="{FF2B5EF4-FFF2-40B4-BE49-F238E27FC236}">
                <a16:creationId xmlns:a16="http://schemas.microsoft.com/office/drawing/2014/main" id="{E669E1C9-F7DF-7428-64D7-FFF2FDA0C4B3}"/>
              </a:ext>
            </a:extLst>
          </p:cNvPr>
          <p:cNvSpPr/>
          <p:nvPr/>
        </p:nvSpPr>
        <p:spPr>
          <a:xfrm>
            <a:off x="3328416" y="3746863"/>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5" name="Text 23">
            <a:extLst>
              <a:ext uri="{FF2B5EF4-FFF2-40B4-BE49-F238E27FC236}">
                <a16:creationId xmlns:a16="http://schemas.microsoft.com/office/drawing/2014/main" id="{C12DE2D4-6ACE-2739-5051-385F0533B320}"/>
              </a:ext>
            </a:extLst>
          </p:cNvPr>
          <p:cNvSpPr/>
          <p:nvPr/>
        </p:nvSpPr>
        <p:spPr>
          <a:xfrm>
            <a:off x="6065520" y="2963309"/>
            <a:ext cx="853440" cy="42672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6" name="Text 24">
            <a:extLst>
              <a:ext uri="{FF2B5EF4-FFF2-40B4-BE49-F238E27FC236}">
                <a16:creationId xmlns:a16="http://schemas.microsoft.com/office/drawing/2014/main" id="{788F9478-7E1E-9405-B8E0-DCF44DDB2A43}"/>
              </a:ext>
            </a:extLst>
          </p:cNvPr>
          <p:cNvSpPr/>
          <p:nvPr/>
        </p:nvSpPr>
        <p:spPr>
          <a:xfrm>
            <a:off x="6951617" y="2932829"/>
            <a:ext cx="2048256" cy="48768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27" name="Text 25">
            <a:extLst>
              <a:ext uri="{FF2B5EF4-FFF2-40B4-BE49-F238E27FC236}">
                <a16:creationId xmlns:a16="http://schemas.microsoft.com/office/drawing/2014/main" id="{E5B5FE5B-56DA-9909-9DD5-7178BDC0A8E4}"/>
              </a:ext>
            </a:extLst>
          </p:cNvPr>
          <p:cNvSpPr/>
          <p:nvPr/>
        </p:nvSpPr>
        <p:spPr>
          <a:xfrm>
            <a:off x="6410162" y="3635829"/>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30" name="Text 28">
            <a:extLst>
              <a:ext uri="{FF2B5EF4-FFF2-40B4-BE49-F238E27FC236}">
                <a16:creationId xmlns:a16="http://schemas.microsoft.com/office/drawing/2014/main" id="{D3C87B46-9606-19CA-987C-06D3018B31B2}"/>
              </a:ext>
            </a:extLst>
          </p:cNvPr>
          <p:cNvSpPr/>
          <p:nvPr/>
        </p:nvSpPr>
        <p:spPr>
          <a:xfrm>
            <a:off x="8851392" y="2964616"/>
            <a:ext cx="1182624" cy="475488"/>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12.2.4</a:t>
            </a:r>
            <a:endParaRPr lang="en-US" sz="1600" dirty="0">
              <a:latin typeface="Arial" panose="020B0604020202020204" pitchFamily="34" charset="0"/>
              <a:cs typeface="Arial" panose="020B0604020202020204" pitchFamily="34" charset="0"/>
            </a:endParaRPr>
          </a:p>
        </p:txBody>
      </p:sp>
      <p:sp>
        <p:nvSpPr>
          <p:cNvPr id="31" name="Text 29">
            <a:extLst>
              <a:ext uri="{FF2B5EF4-FFF2-40B4-BE49-F238E27FC236}">
                <a16:creationId xmlns:a16="http://schemas.microsoft.com/office/drawing/2014/main" id="{356752EC-1D49-890D-DADF-762A635EAD93}"/>
              </a:ext>
            </a:extLst>
          </p:cNvPr>
          <p:cNvSpPr/>
          <p:nvPr/>
        </p:nvSpPr>
        <p:spPr>
          <a:xfrm>
            <a:off x="9883248" y="2986006"/>
            <a:ext cx="1453679" cy="432708"/>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Financial </a:t>
            </a:r>
            <a:r>
              <a:rPr lang="en-US" sz="1600" b="1" dirty="0" err="1">
                <a:solidFill>
                  <a:srgbClr val="FFFFFF"/>
                </a:solidFill>
                <a:latin typeface="Arial" panose="020B0604020202020204" pitchFamily="34" charset="0"/>
                <a:ea typeface="Calibri" pitchFamily="34" charset="-122"/>
                <a:cs typeface="Arial" panose="020B0604020202020204" pitchFamily="34" charset="0"/>
              </a:rPr>
              <a:t>mpications</a:t>
            </a:r>
            <a:endParaRPr lang="en-US" sz="1600" dirty="0">
              <a:latin typeface="Arial" panose="020B0604020202020204" pitchFamily="34" charset="0"/>
              <a:cs typeface="Arial" panose="020B0604020202020204" pitchFamily="34" charset="0"/>
            </a:endParaRPr>
          </a:p>
        </p:txBody>
      </p:sp>
      <p:sp>
        <p:nvSpPr>
          <p:cNvPr id="32" name="Text 30">
            <a:extLst>
              <a:ext uri="{FF2B5EF4-FFF2-40B4-BE49-F238E27FC236}">
                <a16:creationId xmlns:a16="http://schemas.microsoft.com/office/drawing/2014/main" id="{E15ADE09-5AF2-CC2C-CD15-E438CD0BB9EA}"/>
              </a:ext>
            </a:extLst>
          </p:cNvPr>
          <p:cNvSpPr/>
          <p:nvPr/>
        </p:nvSpPr>
        <p:spPr>
          <a:xfrm>
            <a:off x="9265920" y="3620371"/>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33" name="Text 31">
            <a:extLst>
              <a:ext uri="{FF2B5EF4-FFF2-40B4-BE49-F238E27FC236}">
                <a16:creationId xmlns:a16="http://schemas.microsoft.com/office/drawing/2014/main" id="{24ED781A-1359-DBF1-F5F3-E48D762EF0A6}"/>
              </a:ext>
            </a:extLst>
          </p:cNvPr>
          <p:cNvSpPr/>
          <p:nvPr/>
        </p:nvSpPr>
        <p:spPr>
          <a:xfrm>
            <a:off x="365760" y="5940335"/>
            <a:ext cx="11460480" cy="633984"/>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pic>
        <p:nvPicPr>
          <p:cNvPr id="9" name="Content Placeholder 7">
            <a:extLst>
              <a:ext uri="{FF2B5EF4-FFF2-40B4-BE49-F238E27FC236}">
                <a16:creationId xmlns:a16="http://schemas.microsoft.com/office/drawing/2014/main" id="{DCEEE1F4-2BCF-064B-A0C9-0E5557AFF80B}"/>
              </a:ext>
            </a:extLst>
          </p:cNvPr>
          <p:cNvPicPr>
            <a:picLocks noChangeAspect="1"/>
          </p:cNvPicPr>
          <p:nvPr/>
        </p:nvPicPr>
        <p:blipFill>
          <a:blip r:embed="rId3"/>
          <a:stretch>
            <a:fillRect/>
          </a:stretch>
        </p:blipFill>
        <p:spPr>
          <a:xfrm>
            <a:off x="1828799" y="2334068"/>
            <a:ext cx="8932653" cy="4088742"/>
          </a:xfrm>
          <a:prstGeom prst="rect">
            <a:avLst/>
          </a:prstGeom>
        </p:spPr>
      </p:pic>
      <p:pic>
        <p:nvPicPr>
          <p:cNvPr id="10" name="Picture 9">
            <a:extLst>
              <a:ext uri="{FF2B5EF4-FFF2-40B4-BE49-F238E27FC236}">
                <a16:creationId xmlns:a16="http://schemas.microsoft.com/office/drawing/2014/main" id="{9118C218-BCD4-14E1-EDC1-B0627D25C38D}"/>
              </a:ext>
            </a:extLst>
          </p:cNvPr>
          <p:cNvPicPr>
            <a:picLocks noChangeAspect="1"/>
          </p:cNvPicPr>
          <p:nvPr/>
        </p:nvPicPr>
        <p:blipFill>
          <a:blip r:embed="rId4"/>
          <a:stretch>
            <a:fillRect/>
          </a:stretch>
        </p:blipFill>
        <p:spPr>
          <a:xfrm>
            <a:off x="121867" y="6257327"/>
            <a:ext cx="609653" cy="536494"/>
          </a:xfrm>
          <a:prstGeom prst="rect">
            <a:avLst/>
          </a:prstGeom>
        </p:spPr>
      </p:pic>
    </p:spTree>
    <p:extLst>
      <p:ext uri="{BB962C8B-B14F-4D97-AF65-F5344CB8AC3E}">
        <p14:creationId xmlns:p14="http://schemas.microsoft.com/office/powerpoint/2010/main" val="4011250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88EE1-D4EC-61F8-B615-3F26243DDDD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C1797F5-63E8-4FD3-B4E1-FC1E43AB378D}"/>
              </a:ext>
            </a:extLst>
          </p:cNvPr>
          <p:cNvSpPr/>
          <p:nvPr/>
        </p:nvSpPr>
        <p:spPr>
          <a:xfrm>
            <a:off x="0" y="-6858"/>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F6189E8A-13EE-6CC1-9184-481537031ACC}"/>
              </a:ext>
            </a:extLst>
          </p:cNvPr>
          <p:cNvSpPr/>
          <p:nvPr/>
        </p:nvSpPr>
        <p:spPr>
          <a:xfrm>
            <a:off x="335280" y="521823"/>
            <a:ext cx="11216640" cy="67056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877641DD-CC84-F2C8-CA4F-9F4E46297A1B}"/>
              </a:ext>
            </a:extLst>
          </p:cNvPr>
          <p:cNvSpPr/>
          <p:nvPr/>
        </p:nvSpPr>
        <p:spPr>
          <a:xfrm>
            <a:off x="335280" y="327796"/>
            <a:ext cx="11216640" cy="487680"/>
          </a:xfrm>
          <a:prstGeom prst="rect">
            <a:avLst/>
          </a:prstGeom>
          <a:noFill/>
          <a:ln/>
        </p:spPr>
        <p:txBody>
          <a:bodyPr wrap="square" lIns="0" tIns="0" rIns="0" bIns="0" rtlCol="0" anchor="ctr"/>
          <a:lstStyle/>
          <a:p>
            <a:r>
              <a:rPr lang="en-GB" sz="2400" b="1" dirty="0">
                <a:solidFill>
                  <a:schemeClr val="bg1"/>
                </a:solidFill>
                <a:latin typeface="Arial" panose="020B0604020202020204" pitchFamily="34" charset="0"/>
                <a:ea typeface="Calibri" pitchFamily="34" charset="-122"/>
                <a:cs typeface="Arial" panose="020B0604020202020204" pitchFamily="34" charset="0"/>
              </a:rPr>
              <a:t>AGENCY FEE INCOME </a:t>
            </a:r>
            <a:endParaRPr lang="en-US" sz="2400" b="1"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65AE283B-C426-85FB-421E-AD8D7D64FFB3}"/>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6" name="Shape 4">
            <a:extLst>
              <a:ext uri="{FF2B5EF4-FFF2-40B4-BE49-F238E27FC236}">
                <a16:creationId xmlns:a16="http://schemas.microsoft.com/office/drawing/2014/main" id="{73D6BC71-48E9-61A7-CD55-71A2F487649E}"/>
              </a:ext>
            </a:extLst>
          </p:cNvPr>
          <p:cNvSpPr/>
          <p:nvPr/>
        </p:nvSpPr>
        <p:spPr>
          <a:xfrm>
            <a:off x="249936" y="1408938"/>
            <a:ext cx="11460480" cy="877824"/>
          </a:xfrm>
          <a:prstGeom prst="rect">
            <a:avLst/>
          </a:prstGeom>
          <a:solidFill>
            <a:srgbClr val="D6E8F0"/>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7" name="Text 5">
            <a:extLst>
              <a:ext uri="{FF2B5EF4-FFF2-40B4-BE49-F238E27FC236}">
                <a16:creationId xmlns:a16="http://schemas.microsoft.com/office/drawing/2014/main" id="{82AF916E-D8FC-01E0-9D58-C460258938EC}"/>
              </a:ext>
            </a:extLst>
          </p:cNvPr>
          <p:cNvSpPr/>
          <p:nvPr/>
        </p:nvSpPr>
        <p:spPr>
          <a:xfrm>
            <a:off x="493776" y="1479586"/>
            <a:ext cx="10972800" cy="707136"/>
          </a:xfrm>
          <a:prstGeom prst="rect">
            <a:avLst/>
          </a:prstGeom>
          <a:noFill/>
          <a:ln/>
        </p:spPr>
        <p:txBody>
          <a:bodyPr wrap="square" rtlCol="0" anchor="ctr"/>
          <a:lstStyle/>
          <a:p>
            <a:r>
              <a:rPr lang="en-GB" sz="1600" b="1" i="1" dirty="0">
                <a:solidFill>
                  <a:srgbClr val="1C2B3A"/>
                </a:solidFill>
                <a:latin typeface="Arial" panose="020B0604020202020204" pitchFamily="34" charset="0"/>
                <a:ea typeface="Calibri" pitchFamily="34" charset="-122"/>
                <a:cs typeface="Arial" panose="020B0604020202020204" pitchFamily="34" charset="0"/>
              </a:rPr>
              <a:t>Total Agency Fee income during 2025/26 amounted to R219.3 million, average monthly income is approximately R18.3 million, February 2026 was the highest at R20.1 million.</a:t>
            </a:r>
            <a:endParaRPr lang="en-US" sz="1600" dirty="0">
              <a:latin typeface="Arial" panose="020B0604020202020204" pitchFamily="34" charset="0"/>
              <a:cs typeface="Arial" panose="020B0604020202020204" pitchFamily="34" charset="0"/>
            </a:endParaRPr>
          </a:p>
        </p:txBody>
      </p:sp>
      <p:sp>
        <p:nvSpPr>
          <p:cNvPr id="15" name="Text 13">
            <a:extLst>
              <a:ext uri="{FF2B5EF4-FFF2-40B4-BE49-F238E27FC236}">
                <a16:creationId xmlns:a16="http://schemas.microsoft.com/office/drawing/2014/main" id="{7635F7DB-FA14-7BBC-936A-98BA75D6B0FD}"/>
              </a:ext>
            </a:extLst>
          </p:cNvPr>
          <p:cNvSpPr/>
          <p:nvPr/>
        </p:nvSpPr>
        <p:spPr>
          <a:xfrm>
            <a:off x="249936" y="2950464"/>
            <a:ext cx="985593" cy="487680"/>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12.2.1</a:t>
            </a:r>
            <a:endParaRPr lang="en-US" sz="1600" dirty="0">
              <a:latin typeface="Arial" panose="020B0604020202020204" pitchFamily="34" charset="0"/>
              <a:cs typeface="Arial" panose="020B0604020202020204" pitchFamily="34" charset="0"/>
            </a:endParaRPr>
          </a:p>
        </p:txBody>
      </p:sp>
      <p:sp>
        <p:nvSpPr>
          <p:cNvPr id="16" name="Text 14">
            <a:extLst>
              <a:ext uri="{FF2B5EF4-FFF2-40B4-BE49-F238E27FC236}">
                <a16:creationId xmlns:a16="http://schemas.microsoft.com/office/drawing/2014/main" id="{926329A9-4782-83CB-443B-7BDFBD51AD28}"/>
              </a:ext>
            </a:extLst>
          </p:cNvPr>
          <p:cNvSpPr/>
          <p:nvPr/>
        </p:nvSpPr>
        <p:spPr>
          <a:xfrm>
            <a:off x="1148444" y="2950464"/>
            <a:ext cx="1208314"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Promotion</a:t>
            </a:r>
            <a:endParaRPr lang="en-US" sz="1600" dirty="0">
              <a:latin typeface="Arial" panose="020B0604020202020204" pitchFamily="34" charset="0"/>
              <a:cs typeface="Arial" panose="020B0604020202020204" pitchFamily="34" charset="0"/>
            </a:endParaRPr>
          </a:p>
        </p:txBody>
      </p:sp>
      <p:sp>
        <p:nvSpPr>
          <p:cNvPr id="17" name="Text 15">
            <a:extLst>
              <a:ext uri="{FF2B5EF4-FFF2-40B4-BE49-F238E27FC236}">
                <a16:creationId xmlns:a16="http://schemas.microsoft.com/office/drawing/2014/main" id="{A0B9B701-F96B-695F-CE77-42FD1F825727}"/>
              </a:ext>
            </a:extLst>
          </p:cNvPr>
          <p:cNvSpPr/>
          <p:nvPr/>
        </p:nvSpPr>
        <p:spPr>
          <a:xfrm>
            <a:off x="622119" y="3570296"/>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1" name="Text 19">
            <a:extLst>
              <a:ext uri="{FF2B5EF4-FFF2-40B4-BE49-F238E27FC236}">
                <a16:creationId xmlns:a16="http://schemas.microsoft.com/office/drawing/2014/main" id="{9C8E6796-634F-9DAA-02C4-24511A89F7D8}"/>
              </a:ext>
            </a:extLst>
          </p:cNvPr>
          <p:cNvSpPr/>
          <p:nvPr/>
        </p:nvSpPr>
        <p:spPr>
          <a:xfrm>
            <a:off x="4019986" y="2938272"/>
            <a:ext cx="2048256" cy="48768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22" name="Text 20">
            <a:extLst>
              <a:ext uri="{FF2B5EF4-FFF2-40B4-BE49-F238E27FC236}">
                <a16:creationId xmlns:a16="http://schemas.microsoft.com/office/drawing/2014/main" id="{0FF52017-D156-DBD8-05BF-A2FA8D3177D8}"/>
              </a:ext>
            </a:extLst>
          </p:cNvPr>
          <p:cNvSpPr/>
          <p:nvPr/>
        </p:nvSpPr>
        <p:spPr>
          <a:xfrm>
            <a:off x="3328416" y="3746863"/>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5" name="Text 23">
            <a:extLst>
              <a:ext uri="{FF2B5EF4-FFF2-40B4-BE49-F238E27FC236}">
                <a16:creationId xmlns:a16="http://schemas.microsoft.com/office/drawing/2014/main" id="{97C78AA6-1A51-8A96-FF4C-71E79EABDEEC}"/>
              </a:ext>
            </a:extLst>
          </p:cNvPr>
          <p:cNvSpPr/>
          <p:nvPr/>
        </p:nvSpPr>
        <p:spPr>
          <a:xfrm>
            <a:off x="6065520" y="2963309"/>
            <a:ext cx="853440" cy="42672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6" name="Text 24">
            <a:extLst>
              <a:ext uri="{FF2B5EF4-FFF2-40B4-BE49-F238E27FC236}">
                <a16:creationId xmlns:a16="http://schemas.microsoft.com/office/drawing/2014/main" id="{AF899CCF-48AF-3FE5-D390-3CAF9FB1DFED}"/>
              </a:ext>
            </a:extLst>
          </p:cNvPr>
          <p:cNvSpPr/>
          <p:nvPr/>
        </p:nvSpPr>
        <p:spPr>
          <a:xfrm>
            <a:off x="6951617" y="2932829"/>
            <a:ext cx="2048256" cy="48768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27" name="Text 25">
            <a:extLst>
              <a:ext uri="{FF2B5EF4-FFF2-40B4-BE49-F238E27FC236}">
                <a16:creationId xmlns:a16="http://schemas.microsoft.com/office/drawing/2014/main" id="{77EC0105-F304-6E9B-BDB9-E80EDDEF005C}"/>
              </a:ext>
            </a:extLst>
          </p:cNvPr>
          <p:cNvSpPr/>
          <p:nvPr/>
        </p:nvSpPr>
        <p:spPr>
          <a:xfrm>
            <a:off x="6410162" y="3635829"/>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30" name="Text 28">
            <a:extLst>
              <a:ext uri="{FF2B5EF4-FFF2-40B4-BE49-F238E27FC236}">
                <a16:creationId xmlns:a16="http://schemas.microsoft.com/office/drawing/2014/main" id="{A8A34214-7B58-FD01-B796-F503E7577D60}"/>
              </a:ext>
            </a:extLst>
          </p:cNvPr>
          <p:cNvSpPr/>
          <p:nvPr/>
        </p:nvSpPr>
        <p:spPr>
          <a:xfrm>
            <a:off x="8851392" y="2964616"/>
            <a:ext cx="1182624" cy="475488"/>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12.2.4</a:t>
            </a:r>
            <a:endParaRPr lang="en-US" sz="1600" dirty="0">
              <a:latin typeface="Arial" panose="020B0604020202020204" pitchFamily="34" charset="0"/>
              <a:cs typeface="Arial" panose="020B0604020202020204" pitchFamily="34" charset="0"/>
            </a:endParaRPr>
          </a:p>
        </p:txBody>
      </p:sp>
      <p:sp>
        <p:nvSpPr>
          <p:cNvPr id="31" name="Text 29">
            <a:extLst>
              <a:ext uri="{FF2B5EF4-FFF2-40B4-BE49-F238E27FC236}">
                <a16:creationId xmlns:a16="http://schemas.microsoft.com/office/drawing/2014/main" id="{23E6A15A-F678-5DD2-0C1E-503C683B6C00}"/>
              </a:ext>
            </a:extLst>
          </p:cNvPr>
          <p:cNvSpPr/>
          <p:nvPr/>
        </p:nvSpPr>
        <p:spPr>
          <a:xfrm>
            <a:off x="9883248" y="2986006"/>
            <a:ext cx="1453679" cy="432708"/>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Financial </a:t>
            </a:r>
            <a:r>
              <a:rPr lang="en-US" sz="1600" b="1" dirty="0" err="1">
                <a:solidFill>
                  <a:srgbClr val="FFFFFF"/>
                </a:solidFill>
                <a:latin typeface="Arial" panose="020B0604020202020204" pitchFamily="34" charset="0"/>
                <a:ea typeface="Calibri" pitchFamily="34" charset="-122"/>
                <a:cs typeface="Arial" panose="020B0604020202020204" pitchFamily="34" charset="0"/>
              </a:rPr>
              <a:t>mpications</a:t>
            </a:r>
            <a:endParaRPr lang="en-US" sz="1600" dirty="0">
              <a:latin typeface="Arial" panose="020B0604020202020204" pitchFamily="34" charset="0"/>
              <a:cs typeface="Arial" panose="020B0604020202020204" pitchFamily="34" charset="0"/>
            </a:endParaRPr>
          </a:p>
        </p:txBody>
      </p:sp>
      <p:sp>
        <p:nvSpPr>
          <p:cNvPr id="32" name="Text 30">
            <a:extLst>
              <a:ext uri="{FF2B5EF4-FFF2-40B4-BE49-F238E27FC236}">
                <a16:creationId xmlns:a16="http://schemas.microsoft.com/office/drawing/2014/main" id="{7312DCA5-AA2F-683C-FA1E-F541B9DDEA88}"/>
              </a:ext>
            </a:extLst>
          </p:cNvPr>
          <p:cNvSpPr/>
          <p:nvPr/>
        </p:nvSpPr>
        <p:spPr>
          <a:xfrm>
            <a:off x="9265920" y="3620371"/>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33" name="Text 31">
            <a:extLst>
              <a:ext uri="{FF2B5EF4-FFF2-40B4-BE49-F238E27FC236}">
                <a16:creationId xmlns:a16="http://schemas.microsoft.com/office/drawing/2014/main" id="{C50FD1AE-0018-1A3C-FE22-A1A85442EB1F}"/>
              </a:ext>
            </a:extLst>
          </p:cNvPr>
          <p:cNvSpPr/>
          <p:nvPr/>
        </p:nvSpPr>
        <p:spPr>
          <a:xfrm>
            <a:off x="365760" y="5940335"/>
            <a:ext cx="11460480" cy="633984"/>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pic>
        <p:nvPicPr>
          <p:cNvPr id="8" name="Content Placeholder 9">
            <a:extLst>
              <a:ext uri="{FF2B5EF4-FFF2-40B4-BE49-F238E27FC236}">
                <a16:creationId xmlns:a16="http://schemas.microsoft.com/office/drawing/2014/main" id="{C2967238-CCC8-6286-E374-587F7687E8B2}"/>
              </a:ext>
            </a:extLst>
          </p:cNvPr>
          <p:cNvPicPr>
            <a:picLocks noChangeAspect="1"/>
          </p:cNvPicPr>
          <p:nvPr/>
        </p:nvPicPr>
        <p:blipFill>
          <a:blip r:embed="rId3"/>
          <a:stretch>
            <a:fillRect/>
          </a:stretch>
        </p:blipFill>
        <p:spPr>
          <a:xfrm>
            <a:off x="1547957" y="2334849"/>
            <a:ext cx="9113115" cy="4258596"/>
          </a:xfrm>
          <a:prstGeom prst="rect">
            <a:avLst/>
          </a:prstGeom>
        </p:spPr>
      </p:pic>
      <p:pic>
        <p:nvPicPr>
          <p:cNvPr id="10" name="Picture 9">
            <a:extLst>
              <a:ext uri="{FF2B5EF4-FFF2-40B4-BE49-F238E27FC236}">
                <a16:creationId xmlns:a16="http://schemas.microsoft.com/office/drawing/2014/main" id="{E3496E4A-E3F4-71F2-FFB0-BDAB28D1BB9B}"/>
              </a:ext>
            </a:extLst>
          </p:cNvPr>
          <p:cNvPicPr>
            <a:picLocks noChangeAspect="1"/>
          </p:cNvPicPr>
          <p:nvPr/>
        </p:nvPicPr>
        <p:blipFill>
          <a:blip r:embed="rId4"/>
          <a:stretch>
            <a:fillRect/>
          </a:stretch>
        </p:blipFill>
        <p:spPr>
          <a:xfrm>
            <a:off x="79282" y="6279680"/>
            <a:ext cx="609653" cy="536494"/>
          </a:xfrm>
          <a:prstGeom prst="rect">
            <a:avLst/>
          </a:prstGeom>
        </p:spPr>
      </p:pic>
    </p:spTree>
    <p:extLst>
      <p:ext uri="{BB962C8B-B14F-4D97-AF65-F5344CB8AC3E}">
        <p14:creationId xmlns:p14="http://schemas.microsoft.com/office/powerpoint/2010/main" val="3667404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99F65-DCE6-2418-A0C8-FC2740F850B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2CAE00F-C507-459C-87CA-9980EC7E389A}"/>
              </a:ext>
            </a:extLst>
          </p:cNvPr>
          <p:cNvSpPr/>
          <p:nvPr/>
        </p:nvSpPr>
        <p:spPr>
          <a:xfrm>
            <a:off x="0" y="-6858"/>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83776DE8-9DE1-169E-16DD-5B0E1A9D662C}"/>
              </a:ext>
            </a:extLst>
          </p:cNvPr>
          <p:cNvSpPr/>
          <p:nvPr/>
        </p:nvSpPr>
        <p:spPr>
          <a:xfrm>
            <a:off x="335280" y="521823"/>
            <a:ext cx="11216640" cy="67056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58F9742A-C35F-60B2-8BEF-AE42DB9334B9}"/>
              </a:ext>
            </a:extLst>
          </p:cNvPr>
          <p:cNvSpPr/>
          <p:nvPr/>
        </p:nvSpPr>
        <p:spPr>
          <a:xfrm>
            <a:off x="335280" y="297179"/>
            <a:ext cx="11216640" cy="487680"/>
          </a:xfrm>
          <a:prstGeom prst="rect">
            <a:avLst/>
          </a:prstGeom>
          <a:noFill/>
          <a:ln/>
        </p:spPr>
        <p:txBody>
          <a:bodyPr wrap="square" lIns="0" tIns="0" rIns="0" bIns="0" rtlCol="0" anchor="ctr"/>
          <a:lstStyle/>
          <a:p>
            <a:r>
              <a:rPr lang="en-GB" sz="2400" b="1" dirty="0">
                <a:solidFill>
                  <a:schemeClr val="bg1"/>
                </a:solidFill>
                <a:latin typeface="Arial" panose="020B0604020202020204" pitchFamily="34" charset="0"/>
                <a:ea typeface="Calibri" pitchFamily="34" charset="-122"/>
                <a:cs typeface="Arial" panose="020B0604020202020204" pitchFamily="34" charset="0"/>
              </a:rPr>
              <a:t>AGENCY FEE DISTRIBUTION</a:t>
            </a:r>
            <a:endParaRPr lang="en-US" sz="2400" b="1"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3E486DE6-0975-2746-A7F8-5643EDFC25B6}"/>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6" name="Shape 4">
            <a:extLst>
              <a:ext uri="{FF2B5EF4-FFF2-40B4-BE49-F238E27FC236}">
                <a16:creationId xmlns:a16="http://schemas.microsoft.com/office/drawing/2014/main" id="{43345EBE-E3A6-DA1E-F74A-CDFFFF73B933}"/>
              </a:ext>
            </a:extLst>
          </p:cNvPr>
          <p:cNvSpPr/>
          <p:nvPr/>
        </p:nvSpPr>
        <p:spPr>
          <a:xfrm>
            <a:off x="249936" y="1408938"/>
            <a:ext cx="11460480" cy="877824"/>
          </a:xfrm>
          <a:prstGeom prst="rect">
            <a:avLst/>
          </a:prstGeom>
          <a:solidFill>
            <a:srgbClr val="D6E8F0"/>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7" name="Text 5">
            <a:extLst>
              <a:ext uri="{FF2B5EF4-FFF2-40B4-BE49-F238E27FC236}">
                <a16:creationId xmlns:a16="http://schemas.microsoft.com/office/drawing/2014/main" id="{EE98DA91-207B-A466-6CC4-0C8DAFD79A04}"/>
              </a:ext>
            </a:extLst>
          </p:cNvPr>
          <p:cNvSpPr/>
          <p:nvPr/>
        </p:nvSpPr>
        <p:spPr>
          <a:xfrm>
            <a:off x="493776" y="1479586"/>
            <a:ext cx="10972800" cy="707136"/>
          </a:xfrm>
          <a:prstGeom prst="rect">
            <a:avLst/>
          </a:prstGeom>
          <a:noFill/>
          <a:ln/>
        </p:spPr>
        <p:txBody>
          <a:bodyPr wrap="square" rtlCol="0" anchor="ctr"/>
          <a:lstStyle/>
          <a:p>
            <a:r>
              <a:rPr lang="en-GB" sz="1600" b="1" i="1" dirty="0">
                <a:solidFill>
                  <a:srgbClr val="1C2B3A"/>
                </a:solidFill>
                <a:latin typeface="Arial" panose="020B0604020202020204" pitchFamily="34" charset="0"/>
                <a:ea typeface="Calibri" pitchFamily="34" charset="-122"/>
                <a:cs typeface="Arial" panose="020B0604020202020204" pitchFamily="34" charset="0"/>
              </a:rPr>
              <a:t>Agency Fees are distributed proportionally amongst admitted trade unions in accordance with PSCBC Vote Weight determination. </a:t>
            </a:r>
            <a:endParaRPr lang="en-US" sz="1600" dirty="0">
              <a:latin typeface="Arial" panose="020B0604020202020204" pitchFamily="34" charset="0"/>
              <a:cs typeface="Arial" panose="020B0604020202020204" pitchFamily="34" charset="0"/>
            </a:endParaRPr>
          </a:p>
        </p:txBody>
      </p:sp>
      <p:sp>
        <p:nvSpPr>
          <p:cNvPr id="15" name="Text 13">
            <a:extLst>
              <a:ext uri="{FF2B5EF4-FFF2-40B4-BE49-F238E27FC236}">
                <a16:creationId xmlns:a16="http://schemas.microsoft.com/office/drawing/2014/main" id="{3A198682-198A-1EB5-E978-518C155FEB5D}"/>
              </a:ext>
            </a:extLst>
          </p:cNvPr>
          <p:cNvSpPr/>
          <p:nvPr/>
        </p:nvSpPr>
        <p:spPr>
          <a:xfrm>
            <a:off x="249936" y="2950464"/>
            <a:ext cx="985593" cy="487680"/>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12.2.1</a:t>
            </a:r>
            <a:endParaRPr lang="en-US" sz="1600" dirty="0">
              <a:latin typeface="Arial" panose="020B0604020202020204" pitchFamily="34" charset="0"/>
              <a:cs typeface="Arial" panose="020B0604020202020204" pitchFamily="34" charset="0"/>
            </a:endParaRPr>
          </a:p>
        </p:txBody>
      </p:sp>
      <p:sp>
        <p:nvSpPr>
          <p:cNvPr id="16" name="Text 14">
            <a:extLst>
              <a:ext uri="{FF2B5EF4-FFF2-40B4-BE49-F238E27FC236}">
                <a16:creationId xmlns:a16="http://schemas.microsoft.com/office/drawing/2014/main" id="{EE9C57F3-EEC7-FDEC-038E-AEC5F03833CF}"/>
              </a:ext>
            </a:extLst>
          </p:cNvPr>
          <p:cNvSpPr/>
          <p:nvPr/>
        </p:nvSpPr>
        <p:spPr>
          <a:xfrm>
            <a:off x="1148444" y="2950464"/>
            <a:ext cx="1208314" cy="487680"/>
          </a:xfrm>
          <a:prstGeom prst="rect">
            <a:avLst/>
          </a:prstGeom>
          <a:noFill/>
          <a:ln/>
        </p:spPr>
        <p:txBody>
          <a:bodyPr wrap="square" lIns="0" tIns="0" rIns="0" bIns="0" rtlCol="0" anchor="ctr"/>
          <a:lstStyle/>
          <a:p>
            <a:r>
              <a:rPr lang="en-US" sz="1600" b="1" dirty="0">
                <a:solidFill>
                  <a:srgbClr val="FFFFFF"/>
                </a:solidFill>
                <a:latin typeface="Arial" panose="020B0604020202020204" pitchFamily="34" charset="0"/>
                <a:ea typeface="Calibri" pitchFamily="34" charset="-122"/>
                <a:cs typeface="Arial" panose="020B0604020202020204" pitchFamily="34" charset="0"/>
              </a:rPr>
              <a:t>Promotion</a:t>
            </a:r>
            <a:endParaRPr lang="en-US" sz="1600" dirty="0">
              <a:latin typeface="Arial" panose="020B0604020202020204" pitchFamily="34" charset="0"/>
              <a:cs typeface="Arial" panose="020B0604020202020204" pitchFamily="34" charset="0"/>
            </a:endParaRPr>
          </a:p>
        </p:txBody>
      </p:sp>
      <p:sp>
        <p:nvSpPr>
          <p:cNvPr id="17" name="Text 15">
            <a:extLst>
              <a:ext uri="{FF2B5EF4-FFF2-40B4-BE49-F238E27FC236}">
                <a16:creationId xmlns:a16="http://schemas.microsoft.com/office/drawing/2014/main" id="{CEDFC013-99D9-EF01-0A9E-B0D6AE1AACE0}"/>
              </a:ext>
            </a:extLst>
          </p:cNvPr>
          <p:cNvSpPr/>
          <p:nvPr/>
        </p:nvSpPr>
        <p:spPr>
          <a:xfrm>
            <a:off x="622119" y="3570296"/>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1" name="Text 19">
            <a:extLst>
              <a:ext uri="{FF2B5EF4-FFF2-40B4-BE49-F238E27FC236}">
                <a16:creationId xmlns:a16="http://schemas.microsoft.com/office/drawing/2014/main" id="{382085CF-60F2-7E5D-FADA-DE034BE46700}"/>
              </a:ext>
            </a:extLst>
          </p:cNvPr>
          <p:cNvSpPr/>
          <p:nvPr/>
        </p:nvSpPr>
        <p:spPr>
          <a:xfrm>
            <a:off x="4019986" y="2938272"/>
            <a:ext cx="2048256" cy="48768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22" name="Text 20">
            <a:extLst>
              <a:ext uri="{FF2B5EF4-FFF2-40B4-BE49-F238E27FC236}">
                <a16:creationId xmlns:a16="http://schemas.microsoft.com/office/drawing/2014/main" id="{33A0236E-8FE9-000A-5DCB-86D665A96D2E}"/>
              </a:ext>
            </a:extLst>
          </p:cNvPr>
          <p:cNvSpPr/>
          <p:nvPr/>
        </p:nvSpPr>
        <p:spPr>
          <a:xfrm>
            <a:off x="3328416" y="3746863"/>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25" name="Text 23">
            <a:extLst>
              <a:ext uri="{FF2B5EF4-FFF2-40B4-BE49-F238E27FC236}">
                <a16:creationId xmlns:a16="http://schemas.microsoft.com/office/drawing/2014/main" id="{A64216B9-D84F-5EDE-0A21-B396DF451106}"/>
              </a:ext>
            </a:extLst>
          </p:cNvPr>
          <p:cNvSpPr/>
          <p:nvPr/>
        </p:nvSpPr>
        <p:spPr>
          <a:xfrm>
            <a:off x="6065520" y="2963309"/>
            <a:ext cx="853440" cy="426720"/>
          </a:xfrm>
          <a:prstGeom prst="rect">
            <a:avLst/>
          </a:prstGeom>
          <a:noFill/>
          <a:ln/>
        </p:spPr>
        <p:txBody>
          <a:bodyPr wrap="square" lIns="0" tIns="0" rIns="0" bIns="0" rtlCol="0" anchor="ctr"/>
          <a:lstStyle/>
          <a:p>
            <a:pPr algn="ctr"/>
            <a:endParaRPr lang="en-US" sz="1600" dirty="0">
              <a:latin typeface="Arial" panose="020B0604020202020204" pitchFamily="34" charset="0"/>
              <a:cs typeface="Arial" panose="020B0604020202020204" pitchFamily="34" charset="0"/>
            </a:endParaRPr>
          </a:p>
        </p:txBody>
      </p:sp>
      <p:sp>
        <p:nvSpPr>
          <p:cNvPr id="26" name="Text 24">
            <a:extLst>
              <a:ext uri="{FF2B5EF4-FFF2-40B4-BE49-F238E27FC236}">
                <a16:creationId xmlns:a16="http://schemas.microsoft.com/office/drawing/2014/main" id="{5822195B-28D7-3A02-9316-2261646D23A5}"/>
              </a:ext>
            </a:extLst>
          </p:cNvPr>
          <p:cNvSpPr/>
          <p:nvPr/>
        </p:nvSpPr>
        <p:spPr>
          <a:xfrm>
            <a:off x="6951617" y="2932829"/>
            <a:ext cx="2048256" cy="48768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27" name="Text 25">
            <a:extLst>
              <a:ext uri="{FF2B5EF4-FFF2-40B4-BE49-F238E27FC236}">
                <a16:creationId xmlns:a16="http://schemas.microsoft.com/office/drawing/2014/main" id="{1A01D84E-1073-EE60-60ED-DBF060C7DD0D}"/>
              </a:ext>
            </a:extLst>
          </p:cNvPr>
          <p:cNvSpPr/>
          <p:nvPr/>
        </p:nvSpPr>
        <p:spPr>
          <a:xfrm>
            <a:off x="6410162" y="3635829"/>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30" name="Text 28">
            <a:extLst>
              <a:ext uri="{FF2B5EF4-FFF2-40B4-BE49-F238E27FC236}">
                <a16:creationId xmlns:a16="http://schemas.microsoft.com/office/drawing/2014/main" id="{26B822DA-5433-F3A3-1526-EB20C60C91F8}"/>
              </a:ext>
            </a:extLst>
          </p:cNvPr>
          <p:cNvSpPr/>
          <p:nvPr/>
        </p:nvSpPr>
        <p:spPr>
          <a:xfrm>
            <a:off x="8851392" y="2964616"/>
            <a:ext cx="1182624" cy="475488"/>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Calibri" pitchFamily="34" charset="-122"/>
                <a:cs typeface="Arial" panose="020B0604020202020204" pitchFamily="34" charset="0"/>
              </a:rPr>
              <a:t>12.2.4</a:t>
            </a:r>
            <a:endParaRPr lang="en-US" sz="1600" dirty="0">
              <a:latin typeface="Arial" panose="020B0604020202020204" pitchFamily="34" charset="0"/>
              <a:cs typeface="Arial" panose="020B0604020202020204" pitchFamily="34" charset="0"/>
            </a:endParaRPr>
          </a:p>
        </p:txBody>
      </p:sp>
      <p:sp>
        <p:nvSpPr>
          <p:cNvPr id="32" name="Text 30">
            <a:extLst>
              <a:ext uri="{FF2B5EF4-FFF2-40B4-BE49-F238E27FC236}">
                <a16:creationId xmlns:a16="http://schemas.microsoft.com/office/drawing/2014/main" id="{52F57CE0-231B-C0CD-5279-66163F1E2643}"/>
              </a:ext>
            </a:extLst>
          </p:cNvPr>
          <p:cNvSpPr/>
          <p:nvPr/>
        </p:nvSpPr>
        <p:spPr>
          <a:xfrm>
            <a:off x="9265920" y="3620371"/>
            <a:ext cx="2438400" cy="158496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33" name="Text 31">
            <a:extLst>
              <a:ext uri="{FF2B5EF4-FFF2-40B4-BE49-F238E27FC236}">
                <a16:creationId xmlns:a16="http://schemas.microsoft.com/office/drawing/2014/main" id="{8AAF938B-AC26-8658-39F3-502D278EF61D}"/>
              </a:ext>
            </a:extLst>
          </p:cNvPr>
          <p:cNvSpPr/>
          <p:nvPr/>
        </p:nvSpPr>
        <p:spPr>
          <a:xfrm>
            <a:off x="365760" y="5940335"/>
            <a:ext cx="11460480" cy="633984"/>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pic>
        <p:nvPicPr>
          <p:cNvPr id="9" name="Content Placeholder 7">
            <a:extLst>
              <a:ext uri="{FF2B5EF4-FFF2-40B4-BE49-F238E27FC236}">
                <a16:creationId xmlns:a16="http://schemas.microsoft.com/office/drawing/2014/main" id="{C1BA41F9-0890-507F-AA01-C96A62E0C58E}"/>
              </a:ext>
            </a:extLst>
          </p:cNvPr>
          <p:cNvPicPr>
            <a:picLocks noChangeAspect="1"/>
          </p:cNvPicPr>
          <p:nvPr/>
        </p:nvPicPr>
        <p:blipFill>
          <a:blip r:embed="rId3"/>
          <a:stretch>
            <a:fillRect/>
          </a:stretch>
        </p:blipFill>
        <p:spPr>
          <a:xfrm>
            <a:off x="951699" y="2357409"/>
            <a:ext cx="8694770" cy="3899917"/>
          </a:xfrm>
          <a:prstGeom prst="rect">
            <a:avLst/>
          </a:prstGeom>
        </p:spPr>
      </p:pic>
      <p:pic>
        <p:nvPicPr>
          <p:cNvPr id="10" name="Picture 9">
            <a:extLst>
              <a:ext uri="{FF2B5EF4-FFF2-40B4-BE49-F238E27FC236}">
                <a16:creationId xmlns:a16="http://schemas.microsoft.com/office/drawing/2014/main" id="{C9A2E626-F92E-A1ED-3BBC-C862BB89B553}"/>
              </a:ext>
            </a:extLst>
          </p:cNvPr>
          <p:cNvPicPr>
            <a:picLocks noChangeAspect="1"/>
          </p:cNvPicPr>
          <p:nvPr/>
        </p:nvPicPr>
        <p:blipFill>
          <a:blip r:embed="rId4"/>
          <a:stretch>
            <a:fillRect/>
          </a:stretch>
        </p:blipFill>
        <p:spPr>
          <a:xfrm>
            <a:off x="59268" y="6291127"/>
            <a:ext cx="612984" cy="533890"/>
          </a:xfrm>
          <a:prstGeom prst="rect">
            <a:avLst/>
          </a:prstGeom>
        </p:spPr>
      </p:pic>
    </p:spTree>
    <p:extLst>
      <p:ext uri="{BB962C8B-B14F-4D97-AF65-F5344CB8AC3E}">
        <p14:creationId xmlns:p14="http://schemas.microsoft.com/office/powerpoint/2010/main" val="327933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Text 1"/>
          <p:cNvSpPr/>
          <p:nvPr/>
        </p:nvSpPr>
        <p:spPr>
          <a:xfrm>
            <a:off x="365760" y="518160"/>
            <a:ext cx="11216640" cy="67056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4" name="Text 2"/>
          <p:cNvSpPr/>
          <p:nvPr/>
        </p:nvSpPr>
        <p:spPr>
          <a:xfrm>
            <a:off x="365759" y="384738"/>
            <a:ext cx="11216640" cy="487680"/>
          </a:xfrm>
          <a:prstGeom prst="rect">
            <a:avLst/>
          </a:prstGeom>
          <a:noFill/>
          <a:ln/>
        </p:spPr>
        <p:txBody>
          <a:bodyPr wrap="square" lIns="0" tIns="0" rIns="0" bIns="0" rtlCol="0" anchor="ctr"/>
          <a:lstStyle/>
          <a:p>
            <a:r>
              <a:rPr lang="en-GB" sz="2400" b="1" dirty="0">
                <a:solidFill>
                  <a:schemeClr val="bg1"/>
                </a:solidFill>
                <a:latin typeface="Arial" panose="020B0604020202020204" pitchFamily="34" charset="0"/>
                <a:ea typeface="Calibri" pitchFamily="34" charset="-122"/>
                <a:cs typeface="Arial" panose="020B0604020202020204" pitchFamily="34" charset="0"/>
              </a:rPr>
              <a:t>AGENCY FEE GOVERNANCE AND ASSURANCE</a:t>
            </a:r>
            <a:endParaRPr lang="en-US" sz="2400" b="1"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6" name="Shape 4"/>
          <p:cNvSpPr/>
          <p:nvPr/>
        </p:nvSpPr>
        <p:spPr>
          <a:xfrm>
            <a:off x="365760" y="1524000"/>
            <a:ext cx="2072640" cy="46939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7" name="Text 5"/>
          <p:cNvSpPr/>
          <p:nvPr/>
        </p:nvSpPr>
        <p:spPr>
          <a:xfrm>
            <a:off x="365760" y="2316480"/>
            <a:ext cx="2072640" cy="1219200"/>
          </a:xfrm>
          <a:prstGeom prst="rect">
            <a:avLst/>
          </a:prstGeom>
          <a:noFill/>
          <a:ln/>
        </p:spPr>
        <p:txBody>
          <a:bodyPr wrap="square" lIns="0" tIns="0" rIns="0" bIns="0" rtlCol="0" anchor="ctr"/>
          <a:lstStyle/>
          <a:p>
            <a:pPr algn="ctr"/>
            <a:endParaRPr lang="en-US" sz="4800" dirty="0">
              <a:latin typeface="Arial" panose="020B0604020202020204" pitchFamily="34" charset="0"/>
              <a:cs typeface="Arial" panose="020B0604020202020204" pitchFamily="34" charset="0"/>
            </a:endParaRPr>
          </a:p>
        </p:txBody>
      </p:sp>
      <p:sp>
        <p:nvSpPr>
          <p:cNvPr id="9" name="Shape 7"/>
          <p:cNvSpPr/>
          <p:nvPr/>
        </p:nvSpPr>
        <p:spPr>
          <a:xfrm>
            <a:off x="2682240" y="1524000"/>
            <a:ext cx="9204960" cy="140208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2400" dirty="0">
              <a:latin typeface="Arial" panose="020B0604020202020204" pitchFamily="34" charset="0"/>
              <a:cs typeface="Arial" panose="020B0604020202020204" pitchFamily="34" charset="0"/>
            </a:endParaRPr>
          </a:p>
        </p:txBody>
      </p:sp>
      <p:sp>
        <p:nvSpPr>
          <p:cNvPr id="10" name="Shape 8"/>
          <p:cNvSpPr/>
          <p:nvPr/>
        </p:nvSpPr>
        <p:spPr>
          <a:xfrm>
            <a:off x="2682240" y="1524000"/>
            <a:ext cx="85344" cy="1402080"/>
          </a:xfrm>
          <a:prstGeom prst="rect">
            <a:avLst/>
          </a:prstGeom>
          <a:solidFill>
            <a:srgbClr val="006E7F"/>
          </a:solidFill>
          <a:ln w="12700">
            <a:solidFill>
              <a:srgbClr val="006E7F"/>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11" name="Text 9"/>
          <p:cNvSpPr/>
          <p:nvPr/>
        </p:nvSpPr>
        <p:spPr>
          <a:xfrm>
            <a:off x="2901696" y="1584960"/>
            <a:ext cx="8778240" cy="36576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2" name="Text 10"/>
          <p:cNvSpPr/>
          <p:nvPr/>
        </p:nvSpPr>
        <p:spPr>
          <a:xfrm>
            <a:off x="2895600" y="1808384"/>
            <a:ext cx="8778240" cy="853440"/>
          </a:xfrm>
          <a:prstGeom prst="rect">
            <a:avLst/>
          </a:prstGeom>
          <a:noFill/>
          <a:ln/>
        </p:spPr>
        <p:txBody>
          <a:bodyPr wrap="square" lIns="0" tIns="0" rIns="0" bIns="0" rtlCol="0" anchor="ctr"/>
          <a:lstStyle/>
          <a:p>
            <a:pPr marL="285750" indent="-285750">
              <a:buFont typeface="Arial" panose="020B0604020202020204" pitchFamily="34" charset="0"/>
              <a:buChar char="•"/>
            </a:pPr>
            <a:r>
              <a:rPr lang="en-GB" sz="1600" dirty="0">
                <a:solidFill>
                  <a:srgbClr val="1C2B3A"/>
                </a:solidFill>
                <a:latin typeface="Arial" panose="020B0604020202020204" pitchFamily="34" charset="0"/>
                <a:ea typeface="Calibri" pitchFamily="34" charset="-122"/>
                <a:cs typeface="Arial" panose="020B0604020202020204" pitchFamily="34" charset="0"/>
              </a:rPr>
              <a:t>Agency Fees are deducted through PERSAL and PERSON systems.</a:t>
            </a:r>
          </a:p>
          <a:p>
            <a:pPr marL="285750" indent="-285750">
              <a:buFont typeface="Arial" panose="020B0604020202020204" pitchFamily="34" charset="0"/>
              <a:buChar char="•"/>
            </a:pPr>
            <a:endParaRPr lang="en-GB" sz="1600" dirty="0">
              <a:solidFill>
                <a:srgbClr val="1C2B3A"/>
              </a:solidFill>
              <a:latin typeface="Arial" panose="020B0604020202020204" pitchFamily="34" charset="0"/>
              <a:ea typeface="Calibri" pitchFamily="34" charset="-122"/>
              <a:cs typeface="Arial" panose="020B0604020202020204" pitchFamily="34" charset="0"/>
            </a:endParaRPr>
          </a:p>
          <a:p>
            <a:pPr marL="285750" indent="-285750">
              <a:buFont typeface="Arial" panose="020B0604020202020204" pitchFamily="34" charset="0"/>
              <a:buChar char="•"/>
            </a:pPr>
            <a:r>
              <a:rPr lang="en-GB" sz="1600" dirty="0">
                <a:solidFill>
                  <a:srgbClr val="1C2B3A"/>
                </a:solidFill>
                <a:latin typeface="Arial" panose="020B0604020202020204" pitchFamily="34" charset="0"/>
                <a:ea typeface="Calibri" pitchFamily="34" charset="-122"/>
                <a:cs typeface="Arial" panose="020B0604020202020204" pitchFamily="34" charset="0"/>
              </a:rPr>
              <a:t>Monthly remittance advice received from National Treasury.</a:t>
            </a:r>
          </a:p>
          <a:p>
            <a:endParaRPr lang="en-GB" sz="1600" dirty="0">
              <a:solidFill>
                <a:srgbClr val="1C2B3A"/>
              </a:solidFill>
              <a:latin typeface="Arial" panose="020B0604020202020204" pitchFamily="34" charset="0"/>
              <a:ea typeface="Calibri" pitchFamily="34" charset="-122"/>
              <a:cs typeface="Arial" panose="020B0604020202020204" pitchFamily="34" charset="0"/>
            </a:endParaRPr>
          </a:p>
        </p:txBody>
      </p:sp>
      <p:sp>
        <p:nvSpPr>
          <p:cNvPr id="13" name="Shape 11"/>
          <p:cNvSpPr/>
          <p:nvPr/>
        </p:nvSpPr>
        <p:spPr>
          <a:xfrm>
            <a:off x="2682240" y="3029022"/>
            <a:ext cx="9204960" cy="134112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2400">
              <a:latin typeface="Arial" panose="020B0604020202020204" pitchFamily="34" charset="0"/>
              <a:cs typeface="Arial" panose="020B0604020202020204" pitchFamily="34" charset="0"/>
            </a:endParaRPr>
          </a:p>
        </p:txBody>
      </p:sp>
      <p:sp>
        <p:nvSpPr>
          <p:cNvPr id="14" name="Shape 12"/>
          <p:cNvSpPr/>
          <p:nvPr/>
        </p:nvSpPr>
        <p:spPr>
          <a:xfrm>
            <a:off x="2682240" y="3048000"/>
            <a:ext cx="85344" cy="134112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15" name="Text 13"/>
          <p:cNvSpPr/>
          <p:nvPr/>
        </p:nvSpPr>
        <p:spPr>
          <a:xfrm>
            <a:off x="2901696" y="3108960"/>
            <a:ext cx="8778240" cy="36576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6" name="Text 14"/>
          <p:cNvSpPr/>
          <p:nvPr/>
        </p:nvSpPr>
        <p:spPr>
          <a:xfrm>
            <a:off x="2938272" y="3333247"/>
            <a:ext cx="8778240" cy="792480"/>
          </a:xfrm>
          <a:prstGeom prst="rect">
            <a:avLst/>
          </a:prstGeom>
          <a:noFill/>
          <a:ln/>
        </p:spPr>
        <p:txBody>
          <a:bodyPr wrap="square" lIns="0" tIns="0" rIns="0" bIns="0" rtlCol="0" anchor="ctr"/>
          <a:lstStyle/>
          <a:p>
            <a:pPr marL="285750" indent="-285750">
              <a:buFont typeface="Arial" panose="020B0604020202020204" pitchFamily="34" charset="0"/>
              <a:buChar char="•"/>
            </a:pPr>
            <a:r>
              <a:rPr lang="en-GB" sz="1600" dirty="0">
                <a:solidFill>
                  <a:srgbClr val="1C2B3A"/>
                </a:solidFill>
                <a:latin typeface="Arial" panose="020B0604020202020204" pitchFamily="34" charset="0"/>
                <a:ea typeface="Calibri" pitchFamily="34" charset="-122"/>
                <a:cs typeface="Arial" panose="020B0604020202020204" pitchFamily="34" charset="0"/>
              </a:rPr>
              <a:t>A separate Agency Fee Trust Account maintained by the Council.</a:t>
            </a:r>
          </a:p>
          <a:p>
            <a:pPr marL="285750" indent="-285750">
              <a:buFont typeface="Arial" panose="020B0604020202020204" pitchFamily="34" charset="0"/>
              <a:buChar char="•"/>
            </a:pPr>
            <a:endParaRPr lang="en-GB" sz="1600" dirty="0">
              <a:solidFill>
                <a:srgbClr val="1C2B3A"/>
              </a:solidFill>
              <a:latin typeface="Arial" panose="020B0604020202020204" pitchFamily="34" charset="0"/>
              <a:ea typeface="Calibri" pitchFamily="34" charset="-122"/>
              <a:cs typeface="Arial" panose="020B0604020202020204" pitchFamily="34" charset="0"/>
            </a:endParaRPr>
          </a:p>
          <a:p>
            <a:pPr marL="285750" indent="-285750">
              <a:buFont typeface="Arial" panose="020B0604020202020204" pitchFamily="34" charset="0"/>
              <a:buChar char="•"/>
            </a:pPr>
            <a:r>
              <a:rPr lang="en-GB" sz="1600" dirty="0">
                <a:solidFill>
                  <a:srgbClr val="1C2B3A"/>
                </a:solidFill>
                <a:latin typeface="Arial" panose="020B0604020202020204" pitchFamily="34" charset="0"/>
                <a:ea typeface="Calibri" pitchFamily="34" charset="-122"/>
                <a:cs typeface="Arial" panose="020B0604020202020204" pitchFamily="34" charset="0"/>
              </a:rPr>
              <a:t>Monthly proportional distributions performed as per Vote Weight determination.</a:t>
            </a:r>
          </a:p>
          <a:p>
            <a:endParaRPr lang="en-GB" sz="1600" dirty="0">
              <a:solidFill>
                <a:srgbClr val="1C2B3A"/>
              </a:solidFill>
              <a:latin typeface="Arial" panose="020B0604020202020204" pitchFamily="34" charset="0"/>
              <a:ea typeface="Calibri" pitchFamily="34" charset="-122"/>
              <a:cs typeface="Arial" panose="020B0604020202020204" pitchFamily="34" charset="0"/>
            </a:endParaRPr>
          </a:p>
        </p:txBody>
      </p:sp>
      <p:sp>
        <p:nvSpPr>
          <p:cNvPr id="17" name="Shape 15"/>
          <p:cNvSpPr/>
          <p:nvPr/>
        </p:nvSpPr>
        <p:spPr>
          <a:xfrm>
            <a:off x="2682240" y="4479410"/>
            <a:ext cx="9204960" cy="134112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2400">
              <a:latin typeface="Arial" panose="020B0604020202020204" pitchFamily="34" charset="0"/>
              <a:cs typeface="Arial" panose="020B0604020202020204" pitchFamily="34" charset="0"/>
            </a:endParaRPr>
          </a:p>
        </p:txBody>
      </p:sp>
      <p:sp>
        <p:nvSpPr>
          <p:cNvPr id="18" name="Shape 16"/>
          <p:cNvSpPr/>
          <p:nvPr/>
        </p:nvSpPr>
        <p:spPr>
          <a:xfrm>
            <a:off x="2682240" y="4511040"/>
            <a:ext cx="85344" cy="1341120"/>
          </a:xfrm>
          <a:prstGeom prst="rect">
            <a:avLst/>
          </a:prstGeom>
          <a:solidFill>
            <a:srgbClr val="1A3A5C"/>
          </a:solidFill>
          <a:ln w="12700">
            <a:solidFill>
              <a:srgbClr val="1A3A5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19" name="Text 17"/>
          <p:cNvSpPr/>
          <p:nvPr/>
        </p:nvSpPr>
        <p:spPr>
          <a:xfrm>
            <a:off x="2901696" y="4572000"/>
            <a:ext cx="8778240" cy="36576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20" name="Text 18"/>
          <p:cNvSpPr/>
          <p:nvPr/>
        </p:nvSpPr>
        <p:spPr>
          <a:xfrm>
            <a:off x="2895600" y="4724400"/>
            <a:ext cx="8692896" cy="792480"/>
          </a:xfrm>
          <a:prstGeom prst="rect">
            <a:avLst/>
          </a:prstGeom>
          <a:noFill/>
          <a:ln/>
        </p:spPr>
        <p:txBody>
          <a:bodyPr wrap="square" lIns="0" tIns="0" rIns="0" bIns="0" rtlCol="0" anchor="ctr"/>
          <a:lstStyle/>
          <a:p>
            <a:pPr marL="285750" indent="-285750">
              <a:buFont typeface="Arial" panose="020B0604020202020204" pitchFamily="34" charset="0"/>
              <a:buChar char="•"/>
            </a:pPr>
            <a:r>
              <a:rPr lang="en-GB" sz="1600" dirty="0">
                <a:solidFill>
                  <a:srgbClr val="1C2B3A"/>
                </a:solidFill>
                <a:latin typeface="Arial" panose="020B0604020202020204" pitchFamily="34" charset="0"/>
                <a:ea typeface="Calibri" pitchFamily="34" charset="-122"/>
                <a:cs typeface="Arial" panose="020B0604020202020204" pitchFamily="34" charset="0"/>
              </a:rPr>
              <a:t>Quarterly Finance Committee oversight.</a:t>
            </a:r>
          </a:p>
          <a:p>
            <a:pPr marL="285750" indent="-285750">
              <a:buFont typeface="Arial" panose="020B0604020202020204" pitchFamily="34" charset="0"/>
              <a:buChar char="•"/>
            </a:pPr>
            <a:endParaRPr lang="en-GB" sz="1600" dirty="0">
              <a:solidFill>
                <a:srgbClr val="1C2B3A"/>
              </a:solidFill>
              <a:latin typeface="Arial" panose="020B0604020202020204" pitchFamily="34" charset="0"/>
              <a:ea typeface="Calibri" pitchFamily="34" charset="-122"/>
              <a:cs typeface="Arial" panose="020B0604020202020204" pitchFamily="34" charset="0"/>
            </a:endParaRPr>
          </a:p>
          <a:p>
            <a:pPr marL="285750" indent="-285750">
              <a:buFont typeface="Arial" panose="020B0604020202020204" pitchFamily="34" charset="0"/>
              <a:buChar char="•"/>
            </a:pPr>
            <a:r>
              <a:rPr lang="en-GB" sz="1600" dirty="0">
                <a:solidFill>
                  <a:srgbClr val="1C2B3A"/>
                </a:solidFill>
                <a:latin typeface="Arial" panose="020B0604020202020204" pitchFamily="34" charset="0"/>
                <a:ea typeface="Calibri" pitchFamily="34" charset="-122"/>
                <a:cs typeface="Arial" panose="020B0604020202020204" pitchFamily="34" charset="0"/>
              </a:rPr>
              <a:t>Agency Fee Trust account is independently audited annually.</a:t>
            </a:r>
          </a:p>
        </p:txBody>
      </p:sp>
      <p:pic>
        <p:nvPicPr>
          <p:cNvPr id="21" name="Picture 20">
            <a:extLst>
              <a:ext uri="{FF2B5EF4-FFF2-40B4-BE49-F238E27FC236}">
                <a16:creationId xmlns:a16="http://schemas.microsoft.com/office/drawing/2014/main" id="{1F0C5F70-14DF-5B1D-3C84-98BF090CB015}"/>
              </a:ext>
            </a:extLst>
          </p:cNvPr>
          <p:cNvPicPr>
            <a:picLocks noChangeAspect="1"/>
          </p:cNvPicPr>
          <p:nvPr/>
        </p:nvPicPr>
        <p:blipFill>
          <a:blip r:embed="rId3"/>
          <a:stretch>
            <a:fillRect/>
          </a:stretch>
        </p:blipFill>
        <p:spPr>
          <a:xfrm>
            <a:off x="60933" y="6321506"/>
            <a:ext cx="609653" cy="5364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p:cNvSpPr/>
          <p:nvPr/>
        </p:nvSpPr>
        <p:spPr>
          <a:xfrm>
            <a:off x="451104" y="219513"/>
            <a:ext cx="11216640" cy="670560"/>
          </a:xfrm>
          <a:prstGeom prst="rect">
            <a:avLst/>
          </a:prstGeom>
          <a:noFill/>
          <a:ln/>
        </p:spPr>
        <p:txBody>
          <a:bodyPr wrap="square" lIns="0" tIns="0" rIns="0" bIns="0" rtlCol="0" anchor="ctr"/>
          <a:lstStyle/>
          <a:p>
            <a:r>
              <a:rPr lang="en-GB" sz="2400" b="1" dirty="0">
                <a:solidFill>
                  <a:srgbClr val="FFFFFF"/>
                </a:solidFill>
                <a:latin typeface="Arial" panose="020B0604020202020204" pitchFamily="34" charset="0"/>
                <a:ea typeface="Calibri" pitchFamily="34" charset="-122"/>
                <a:cs typeface="Arial" panose="020B0604020202020204" pitchFamily="34" charset="0"/>
              </a:rPr>
              <a:t>PROVISIONS OF PSCBC RESOLUTION 1 OF 2005 </a:t>
            </a:r>
            <a:endParaRPr lang="en-US" sz="2400" dirty="0">
              <a:latin typeface="Arial" panose="020B0604020202020204" pitchFamily="34" charset="0"/>
              <a:cs typeface="Arial" panose="020B0604020202020204" pitchFamily="34" charset="0"/>
            </a:endParaRPr>
          </a:p>
        </p:txBody>
      </p:sp>
      <p:sp>
        <p:nvSpPr>
          <p:cNvPr id="4" name="Text 2"/>
          <p:cNvSpPr/>
          <p:nvPr/>
        </p:nvSpPr>
        <p:spPr>
          <a:xfrm>
            <a:off x="487680" y="755904"/>
            <a:ext cx="11216640" cy="487680"/>
          </a:xfrm>
          <a:prstGeom prst="rect">
            <a:avLst/>
          </a:prstGeom>
          <a:noFill/>
          <a:ln/>
        </p:spPr>
        <p:txBody>
          <a:bodyPr wrap="square" lIns="0" tIns="0" rIns="0" bIns="0" rtlCol="0" anchor="ctr"/>
          <a:lstStyle/>
          <a:p>
            <a:endParaRPr lang="en-US" sz="1600"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7" name="Text 5"/>
          <p:cNvSpPr/>
          <p:nvPr/>
        </p:nvSpPr>
        <p:spPr>
          <a:xfrm>
            <a:off x="609600" y="1621536"/>
            <a:ext cx="10972800" cy="731520"/>
          </a:xfrm>
          <a:prstGeom prst="rect">
            <a:avLst/>
          </a:prstGeom>
          <a:noFill/>
          <a:ln/>
        </p:spPr>
        <p:txBody>
          <a:bodyPr wrap="square" rtlCol="0" anchor="ctr"/>
          <a:lstStyle/>
          <a:p>
            <a:endParaRPr lang="en-US" sz="1600" dirty="0">
              <a:latin typeface="Arial" panose="020B0604020202020204" pitchFamily="34" charset="0"/>
              <a:cs typeface="Arial" panose="020B0604020202020204" pitchFamily="34" charset="0"/>
            </a:endParaRPr>
          </a:p>
        </p:txBody>
      </p:sp>
      <p:sp>
        <p:nvSpPr>
          <p:cNvPr id="8" name="Shape 6"/>
          <p:cNvSpPr/>
          <p:nvPr/>
        </p:nvSpPr>
        <p:spPr>
          <a:xfrm>
            <a:off x="365760" y="2560320"/>
            <a:ext cx="3657600" cy="359664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9" name="Shape 7"/>
          <p:cNvSpPr/>
          <p:nvPr/>
        </p:nvSpPr>
        <p:spPr>
          <a:xfrm>
            <a:off x="365760" y="2560320"/>
            <a:ext cx="3657600" cy="1390578"/>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0" name="Text 8"/>
          <p:cNvSpPr/>
          <p:nvPr/>
        </p:nvSpPr>
        <p:spPr>
          <a:xfrm>
            <a:off x="487680" y="2682240"/>
            <a:ext cx="3413760" cy="1123159"/>
          </a:xfrm>
          <a:prstGeom prst="rect">
            <a:avLst/>
          </a:prstGeom>
          <a:noFill/>
          <a:ln/>
        </p:spPr>
        <p:txBody>
          <a:bodyPr wrap="square" lIns="0" tIns="0" rIns="0" bIns="0" rtlCol="0" anchor="ctr"/>
          <a:lstStyle/>
          <a:p>
            <a:pPr algn="ctr"/>
            <a:r>
              <a:rPr lang="en-GB" sz="1600" b="1" dirty="0">
                <a:solidFill>
                  <a:srgbClr val="FFFFFF"/>
                </a:solidFill>
                <a:latin typeface="Arial" panose="020B0604020202020204" pitchFamily="34" charset="0"/>
                <a:ea typeface="Calibri" pitchFamily="34" charset="-122"/>
                <a:cs typeface="Arial" panose="020B0604020202020204" pitchFamily="34" charset="0"/>
              </a:rPr>
              <a:t>Each trade union must open a separate bank account for the purpose of this agreement and the money in that account may be used only for –</a:t>
            </a:r>
          </a:p>
        </p:txBody>
      </p:sp>
      <p:sp>
        <p:nvSpPr>
          <p:cNvPr id="11" name="Text 9"/>
          <p:cNvSpPr/>
          <p:nvPr/>
        </p:nvSpPr>
        <p:spPr>
          <a:xfrm>
            <a:off x="365760" y="3401568"/>
            <a:ext cx="3986784" cy="2865120"/>
          </a:xfrm>
          <a:prstGeom prst="rect">
            <a:avLst/>
          </a:prstGeom>
          <a:noFill/>
          <a:ln/>
        </p:spPr>
        <p:txBody>
          <a:bodyPr wrap="square" rtlCol="0" anchor="ctr"/>
          <a:lstStyle/>
          <a:p>
            <a:pPr marL="285750" indent="-285750">
              <a:buFont typeface="Wingdings" panose="05000000000000000000" pitchFamily="2" charset="2"/>
              <a:buChar char="q"/>
            </a:pPr>
            <a:r>
              <a:rPr lang="en-GB" sz="1600" dirty="0">
                <a:solidFill>
                  <a:srgbClr val="1C2B3A"/>
                </a:solidFill>
                <a:latin typeface="Arial" panose="020B0604020202020204" pitchFamily="34" charset="0"/>
                <a:ea typeface="Calibri" pitchFamily="34" charset="-122"/>
                <a:cs typeface="Arial" panose="020B0604020202020204" pitchFamily="34" charset="0"/>
              </a:rPr>
              <a:t> Collective bargaining,</a:t>
            </a:r>
          </a:p>
          <a:p>
            <a:endParaRPr lang="en-GB" sz="1600" dirty="0">
              <a:solidFill>
                <a:srgbClr val="1C2B3A"/>
              </a:solidFill>
              <a:latin typeface="Arial" panose="020B0604020202020204" pitchFamily="34" charset="0"/>
              <a:ea typeface="Calibri" pitchFamily="34" charset="-122"/>
              <a:cs typeface="Arial" panose="020B0604020202020204" pitchFamily="34" charset="0"/>
            </a:endParaRPr>
          </a:p>
          <a:p>
            <a:pPr marL="285750" indent="-285750">
              <a:buFont typeface="Wingdings" panose="05000000000000000000" pitchFamily="2" charset="2"/>
              <a:buChar char="q"/>
            </a:pPr>
            <a:r>
              <a:rPr lang="en-GB" sz="1600" dirty="0">
                <a:solidFill>
                  <a:srgbClr val="1C2B3A"/>
                </a:solidFill>
                <a:latin typeface="Arial" panose="020B0604020202020204" pitchFamily="34" charset="0"/>
                <a:ea typeface="Calibri" pitchFamily="34" charset="-122"/>
                <a:cs typeface="Arial" panose="020B0604020202020204" pitchFamily="34" charset="0"/>
              </a:rPr>
              <a:t> Dispute resolution, 			</a:t>
            </a:r>
          </a:p>
          <a:p>
            <a:pPr marL="285750" indent="-285750">
              <a:buFont typeface="Wingdings" panose="05000000000000000000" pitchFamily="2" charset="2"/>
              <a:buChar char="q"/>
            </a:pPr>
            <a:r>
              <a:rPr lang="en-GB" sz="1600" dirty="0">
                <a:solidFill>
                  <a:srgbClr val="1C2B3A"/>
                </a:solidFill>
                <a:latin typeface="Arial" panose="020B0604020202020204" pitchFamily="34" charset="0"/>
                <a:ea typeface="Calibri" pitchFamily="34" charset="-122"/>
                <a:cs typeface="Arial" panose="020B0604020202020204" pitchFamily="34" charset="0"/>
              </a:rPr>
              <a:t> Training of trade union      representatives</a:t>
            </a:r>
          </a:p>
        </p:txBody>
      </p:sp>
      <p:sp>
        <p:nvSpPr>
          <p:cNvPr id="12" name="Shape 10"/>
          <p:cNvSpPr/>
          <p:nvPr/>
        </p:nvSpPr>
        <p:spPr>
          <a:xfrm>
            <a:off x="4230624" y="2560320"/>
            <a:ext cx="3657600" cy="359664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3" name="Shape 11"/>
          <p:cNvSpPr/>
          <p:nvPr/>
        </p:nvSpPr>
        <p:spPr>
          <a:xfrm>
            <a:off x="4206240" y="2560320"/>
            <a:ext cx="3657600" cy="1390578"/>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4" name="Text 12"/>
          <p:cNvSpPr/>
          <p:nvPr/>
        </p:nvSpPr>
        <p:spPr>
          <a:xfrm>
            <a:off x="4352544" y="2987787"/>
            <a:ext cx="3413760" cy="512064"/>
          </a:xfrm>
          <a:prstGeom prst="rect">
            <a:avLst/>
          </a:prstGeom>
          <a:noFill/>
          <a:ln/>
        </p:spPr>
        <p:txBody>
          <a:bodyPr wrap="square" lIns="0" tIns="0" rIns="0" bIns="0" rtlCol="0" anchor="ctr"/>
          <a:lstStyle/>
          <a:p>
            <a:pPr algn="ctr"/>
            <a:r>
              <a:rPr lang="en-GB" sz="1600" b="1" dirty="0">
                <a:solidFill>
                  <a:srgbClr val="FFFFFF"/>
                </a:solidFill>
                <a:latin typeface="Arial" panose="020B0604020202020204" pitchFamily="34" charset="0"/>
                <a:ea typeface="Calibri" pitchFamily="34" charset="-122"/>
                <a:cs typeface="Arial" panose="020B0604020202020204" pitchFamily="34" charset="0"/>
              </a:rPr>
              <a:t>Prohibited use of Agency Fees – </a:t>
            </a:r>
          </a:p>
        </p:txBody>
      </p:sp>
      <p:sp>
        <p:nvSpPr>
          <p:cNvPr id="15" name="Text 13"/>
          <p:cNvSpPr/>
          <p:nvPr/>
        </p:nvSpPr>
        <p:spPr>
          <a:xfrm>
            <a:off x="4474464" y="3621369"/>
            <a:ext cx="3364992" cy="2865120"/>
          </a:xfrm>
          <a:prstGeom prst="rect">
            <a:avLst/>
          </a:prstGeom>
          <a:noFill/>
          <a:ln/>
        </p:spPr>
        <p:txBody>
          <a:bodyPr wrap="square" rtlCol="0" anchor="ctr"/>
          <a:lstStyle/>
          <a:p>
            <a:pPr marL="285750" indent="-285750">
              <a:buFont typeface="Wingdings" panose="05000000000000000000" pitchFamily="2" charset="2"/>
              <a:buChar char="q"/>
            </a:pPr>
            <a:r>
              <a:rPr lang="en-GB" sz="1600" dirty="0">
                <a:solidFill>
                  <a:srgbClr val="1C2B3A"/>
                </a:solidFill>
                <a:latin typeface="Arial" panose="020B0604020202020204" pitchFamily="34" charset="0"/>
                <a:ea typeface="Calibri" pitchFamily="34" charset="-122"/>
                <a:cs typeface="Arial" panose="020B0604020202020204" pitchFamily="34" charset="0"/>
              </a:rPr>
              <a:t>Political party contributions,</a:t>
            </a:r>
          </a:p>
          <a:p>
            <a:pPr marL="285750" indent="-285750">
              <a:buFont typeface="Wingdings" panose="05000000000000000000" pitchFamily="2" charset="2"/>
              <a:buChar char="q"/>
            </a:pPr>
            <a:endParaRPr lang="en-GB" sz="1600" dirty="0">
              <a:solidFill>
                <a:srgbClr val="1C2B3A"/>
              </a:solidFill>
              <a:latin typeface="Arial" panose="020B0604020202020204" pitchFamily="34" charset="0"/>
              <a:ea typeface="Calibri" pitchFamily="34" charset="-122"/>
              <a:cs typeface="Arial" panose="020B0604020202020204" pitchFamily="34" charset="0"/>
            </a:endParaRPr>
          </a:p>
          <a:p>
            <a:pPr marL="285750" indent="-285750">
              <a:buFont typeface="Wingdings" panose="05000000000000000000" pitchFamily="2" charset="2"/>
              <a:buChar char="q"/>
            </a:pPr>
            <a:r>
              <a:rPr lang="en-GB" sz="1600" dirty="0">
                <a:solidFill>
                  <a:srgbClr val="1C2B3A"/>
                </a:solidFill>
                <a:latin typeface="Arial" panose="020B0604020202020204" pitchFamily="34" charset="0"/>
                <a:ea typeface="Calibri" pitchFamily="34" charset="-122"/>
                <a:cs typeface="Arial" panose="020B0604020202020204" pitchFamily="34" charset="0"/>
              </a:rPr>
              <a:t>Election campaign funding, and/or</a:t>
            </a:r>
          </a:p>
          <a:p>
            <a:pPr marL="285750" indent="-285750">
              <a:buFont typeface="Wingdings" panose="05000000000000000000" pitchFamily="2" charset="2"/>
              <a:buChar char="q"/>
            </a:pPr>
            <a:endParaRPr lang="en-GB" sz="1600" dirty="0">
              <a:solidFill>
                <a:srgbClr val="1C2B3A"/>
              </a:solidFill>
              <a:latin typeface="Arial" panose="020B0604020202020204" pitchFamily="34" charset="0"/>
              <a:ea typeface="Calibri" pitchFamily="34" charset="-122"/>
              <a:cs typeface="Arial" panose="020B0604020202020204" pitchFamily="34" charset="0"/>
            </a:endParaRPr>
          </a:p>
          <a:p>
            <a:pPr marL="285750" indent="-285750">
              <a:buFont typeface="Wingdings" panose="05000000000000000000" pitchFamily="2" charset="2"/>
              <a:buChar char="q"/>
            </a:pPr>
            <a:r>
              <a:rPr lang="en-GB" sz="1600" dirty="0">
                <a:solidFill>
                  <a:srgbClr val="1C2B3A"/>
                </a:solidFill>
                <a:latin typeface="Arial" panose="020B0604020202020204" pitchFamily="34" charset="0"/>
                <a:ea typeface="Calibri" pitchFamily="34" charset="-122"/>
                <a:cs typeface="Arial" panose="020B0604020202020204" pitchFamily="34" charset="0"/>
              </a:rPr>
              <a:t>Any expenditure that does not advance or protect the socio-economic  interests of employees.</a:t>
            </a:r>
          </a:p>
        </p:txBody>
      </p:sp>
      <p:sp>
        <p:nvSpPr>
          <p:cNvPr id="16" name="Shape 14"/>
          <p:cNvSpPr/>
          <p:nvPr/>
        </p:nvSpPr>
        <p:spPr>
          <a:xfrm>
            <a:off x="8046720" y="2560320"/>
            <a:ext cx="4145280" cy="359664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7" name="Shape 15"/>
          <p:cNvSpPr/>
          <p:nvPr/>
        </p:nvSpPr>
        <p:spPr>
          <a:xfrm>
            <a:off x="8046719" y="2535935"/>
            <a:ext cx="4021635" cy="1390577"/>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8" name="Text 16"/>
          <p:cNvSpPr/>
          <p:nvPr/>
        </p:nvSpPr>
        <p:spPr>
          <a:xfrm>
            <a:off x="8290560" y="2967029"/>
            <a:ext cx="3413760" cy="512064"/>
          </a:xfrm>
          <a:prstGeom prst="rect">
            <a:avLst/>
          </a:prstGeom>
          <a:noFill/>
          <a:ln/>
        </p:spPr>
        <p:txBody>
          <a:bodyPr wrap="square" lIns="0" tIns="0" rIns="0" bIns="0" rtlCol="0" anchor="ctr"/>
          <a:lstStyle/>
          <a:p>
            <a:pPr algn="ctr"/>
            <a:r>
              <a:rPr lang="en-GB" sz="1600" b="1" dirty="0">
                <a:solidFill>
                  <a:srgbClr val="FFFFFF"/>
                </a:solidFill>
                <a:latin typeface="Arial" panose="020B0604020202020204" pitchFamily="34" charset="0"/>
                <a:ea typeface="Calibri" pitchFamily="34" charset="-122"/>
                <a:cs typeface="Arial" panose="020B0604020202020204" pitchFamily="34" charset="0"/>
              </a:rPr>
              <a:t>Provisions of PSCBC Resolution 1 of 2005 </a:t>
            </a:r>
          </a:p>
        </p:txBody>
      </p:sp>
      <p:sp>
        <p:nvSpPr>
          <p:cNvPr id="19" name="Text 17"/>
          <p:cNvSpPr/>
          <p:nvPr/>
        </p:nvSpPr>
        <p:spPr>
          <a:xfrm>
            <a:off x="8217408" y="3785617"/>
            <a:ext cx="3974592" cy="2579354"/>
          </a:xfrm>
          <a:prstGeom prst="rect">
            <a:avLst/>
          </a:prstGeom>
          <a:noFill/>
          <a:ln/>
        </p:spPr>
        <p:txBody>
          <a:bodyPr wrap="square" rtlCol="0" anchor="ctr"/>
          <a:lstStyle/>
          <a:p>
            <a:r>
              <a:rPr lang="en-GB" sz="1600" dirty="0">
                <a:solidFill>
                  <a:srgbClr val="1C2B3A"/>
                </a:solidFill>
                <a:latin typeface="Arial" panose="020B0604020202020204" pitchFamily="34" charset="0"/>
                <a:ea typeface="Calibri" pitchFamily="34" charset="-122"/>
                <a:cs typeface="Arial" panose="020B0604020202020204" pitchFamily="34" charset="0"/>
              </a:rPr>
              <a:t>The trade unions must keep books and records of their respective bank accounts in accordance with generally accepted accounting practices, including statements of income and expenditure and the balance sheets indicating the assets, liabilities and financial standing of the account.</a:t>
            </a:r>
          </a:p>
        </p:txBody>
      </p:sp>
      <p:pic>
        <p:nvPicPr>
          <p:cNvPr id="6" name="Picture 5">
            <a:extLst>
              <a:ext uri="{FF2B5EF4-FFF2-40B4-BE49-F238E27FC236}">
                <a16:creationId xmlns:a16="http://schemas.microsoft.com/office/drawing/2014/main" id="{3940F33D-6F93-51FB-73B0-C4A04A109E0E}"/>
              </a:ext>
            </a:extLst>
          </p:cNvPr>
          <p:cNvPicPr>
            <a:picLocks noChangeAspect="1"/>
          </p:cNvPicPr>
          <p:nvPr/>
        </p:nvPicPr>
        <p:blipFill>
          <a:blip r:embed="rId3"/>
          <a:stretch>
            <a:fillRect/>
          </a:stretch>
        </p:blipFill>
        <p:spPr>
          <a:xfrm>
            <a:off x="60933" y="6278880"/>
            <a:ext cx="609653" cy="53649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p:cNvSpPr/>
          <p:nvPr/>
        </p:nvSpPr>
        <p:spPr>
          <a:xfrm>
            <a:off x="487680" y="201286"/>
            <a:ext cx="11216640" cy="670560"/>
          </a:xfrm>
          <a:prstGeom prst="rect">
            <a:avLst/>
          </a:prstGeom>
          <a:noFill/>
          <a:ln/>
        </p:spPr>
        <p:txBody>
          <a:bodyPr wrap="square" lIns="0" tIns="0" rIns="0" bIns="0" rtlCol="0" anchor="ctr"/>
          <a:lstStyle/>
          <a:p>
            <a:r>
              <a:rPr lang="en-GB" sz="2400" b="1" dirty="0">
                <a:solidFill>
                  <a:srgbClr val="FFFFFF"/>
                </a:solidFill>
                <a:latin typeface="Arial" panose="020B0604020202020204" pitchFamily="34" charset="0"/>
                <a:ea typeface="Calibri" pitchFamily="34" charset="-122"/>
                <a:cs typeface="Arial" panose="020B0604020202020204" pitchFamily="34" charset="0"/>
              </a:rPr>
              <a:t>PROVISIONS OF PSCBC RESOLUTION 1 OF 2005 Continued…</a:t>
            </a:r>
            <a:endParaRPr lang="en-US" sz="2400" dirty="0">
              <a:latin typeface="Arial" panose="020B0604020202020204" pitchFamily="34" charset="0"/>
              <a:cs typeface="Arial" panose="020B0604020202020204" pitchFamily="34" charset="0"/>
            </a:endParaRPr>
          </a:p>
        </p:txBody>
      </p:sp>
      <p:sp>
        <p:nvSpPr>
          <p:cNvPr id="4" name="Text 2"/>
          <p:cNvSpPr/>
          <p:nvPr/>
        </p:nvSpPr>
        <p:spPr>
          <a:xfrm>
            <a:off x="487680" y="755904"/>
            <a:ext cx="11216640" cy="487680"/>
          </a:xfrm>
          <a:prstGeom prst="rect">
            <a:avLst/>
          </a:prstGeom>
          <a:noFill/>
          <a:ln/>
        </p:spPr>
        <p:txBody>
          <a:bodyPr wrap="square" lIns="0" tIns="0" rIns="0" bIns="0" rtlCol="0" anchor="ctr"/>
          <a:lstStyle/>
          <a:p>
            <a:endParaRPr lang="en-US" sz="1600"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6" name="Shape 4"/>
          <p:cNvSpPr/>
          <p:nvPr/>
        </p:nvSpPr>
        <p:spPr>
          <a:xfrm>
            <a:off x="326665" y="1560576"/>
            <a:ext cx="11460480" cy="1365504"/>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7" name="Shape 5"/>
          <p:cNvSpPr/>
          <p:nvPr/>
        </p:nvSpPr>
        <p:spPr>
          <a:xfrm>
            <a:off x="365760" y="1560576"/>
            <a:ext cx="85344" cy="1365504"/>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8" name="Text 6"/>
          <p:cNvSpPr/>
          <p:nvPr/>
        </p:nvSpPr>
        <p:spPr>
          <a:xfrm>
            <a:off x="609600" y="1633728"/>
            <a:ext cx="1097280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9" name="Text 7"/>
          <p:cNvSpPr/>
          <p:nvPr/>
        </p:nvSpPr>
        <p:spPr>
          <a:xfrm>
            <a:off x="768096" y="1914144"/>
            <a:ext cx="10972800" cy="792480"/>
          </a:xfrm>
          <a:prstGeom prst="rect">
            <a:avLst/>
          </a:prstGeom>
          <a:noFill/>
          <a:ln/>
        </p:spPr>
        <p:txBody>
          <a:bodyPr wrap="square" lIns="0" tIns="0" rIns="0" bIns="0" rtlCol="0" anchor="ctr"/>
          <a:lstStyle/>
          <a:p>
            <a:r>
              <a:rPr lang="en-GB" sz="1600" dirty="0">
                <a:solidFill>
                  <a:srgbClr val="1C2B3A"/>
                </a:solidFill>
                <a:latin typeface="Arial" panose="020B0604020202020204" pitchFamily="34" charset="0"/>
                <a:ea typeface="Calibri" pitchFamily="34" charset="-122"/>
                <a:cs typeface="Arial" panose="020B0604020202020204" pitchFamily="34" charset="0"/>
              </a:rPr>
              <a:t>The bank accounts must be audited annually, which audited accounts will be open to any party to the Council, or any employee, for inspection.</a:t>
            </a:r>
          </a:p>
        </p:txBody>
      </p:sp>
      <p:sp>
        <p:nvSpPr>
          <p:cNvPr id="10" name="Text 8"/>
          <p:cNvSpPr/>
          <p:nvPr/>
        </p:nvSpPr>
        <p:spPr>
          <a:xfrm>
            <a:off x="365760" y="3072384"/>
            <a:ext cx="11460480" cy="42672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1" name="Shape 9"/>
          <p:cNvSpPr/>
          <p:nvPr/>
        </p:nvSpPr>
        <p:spPr>
          <a:xfrm>
            <a:off x="450184" y="2999232"/>
            <a:ext cx="11387328" cy="134112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2" name="Shape 10"/>
          <p:cNvSpPr/>
          <p:nvPr/>
        </p:nvSpPr>
        <p:spPr>
          <a:xfrm flipH="1">
            <a:off x="354488" y="2987040"/>
            <a:ext cx="85344" cy="1365504"/>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3" name="Text 11"/>
          <p:cNvSpPr/>
          <p:nvPr/>
        </p:nvSpPr>
        <p:spPr>
          <a:xfrm>
            <a:off x="1402080" y="3489787"/>
            <a:ext cx="3413760" cy="341376"/>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4" name="Text 12"/>
          <p:cNvSpPr/>
          <p:nvPr/>
        </p:nvSpPr>
        <p:spPr>
          <a:xfrm>
            <a:off x="658368" y="3358550"/>
            <a:ext cx="10711247" cy="756250"/>
          </a:xfrm>
          <a:prstGeom prst="rect">
            <a:avLst/>
          </a:prstGeom>
          <a:noFill/>
          <a:ln/>
        </p:spPr>
        <p:txBody>
          <a:bodyPr wrap="square" lIns="0" tIns="0" rIns="0" bIns="0" rtlCol="0" anchor="ctr"/>
          <a:lstStyle/>
          <a:p>
            <a:r>
              <a:rPr lang="en-GB" sz="1600" dirty="0">
                <a:solidFill>
                  <a:srgbClr val="1C2B3A"/>
                </a:solidFill>
                <a:latin typeface="Arial" panose="020B0604020202020204" pitchFamily="34" charset="0"/>
                <a:ea typeface="Calibri" pitchFamily="34" charset="-122"/>
                <a:cs typeface="Arial" panose="020B0604020202020204" pitchFamily="34" charset="0"/>
              </a:rPr>
              <a:t>The agreement requires a determination by the General Secretary as per the provisions in clause 3.3 on the highest amount payable for subscription by a member belonging to a Trade Union admitted to the PSCBC. </a:t>
            </a:r>
          </a:p>
        </p:txBody>
      </p:sp>
      <p:sp>
        <p:nvSpPr>
          <p:cNvPr id="15" name="Text 13"/>
          <p:cNvSpPr/>
          <p:nvPr/>
        </p:nvSpPr>
        <p:spPr>
          <a:xfrm>
            <a:off x="548640" y="4389120"/>
            <a:ext cx="3413760" cy="134112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6" name="Shape 14"/>
          <p:cNvSpPr/>
          <p:nvPr/>
        </p:nvSpPr>
        <p:spPr>
          <a:xfrm>
            <a:off x="499872" y="4436595"/>
            <a:ext cx="11316246" cy="1591056"/>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7" name="Shape 15"/>
          <p:cNvSpPr/>
          <p:nvPr/>
        </p:nvSpPr>
        <p:spPr>
          <a:xfrm>
            <a:off x="353568" y="4474464"/>
            <a:ext cx="85344" cy="1627632"/>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8" name="Text 16"/>
          <p:cNvSpPr/>
          <p:nvPr/>
        </p:nvSpPr>
        <p:spPr>
          <a:xfrm>
            <a:off x="4450080" y="3645408"/>
            <a:ext cx="3413760" cy="341376"/>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9" name="Text 17"/>
          <p:cNvSpPr/>
          <p:nvPr/>
        </p:nvSpPr>
        <p:spPr>
          <a:xfrm>
            <a:off x="4450080" y="3962400"/>
            <a:ext cx="341376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20" name="Text 18"/>
          <p:cNvSpPr/>
          <p:nvPr/>
        </p:nvSpPr>
        <p:spPr>
          <a:xfrm>
            <a:off x="701066" y="4686531"/>
            <a:ext cx="10924032" cy="1341120"/>
          </a:xfrm>
          <a:prstGeom prst="rect">
            <a:avLst/>
          </a:prstGeom>
          <a:noFill/>
          <a:ln/>
        </p:spPr>
        <p:txBody>
          <a:bodyPr wrap="square" lIns="0" tIns="0" rIns="0" bIns="0" rtlCol="0" anchor="ctr"/>
          <a:lstStyle/>
          <a:p>
            <a:r>
              <a:rPr lang="en-GB" sz="1600" dirty="0">
                <a:solidFill>
                  <a:srgbClr val="1C2B3A"/>
                </a:solidFill>
                <a:latin typeface="Arial" panose="020B0604020202020204" pitchFamily="34" charset="0"/>
                <a:ea typeface="Calibri" pitchFamily="34" charset="-122"/>
                <a:cs typeface="Arial" panose="020B0604020202020204" pitchFamily="34" charset="0"/>
              </a:rPr>
              <a:t>The amount payable for the agency fee must be equivalent to the highest amount for such subscription. The annual adjustment is also furthermore allowed for in terms of section 25(3) (b) (iii) of the Labour Relations Act 66 of 1995 (as amended). </a:t>
            </a:r>
          </a:p>
        </p:txBody>
      </p:sp>
      <p:sp>
        <p:nvSpPr>
          <p:cNvPr id="23" name="Text 21"/>
          <p:cNvSpPr/>
          <p:nvPr/>
        </p:nvSpPr>
        <p:spPr>
          <a:xfrm>
            <a:off x="8351520" y="3645408"/>
            <a:ext cx="3413760" cy="341376"/>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pic>
        <p:nvPicPr>
          <p:cNvPr id="22" name="Picture 21">
            <a:extLst>
              <a:ext uri="{FF2B5EF4-FFF2-40B4-BE49-F238E27FC236}">
                <a16:creationId xmlns:a16="http://schemas.microsoft.com/office/drawing/2014/main" id="{F336E6F4-79FC-7D50-57C4-2C8DA5FD35F6}"/>
              </a:ext>
            </a:extLst>
          </p:cNvPr>
          <p:cNvPicPr>
            <a:picLocks noChangeAspect="1"/>
          </p:cNvPicPr>
          <p:nvPr/>
        </p:nvPicPr>
        <p:blipFill>
          <a:blip r:embed="rId3"/>
          <a:stretch>
            <a:fillRect/>
          </a:stretch>
        </p:blipFill>
        <p:spPr>
          <a:xfrm>
            <a:off x="91413" y="6303241"/>
            <a:ext cx="609653" cy="53649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20E35-FC93-83D8-E83C-44E3976CE48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8330AB4-43BF-C76A-071E-AAD27E9B1E05}"/>
              </a:ext>
            </a:extLst>
          </p:cNvPr>
          <p:cNvSpPr/>
          <p:nvPr/>
        </p:nvSpPr>
        <p:spPr>
          <a:xfrm>
            <a:off x="0" y="0"/>
            <a:ext cx="12192000" cy="1341120"/>
          </a:xfrm>
          <a:prstGeom prst="rect">
            <a:avLst/>
          </a:prstGeom>
          <a:solidFill>
            <a:srgbClr val="1A3A5C"/>
          </a:solidFill>
          <a:ln w="12700">
            <a:solidFill>
              <a:srgbClr val="1A3A5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39F243A6-97BB-823B-737B-E7744DC39707}"/>
              </a:ext>
            </a:extLst>
          </p:cNvPr>
          <p:cNvSpPr/>
          <p:nvPr/>
        </p:nvSpPr>
        <p:spPr>
          <a:xfrm>
            <a:off x="487680" y="256032"/>
            <a:ext cx="11216640" cy="670560"/>
          </a:xfrm>
          <a:prstGeom prst="rect">
            <a:avLst/>
          </a:prstGeom>
          <a:noFill/>
          <a:ln/>
        </p:spPr>
        <p:txBody>
          <a:bodyPr wrap="square" lIns="0" tIns="0" rIns="0" bIns="0" rtlCol="0" anchor="ctr"/>
          <a:lstStyle/>
          <a:p>
            <a:r>
              <a:rPr lang="en-GB" sz="2400" b="1" dirty="0">
                <a:solidFill>
                  <a:srgbClr val="FFFFFF"/>
                </a:solidFill>
                <a:latin typeface="Arial" panose="020B0604020202020204" pitchFamily="34" charset="0"/>
                <a:ea typeface="Calibri" pitchFamily="34" charset="-122"/>
                <a:cs typeface="Arial" panose="020B0604020202020204" pitchFamily="34" charset="0"/>
              </a:rPr>
              <a:t>DETERMINATION- RESOLUTION 1 OF 2011</a:t>
            </a:r>
            <a:endParaRPr lang="en-US" sz="2400" dirty="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59E8D6C5-4500-C187-93BE-AE62106E1F96}"/>
              </a:ext>
            </a:extLst>
          </p:cNvPr>
          <p:cNvSpPr/>
          <p:nvPr/>
        </p:nvSpPr>
        <p:spPr>
          <a:xfrm>
            <a:off x="487680" y="755904"/>
            <a:ext cx="11216640" cy="487680"/>
          </a:xfrm>
          <a:prstGeom prst="rect">
            <a:avLst/>
          </a:prstGeom>
          <a:noFill/>
          <a:ln/>
        </p:spPr>
        <p:txBody>
          <a:bodyPr wrap="square" lIns="0" tIns="0" rIns="0" bIns="0" rtlCol="0" anchor="ctr"/>
          <a:lstStyle/>
          <a:p>
            <a:endParaRPr lang="en-US" sz="1600" dirty="0">
              <a:solidFill>
                <a:schemeClr val="bg1"/>
              </a:solidFill>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F39BB088-DA5D-9572-3907-ECB8CD3C8F3E}"/>
              </a:ext>
            </a:extLst>
          </p:cNvPr>
          <p:cNvSpPr/>
          <p:nvPr/>
        </p:nvSpPr>
        <p:spPr>
          <a:xfrm>
            <a:off x="0" y="1341120"/>
            <a:ext cx="12192000" cy="60960"/>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6" name="Shape 4">
            <a:extLst>
              <a:ext uri="{FF2B5EF4-FFF2-40B4-BE49-F238E27FC236}">
                <a16:creationId xmlns:a16="http://schemas.microsoft.com/office/drawing/2014/main" id="{46E24D64-1554-46A4-3BE0-5BA280954616}"/>
              </a:ext>
            </a:extLst>
          </p:cNvPr>
          <p:cNvSpPr/>
          <p:nvPr/>
        </p:nvSpPr>
        <p:spPr>
          <a:xfrm>
            <a:off x="365760" y="1560576"/>
            <a:ext cx="11460480" cy="1365504"/>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7" name="Shape 5">
            <a:extLst>
              <a:ext uri="{FF2B5EF4-FFF2-40B4-BE49-F238E27FC236}">
                <a16:creationId xmlns:a16="http://schemas.microsoft.com/office/drawing/2014/main" id="{71B9A6A7-256A-EF0A-4B98-50558C368BEA}"/>
              </a:ext>
            </a:extLst>
          </p:cNvPr>
          <p:cNvSpPr/>
          <p:nvPr/>
        </p:nvSpPr>
        <p:spPr>
          <a:xfrm>
            <a:off x="365760" y="1560576"/>
            <a:ext cx="85344" cy="1365504"/>
          </a:xfrm>
          <a:prstGeom prst="rect">
            <a:avLst/>
          </a:prstGeom>
          <a:solidFill>
            <a:srgbClr val="006E7F"/>
          </a:solidFill>
          <a:ln w="12700">
            <a:solidFill>
              <a:srgbClr val="006E7F"/>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8" name="Text 6">
            <a:extLst>
              <a:ext uri="{FF2B5EF4-FFF2-40B4-BE49-F238E27FC236}">
                <a16:creationId xmlns:a16="http://schemas.microsoft.com/office/drawing/2014/main" id="{9419FA45-6BFE-1E2F-FF44-3D9E37A6204A}"/>
              </a:ext>
            </a:extLst>
          </p:cNvPr>
          <p:cNvSpPr/>
          <p:nvPr/>
        </p:nvSpPr>
        <p:spPr>
          <a:xfrm>
            <a:off x="609600" y="1633728"/>
            <a:ext cx="1097280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9" name="Text 7">
            <a:extLst>
              <a:ext uri="{FF2B5EF4-FFF2-40B4-BE49-F238E27FC236}">
                <a16:creationId xmlns:a16="http://schemas.microsoft.com/office/drawing/2014/main" id="{2A4A91AD-59CA-283A-0CDC-59EADD32DC5A}"/>
              </a:ext>
            </a:extLst>
          </p:cNvPr>
          <p:cNvSpPr/>
          <p:nvPr/>
        </p:nvSpPr>
        <p:spPr>
          <a:xfrm>
            <a:off x="768096" y="1914144"/>
            <a:ext cx="10972800" cy="792480"/>
          </a:xfrm>
          <a:prstGeom prst="rect">
            <a:avLst/>
          </a:prstGeom>
          <a:noFill/>
          <a:ln/>
        </p:spPr>
        <p:txBody>
          <a:bodyPr wrap="square" lIns="0" tIns="0" rIns="0" bIns="0" rtlCol="0" anchor="ctr"/>
          <a:lstStyle/>
          <a:p>
            <a:r>
              <a:rPr lang="en-GB" sz="1600" dirty="0">
                <a:solidFill>
                  <a:srgbClr val="1C2B3A"/>
                </a:solidFill>
                <a:latin typeface="Arial" panose="020B0604020202020204" pitchFamily="34" charset="0"/>
                <a:ea typeface="Calibri" pitchFamily="34" charset="-122"/>
                <a:cs typeface="Arial" panose="020B0604020202020204" pitchFamily="34" charset="0"/>
              </a:rPr>
              <a:t>From the information received, the highest amount payable for subscription by a member belonging to a trade union admitted to the PSCBC, is NAPTOSA with a subscription fee amount of R132.50. </a:t>
            </a:r>
          </a:p>
        </p:txBody>
      </p:sp>
      <p:sp>
        <p:nvSpPr>
          <p:cNvPr id="10" name="Text 8">
            <a:extLst>
              <a:ext uri="{FF2B5EF4-FFF2-40B4-BE49-F238E27FC236}">
                <a16:creationId xmlns:a16="http://schemas.microsoft.com/office/drawing/2014/main" id="{3FEB0A1C-2F03-C2C9-8A70-65F1E67E2B73}"/>
              </a:ext>
            </a:extLst>
          </p:cNvPr>
          <p:cNvSpPr/>
          <p:nvPr/>
        </p:nvSpPr>
        <p:spPr>
          <a:xfrm>
            <a:off x="365760" y="3072384"/>
            <a:ext cx="11460480" cy="42672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1" name="Shape 9">
            <a:extLst>
              <a:ext uri="{FF2B5EF4-FFF2-40B4-BE49-F238E27FC236}">
                <a16:creationId xmlns:a16="http://schemas.microsoft.com/office/drawing/2014/main" id="{84A99A6E-8D9E-E130-EB2B-9FFAD7058F2E}"/>
              </a:ext>
            </a:extLst>
          </p:cNvPr>
          <p:cNvSpPr/>
          <p:nvPr/>
        </p:nvSpPr>
        <p:spPr>
          <a:xfrm>
            <a:off x="450184" y="2999232"/>
            <a:ext cx="11387328" cy="1341120"/>
          </a:xfrm>
          <a:prstGeom prst="rect">
            <a:avLst/>
          </a:prstGeom>
          <a:solidFill>
            <a:srgbClr val="FFFFFF"/>
          </a:solidFill>
          <a:ln w="6350">
            <a:solidFill>
              <a:srgbClr val="D0DEE8"/>
            </a:solidFill>
            <a:prstDash val="solid"/>
          </a:ln>
          <a:effectLst>
            <a:outerShdw blurRad="50800" dist="25400" dir="8100000" algn="bl" rotWithShape="0">
              <a:srgbClr val="000000">
                <a:alpha val="8000"/>
              </a:srgbClr>
            </a:outerShdw>
          </a:effectLst>
        </p:spPr>
        <p:txBody>
          <a:bodyPr/>
          <a:lstStyle/>
          <a:p>
            <a:endParaRPr lang="en-ZA" sz="1600">
              <a:latin typeface="Arial" panose="020B0604020202020204" pitchFamily="34" charset="0"/>
              <a:cs typeface="Arial" panose="020B0604020202020204" pitchFamily="34" charset="0"/>
            </a:endParaRPr>
          </a:p>
        </p:txBody>
      </p:sp>
      <p:sp>
        <p:nvSpPr>
          <p:cNvPr id="12" name="Shape 10">
            <a:extLst>
              <a:ext uri="{FF2B5EF4-FFF2-40B4-BE49-F238E27FC236}">
                <a16:creationId xmlns:a16="http://schemas.microsoft.com/office/drawing/2014/main" id="{87ADA05C-727F-A5DF-0A89-D4DABB7255CC}"/>
              </a:ext>
            </a:extLst>
          </p:cNvPr>
          <p:cNvSpPr/>
          <p:nvPr/>
        </p:nvSpPr>
        <p:spPr>
          <a:xfrm flipH="1">
            <a:off x="354488" y="2987040"/>
            <a:ext cx="85344" cy="1365504"/>
          </a:xfrm>
          <a:prstGeom prst="rect">
            <a:avLst/>
          </a:prstGeom>
          <a:solidFill>
            <a:srgbClr val="C9A03C"/>
          </a:solidFill>
          <a:ln w="12700">
            <a:solidFill>
              <a:srgbClr val="C9A03C"/>
            </a:solidFill>
            <a:prstDash val="solid"/>
          </a:ln>
        </p:spPr>
        <p:txBody>
          <a:bodyPr/>
          <a:lstStyle/>
          <a:p>
            <a:endParaRPr lang="en-ZA" sz="1600">
              <a:latin typeface="Arial" panose="020B0604020202020204" pitchFamily="34" charset="0"/>
              <a:cs typeface="Arial" panose="020B0604020202020204" pitchFamily="34" charset="0"/>
            </a:endParaRPr>
          </a:p>
        </p:txBody>
      </p:sp>
      <p:sp>
        <p:nvSpPr>
          <p:cNvPr id="13" name="Text 11">
            <a:extLst>
              <a:ext uri="{FF2B5EF4-FFF2-40B4-BE49-F238E27FC236}">
                <a16:creationId xmlns:a16="http://schemas.microsoft.com/office/drawing/2014/main" id="{95CE15D7-F2BB-E9E2-A4AB-102895DD9F66}"/>
              </a:ext>
            </a:extLst>
          </p:cNvPr>
          <p:cNvSpPr/>
          <p:nvPr/>
        </p:nvSpPr>
        <p:spPr>
          <a:xfrm>
            <a:off x="1402080" y="3489787"/>
            <a:ext cx="3413760" cy="341376"/>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4" name="Text 12">
            <a:extLst>
              <a:ext uri="{FF2B5EF4-FFF2-40B4-BE49-F238E27FC236}">
                <a16:creationId xmlns:a16="http://schemas.microsoft.com/office/drawing/2014/main" id="{7F4012DE-E4E0-1BF7-02C8-C99207901F44}"/>
              </a:ext>
            </a:extLst>
          </p:cNvPr>
          <p:cNvSpPr/>
          <p:nvPr/>
        </p:nvSpPr>
        <p:spPr>
          <a:xfrm>
            <a:off x="658368" y="3358550"/>
            <a:ext cx="10711247" cy="756250"/>
          </a:xfrm>
          <a:prstGeom prst="rect">
            <a:avLst/>
          </a:prstGeom>
          <a:noFill/>
          <a:ln/>
        </p:spPr>
        <p:txBody>
          <a:bodyPr wrap="square" lIns="0" tIns="0" rIns="0" bIns="0" rtlCol="0" anchor="ctr"/>
          <a:lstStyle/>
          <a:p>
            <a:endParaRPr lang="en-GB" sz="1600" dirty="0">
              <a:solidFill>
                <a:srgbClr val="1C2B3A"/>
              </a:solidFill>
              <a:latin typeface="Arial" panose="020B0604020202020204" pitchFamily="34" charset="0"/>
              <a:ea typeface="Calibri" pitchFamily="34" charset="-122"/>
              <a:cs typeface="Arial" panose="020B0604020202020204" pitchFamily="34" charset="0"/>
            </a:endParaRPr>
          </a:p>
          <a:p>
            <a:r>
              <a:rPr lang="en-GB" sz="1600" dirty="0">
                <a:solidFill>
                  <a:srgbClr val="1C2B3A"/>
                </a:solidFill>
                <a:latin typeface="Arial" panose="020B0604020202020204" pitchFamily="34" charset="0"/>
                <a:ea typeface="Calibri" pitchFamily="34" charset="-122"/>
                <a:cs typeface="Arial" panose="020B0604020202020204" pitchFamily="34" charset="0"/>
              </a:rPr>
              <a:t>Therefore, the agency fee amount payable will be adjusted from R125.50 to R132.50 (5.58% increase) per month, </a:t>
            </a:r>
            <a:r>
              <a:rPr lang="en-GB" sz="1600" dirty="0" err="1">
                <a:solidFill>
                  <a:srgbClr val="1C2B3A"/>
                </a:solidFill>
                <a:latin typeface="Arial" panose="020B0604020202020204" pitchFamily="34" charset="0"/>
                <a:ea typeface="Calibri" pitchFamily="34" charset="-122"/>
                <a:cs typeface="Arial" panose="020B0604020202020204" pitchFamily="34" charset="0"/>
              </a:rPr>
              <a:t>wef</a:t>
            </a:r>
            <a:r>
              <a:rPr lang="en-GB" sz="1600" dirty="0">
                <a:solidFill>
                  <a:srgbClr val="1C2B3A"/>
                </a:solidFill>
                <a:latin typeface="Arial" panose="020B0604020202020204" pitchFamily="34" charset="0"/>
                <a:ea typeface="Calibri" pitchFamily="34" charset="-122"/>
                <a:cs typeface="Arial" panose="020B0604020202020204" pitchFamily="34" charset="0"/>
              </a:rPr>
              <a:t> 01 July 2026. </a:t>
            </a:r>
          </a:p>
        </p:txBody>
      </p:sp>
      <p:sp>
        <p:nvSpPr>
          <p:cNvPr id="15" name="Text 13">
            <a:extLst>
              <a:ext uri="{FF2B5EF4-FFF2-40B4-BE49-F238E27FC236}">
                <a16:creationId xmlns:a16="http://schemas.microsoft.com/office/drawing/2014/main" id="{F106E6DA-5137-CA35-B979-C4A015DC7C7C}"/>
              </a:ext>
            </a:extLst>
          </p:cNvPr>
          <p:cNvSpPr/>
          <p:nvPr/>
        </p:nvSpPr>
        <p:spPr>
          <a:xfrm>
            <a:off x="548640" y="4389120"/>
            <a:ext cx="3413760" cy="1341120"/>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8" name="Text 16">
            <a:extLst>
              <a:ext uri="{FF2B5EF4-FFF2-40B4-BE49-F238E27FC236}">
                <a16:creationId xmlns:a16="http://schemas.microsoft.com/office/drawing/2014/main" id="{0040B07F-271A-0C58-00A9-6B8CF15D1FFB}"/>
              </a:ext>
            </a:extLst>
          </p:cNvPr>
          <p:cNvSpPr/>
          <p:nvPr/>
        </p:nvSpPr>
        <p:spPr>
          <a:xfrm>
            <a:off x="4450080" y="3645408"/>
            <a:ext cx="3413760" cy="341376"/>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19" name="Text 17">
            <a:extLst>
              <a:ext uri="{FF2B5EF4-FFF2-40B4-BE49-F238E27FC236}">
                <a16:creationId xmlns:a16="http://schemas.microsoft.com/office/drawing/2014/main" id="{1F3DACE5-CB2C-7555-5428-23C5F23F7581}"/>
              </a:ext>
            </a:extLst>
          </p:cNvPr>
          <p:cNvSpPr/>
          <p:nvPr/>
        </p:nvSpPr>
        <p:spPr>
          <a:xfrm>
            <a:off x="4450080" y="3962400"/>
            <a:ext cx="3413760" cy="390144"/>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sp>
        <p:nvSpPr>
          <p:cNvPr id="20" name="Text 18">
            <a:extLst>
              <a:ext uri="{FF2B5EF4-FFF2-40B4-BE49-F238E27FC236}">
                <a16:creationId xmlns:a16="http://schemas.microsoft.com/office/drawing/2014/main" id="{ACB213E1-28B4-9608-ABA8-F586AF14600A}"/>
              </a:ext>
            </a:extLst>
          </p:cNvPr>
          <p:cNvSpPr/>
          <p:nvPr/>
        </p:nvSpPr>
        <p:spPr>
          <a:xfrm>
            <a:off x="768096" y="4724400"/>
            <a:ext cx="10924032" cy="1341120"/>
          </a:xfrm>
          <a:prstGeom prst="rect">
            <a:avLst/>
          </a:prstGeom>
          <a:noFill/>
          <a:ln/>
        </p:spPr>
        <p:txBody>
          <a:bodyPr wrap="square" lIns="0" tIns="0" rIns="0" bIns="0" rtlCol="0" anchor="ctr"/>
          <a:lstStyle/>
          <a:p>
            <a:endParaRPr lang="en-GB" sz="1600" dirty="0">
              <a:solidFill>
                <a:srgbClr val="1C2B3A"/>
              </a:solidFill>
              <a:latin typeface="Arial" panose="020B0604020202020204" pitchFamily="34" charset="0"/>
              <a:ea typeface="Calibri" pitchFamily="34" charset="-122"/>
              <a:cs typeface="Arial" panose="020B0604020202020204" pitchFamily="34" charset="0"/>
            </a:endParaRPr>
          </a:p>
        </p:txBody>
      </p:sp>
      <p:sp>
        <p:nvSpPr>
          <p:cNvPr id="23" name="Text 21">
            <a:extLst>
              <a:ext uri="{FF2B5EF4-FFF2-40B4-BE49-F238E27FC236}">
                <a16:creationId xmlns:a16="http://schemas.microsoft.com/office/drawing/2014/main" id="{602E6D72-32E1-826F-B21E-DE8203B6A4C0}"/>
              </a:ext>
            </a:extLst>
          </p:cNvPr>
          <p:cNvSpPr/>
          <p:nvPr/>
        </p:nvSpPr>
        <p:spPr>
          <a:xfrm>
            <a:off x="8351520" y="3645408"/>
            <a:ext cx="3413760" cy="341376"/>
          </a:xfrm>
          <a:prstGeom prst="rect">
            <a:avLst/>
          </a:prstGeom>
          <a:noFill/>
          <a:ln/>
        </p:spPr>
        <p:txBody>
          <a:bodyPr wrap="square" lIns="0" tIns="0" rIns="0" bIns="0" rtlCol="0" anchor="ctr"/>
          <a:lstStyle/>
          <a:p>
            <a:endParaRPr lang="en-US" sz="1600" dirty="0">
              <a:latin typeface="Arial" panose="020B0604020202020204" pitchFamily="34" charset="0"/>
              <a:cs typeface="Arial" panose="020B0604020202020204" pitchFamily="34" charset="0"/>
            </a:endParaRPr>
          </a:p>
        </p:txBody>
      </p:sp>
      <p:pic>
        <p:nvPicPr>
          <p:cNvPr id="21" name="Picture 20">
            <a:extLst>
              <a:ext uri="{FF2B5EF4-FFF2-40B4-BE49-F238E27FC236}">
                <a16:creationId xmlns:a16="http://schemas.microsoft.com/office/drawing/2014/main" id="{08615ED0-248C-CB8E-5D02-9CD239A77091}"/>
              </a:ext>
            </a:extLst>
          </p:cNvPr>
          <p:cNvPicPr>
            <a:picLocks noChangeAspect="1"/>
          </p:cNvPicPr>
          <p:nvPr/>
        </p:nvPicPr>
        <p:blipFill>
          <a:blip r:embed="rId3"/>
          <a:stretch>
            <a:fillRect/>
          </a:stretch>
        </p:blipFill>
        <p:spPr>
          <a:xfrm>
            <a:off x="90668" y="6202190"/>
            <a:ext cx="612984" cy="533890"/>
          </a:xfrm>
          <a:prstGeom prst="rect">
            <a:avLst/>
          </a:prstGeom>
        </p:spPr>
      </p:pic>
    </p:spTree>
    <p:extLst>
      <p:ext uri="{BB962C8B-B14F-4D97-AF65-F5344CB8AC3E}">
        <p14:creationId xmlns:p14="http://schemas.microsoft.com/office/powerpoint/2010/main" val="873883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000" r="-2000"/>
          </a:stretch>
        </a:blipFill>
        <a:effectLst/>
      </p:bgPr>
    </p:bg>
    <p:spTree>
      <p:nvGrpSpPr>
        <p:cNvPr id="1" name="">
          <a:extLst>
            <a:ext uri="{FF2B5EF4-FFF2-40B4-BE49-F238E27FC236}">
              <a16:creationId xmlns:a16="http://schemas.microsoft.com/office/drawing/2014/main" id="{44094180-CC72-FC74-1482-E7387F4B483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5621A79-48D5-70B8-6F95-E24E3F17DDEB}"/>
              </a:ext>
            </a:extLst>
          </p:cNvPr>
          <p:cNvSpPr/>
          <p:nvPr/>
        </p:nvSpPr>
        <p:spPr>
          <a:xfrm>
            <a:off x="0" y="0"/>
            <a:ext cx="219456" cy="6858000"/>
          </a:xfrm>
          <a:prstGeom prst="rect">
            <a:avLst/>
          </a:prstGeom>
          <a:solidFill>
            <a:srgbClr val="C9A03C"/>
          </a:solidFill>
          <a:ln w="12700">
            <a:solidFill>
              <a:srgbClr val="C9A03C"/>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3" name="Shape 1">
            <a:extLst>
              <a:ext uri="{FF2B5EF4-FFF2-40B4-BE49-F238E27FC236}">
                <a16:creationId xmlns:a16="http://schemas.microsoft.com/office/drawing/2014/main" id="{14238A08-74CE-3ED9-2024-11003CEED396}"/>
              </a:ext>
            </a:extLst>
          </p:cNvPr>
          <p:cNvSpPr/>
          <p:nvPr/>
        </p:nvSpPr>
        <p:spPr>
          <a:xfrm>
            <a:off x="219456" y="6461760"/>
            <a:ext cx="11972544" cy="396240"/>
          </a:xfrm>
          <a:prstGeom prst="rect">
            <a:avLst/>
          </a:prstGeom>
          <a:solidFill>
            <a:srgbClr val="006E7F"/>
          </a:solidFill>
          <a:ln w="12700">
            <a:solidFill>
              <a:srgbClr val="006E7F"/>
            </a:solidFill>
            <a:prstDash val="solid"/>
          </a:ln>
        </p:spPr>
        <p:txBody>
          <a:bodyPr/>
          <a:lstStyle/>
          <a:p>
            <a:endParaRPr lang="en-ZA" sz="240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45D9E7B1-245C-3728-0134-A43EA335B409}"/>
              </a:ext>
            </a:extLst>
          </p:cNvPr>
          <p:cNvSpPr/>
          <p:nvPr/>
        </p:nvSpPr>
        <p:spPr>
          <a:xfrm>
            <a:off x="609600" y="1706880"/>
            <a:ext cx="10972800" cy="1584960"/>
          </a:xfrm>
          <a:prstGeom prst="rect">
            <a:avLst/>
          </a:prstGeom>
          <a:noFill/>
          <a:ln/>
        </p:spPr>
        <p:txBody>
          <a:bodyPr wrap="square" rtlCol="0" anchor="ctr"/>
          <a:lstStyle/>
          <a:p>
            <a:pPr algn="ctr"/>
            <a:endParaRPr lang="en-US" sz="4533" dirty="0">
              <a:latin typeface="Arial" panose="020B0604020202020204" pitchFamily="34" charset="0"/>
              <a:cs typeface="Arial" panose="020B0604020202020204" pitchFamily="34" charset="0"/>
            </a:endParaRPr>
          </a:p>
        </p:txBody>
      </p:sp>
      <p:sp>
        <p:nvSpPr>
          <p:cNvPr id="6" name="Text 4">
            <a:extLst>
              <a:ext uri="{FF2B5EF4-FFF2-40B4-BE49-F238E27FC236}">
                <a16:creationId xmlns:a16="http://schemas.microsoft.com/office/drawing/2014/main" id="{3DB307D0-3D41-8C45-52AE-521809AE51B7}"/>
              </a:ext>
            </a:extLst>
          </p:cNvPr>
          <p:cNvSpPr/>
          <p:nvPr/>
        </p:nvSpPr>
        <p:spPr>
          <a:xfrm>
            <a:off x="6892505" y="3352801"/>
            <a:ext cx="4773283" cy="1645919"/>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ZA" sz="6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Thank You!!</a:t>
            </a:r>
          </a:p>
        </p:txBody>
      </p:sp>
      <p:sp>
        <p:nvSpPr>
          <p:cNvPr id="7" name="Text 5">
            <a:extLst>
              <a:ext uri="{FF2B5EF4-FFF2-40B4-BE49-F238E27FC236}">
                <a16:creationId xmlns:a16="http://schemas.microsoft.com/office/drawing/2014/main" id="{BBD66869-195B-7FA6-0D59-3476AB4B2BDF}"/>
              </a:ext>
            </a:extLst>
          </p:cNvPr>
          <p:cNvSpPr/>
          <p:nvPr/>
        </p:nvSpPr>
        <p:spPr>
          <a:xfrm>
            <a:off x="609600" y="4511040"/>
            <a:ext cx="10972800" cy="487680"/>
          </a:xfrm>
          <a:prstGeom prst="rect">
            <a:avLst/>
          </a:prstGeom>
          <a:noFill/>
          <a:ln/>
        </p:spPr>
        <p:txBody>
          <a:bodyPr wrap="square" rtlCol="0" anchor="ctr"/>
          <a:lstStyle/>
          <a:p>
            <a:pPr algn="ctr"/>
            <a:endParaRPr lang="en-US" sz="1733"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42486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B9D6D9FC-37DA-4639-AF0B-61EB9C54753A}" vid="{725E97AF-1180-44A5-9052-E7BBF75953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3384</TotalTime>
  <Words>623</Words>
  <Application>Microsoft Office PowerPoint</Application>
  <PresentationFormat>Widescreen</PresentationFormat>
  <Paragraphs>98</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 Of A Baguette</dc:creator>
  <cp:lastModifiedBy>Wandile Mgobhozi</cp:lastModifiedBy>
  <cp:revision>16</cp:revision>
  <dcterms:created xsi:type="dcterms:W3CDTF">2025-02-18T12:08:31Z</dcterms:created>
  <dcterms:modified xsi:type="dcterms:W3CDTF">2026-06-25T08:56:29Z</dcterms:modified>
</cp:coreProperties>
</file>