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9"/>
  </p:notesMasterIdLst>
  <p:sldIdLst>
    <p:sldId id="256" r:id="rId3"/>
    <p:sldId id="260" r:id="rId4"/>
    <p:sldId id="276" r:id="rId5"/>
    <p:sldId id="272" r:id="rId6"/>
    <p:sldId id="275" r:id="rId7"/>
    <p:sldId id="258"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5E9FA4-D452-4127-9805-A73E251F289C}" v="1" dt="2026-06-23T06:22:25.089"/>
  </p1510:revLst>
</p1510:revInfo>
</file>

<file path=ppt/tableStyles.xml><?xml version="1.0" encoding="utf-8"?>
<a:tblStyleLst xmlns:a="http://schemas.openxmlformats.org/drawingml/2006/main" def="{5C22544A-7EE6-4342-B048-85BDC9FD1C3A}">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4" d="100"/>
          <a:sy n="74" d="100"/>
        </p:scale>
        <p:origin x="34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2E512F-DDD1-4BF7-B509-52D82166E0A9}" type="datetimeFigureOut">
              <a:rPr lang="en-ZA" smtClean="0"/>
              <a:t>2026/06/25</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783D76-EA0F-4B21-9462-35872EA5D250}" type="slidenum">
              <a:rPr lang="en-ZA" smtClean="0"/>
              <a:t>‹#›</a:t>
            </a:fld>
            <a:endParaRPr lang="en-ZA"/>
          </a:p>
        </p:txBody>
      </p:sp>
    </p:spTree>
    <p:extLst>
      <p:ext uri="{BB962C8B-B14F-4D97-AF65-F5344CB8AC3E}">
        <p14:creationId xmlns:p14="http://schemas.microsoft.com/office/powerpoint/2010/main" val="3439372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D05C2-CE84-0E4C-1245-B1D89B40D1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9AFBCA-04D6-649F-040D-766744AF2C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70C9B3-BE30-2394-1E2F-C95B66A464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78FF2E-1792-9E7E-20A1-73F66935AA71}"/>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519510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3B596F9-5707-46A5-8A68-4BEA380BFF85}"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3488975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3B596F9-5707-46A5-8A68-4BEA380BFF85}"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3900973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3B596F9-5707-46A5-8A68-4BEA380BFF85}"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2672582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3B596F9-5707-46A5-8A68-4BEA380BFF85}"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815907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3B596F9-5707-46A5-8A68-4BEA380BFF85}" type="datetimeFigureOut">
              <a:rPr lang="en-US" smtClean="0"/>
              <a:t>6/25/2026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27104791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3B596F9-5707-46A5-8A68-4BEA380BFF85}" type="datetimeFigureOut">
              <a:rPr lang="en-US" smtClean="0"/>
              <a:t>6/25/2026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826416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B596F9-5707-46A5-8A68-4BEA380BFF85}" type="datetimeFigureOut">
              <a:rPr lang="en-US" smtClean="0"/>
              <a:t>6/25/2026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3574846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3B596F9-5707-46A5-8A68-4BEA380BFF85}"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6477840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3B596F9-5707-46A5-8A68-4BEA380BFF85}"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28381475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3B596F9-5707-46A5-8A68-4BEA380BFF85}"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605231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3B596F9-5707-46A5-8A68-4BEA380BFF85}"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18751591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3B596F9-5707-46A5-8A68-4BEA380BFF85}"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32865221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3B596F9-5707-46A5-8A68-4BEA380BFF85}"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27043137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3B596F9-5707-46A5-8A68-4BEA380BFF85}"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19282240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3B596F9-5707-46A5-8A68-4BEA380BFF85}"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20971830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3B596F9-5707-46A5-8A68-4BEA380BFF85}" type="datetimeFigureOut">
              <a:rPr lang="en-US" smtClean="0"/>
              <a:t>6/25/2026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13859429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3B596F9-5707-46A5-8A68-4BEA380BFF85}" type="datetimeFigureOut">
              <a:rPr lang="en-US" smtClean="0"/>
              <a:t>6/25/2026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27042661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B596F9-5707-46A5-8A68-4BEA380BFF85}" type="datetimeFigureOut">
              <a:rPr lang="en-US" smtClean="0"/>
              <a:t>6/25/2026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22199209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3B596F9-5707-46A5-8A68-4BEA380BFF85}"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27309139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3B596F9-5707-46A5-8A68-4BEA380BFF85}"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29958601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3B596F9-5707-46A5-8A68-4BEA380BFF85}"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18276498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3B596F9-5707-46A5-8A68-4BEA380BFF85}"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34950468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45894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B596F9-5707-46A5-8A68-4BEA380BFF85}" type="datetimeFigureOut">
              <a:rPr lang="en-US" smtClean="0"/>
              <a:t>6/25/2026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3E498B-40D9-43BB-A4C0-6EA5CC57FDCC}" type="slidenum">
              <a:rPr lang="en-US" smtClean="0"/>
              <a:t>‹#›</a:t>
            </a:fld>
            <a:endParaRPr lang="en-US"/>
          </a:p>
        </p:txBody>
      </p:sp>
    </p:spTree>
    <p:extLst>
      <p:ext uri="{BB962C8B-B14F-4D97-AF65-F5344CB8AC3E}">
        <p14:creationId xmlns:p14="http://schemas.microsoft.com/office/powerpoint/2010/main" val="6555622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B596F9-5707-46A5-8A68-4BEA380BFF85}" type="datetimeFigureOut">
              <a:rPr lang="en-US" smtClean="0"/>
              <a:t>6/25/2026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3E498B-40D9-43BB-A4C0-6EA5CC57FDCC}" type="slidenum">
              <a:rPr lang="en-US" smtClean="0"/>
              <a:t>‹#›</a:t>
            </a:fld>
            <a:endParaRPr lang="en-US"/>
          </a:p>
        </p:txBody>
      </p:sp>
    </p:spTree>
    <p:extLst>
      <p:ext uri="{BB962C8B-B14F-4D97-AF65-F5344CB8AC3E}">
        <p14:creationId xmlns:p14="http://schemas.microsoft.com/office/powerpoint/2010/main" val="37050137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emf"/><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package" Target="../embeddings/Microsoft_Excel_Worksheet1.xlsx"/><Relationship Id="rId5" Type="http://schemas.openxmlformats.org/officeDocument/2006/relationships/image" Target="../media/image4.emf"/><Relationship Id="rId4" Type="http://schemas.openxmlformats.org/officeDocument/2006/relationships/package" Target="../embeddings/Microsoft_Excel_Worksheet.xlsx"/></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90" y="-1"/>
            <a:ext cx="12319744" cy="6880359"/>
          </a:xfrm>
          <a:prstGeom prst="rect">
            <a:avLst/>
          </a:prstGeom>
        </p:spPr>
      </p:pic>
      <p:sp>
        <p:nvSpPr>
          <p:cNvPr id="7" name="TextBox 6">
            <a:extLst>
              <a:ext uri="{FF2B5EF4-FFF2-40B4-BE49-F238E27FC236}">
                <a16:creationId xmlns:a16="http://schemas.microsoft.com/office/drawing/2014/main" id="{AC101373-FF6B-019D-FB7E-48F2DFF4F448}"/>
              </a:ext>
            </a:extLst>
          </p:cNvPr>
          <p:cNvSpPr txBox="1"/>
          <p:nvPr/>
        </p:nvSpPr>
        <p:spPr>
          <a:xfrm>
            <a:off x="361374" y="1494195"/>
            <a:ext cx="6593153" cy="1446550"/>
          </a:xfrm>
          <a:prstGeom prst="rect">
            <a:avLst/>
          </a:prstGeom>
          <a:noFill/>
        </p:spPr>
        <p:txBody>
          <a:bodyPr wrap="square" rtlCol="0">
            <a:spAutoFit/>
          </a:bodyPr>
          <a:lstStyle/>
          <a:p>
            <a:pPr algn="ctr"/>
            <a:r>
              <a:rPr lang="en-GB" sz="4400" b="1" dirty="0">
                <a:solidFill>
                  <a:schemeClr val="accent5">
                    <a:lumMod val="50000"/>
                  </a:schemeClr>
                </a:solidFill>
                <a:latin typeface="Arial" panose="020B0604020202020204" pitchFamily="34" charset="0"/>
                <a:cs typeface="Arial" panose="020B0604020202020204" pitchFamily="34" charset="0"/>
              </a:rPr>
              <a:t>29</a:t>
            </a:r>
            <a:r>
              <a:rPr lang="en-GB" sz="4400" b="1" baseline="30000" dirty="0">
                <a:solidFill>
                  <a:schemeClr val="accent5">
                    <a:lumMod val="50000"/>
                  </a:schemeClr>
                </a:solidFill>
                <a:latin typeface="Arial" panose="020B0604020202020204" pitchFamily="34" charset="0"/>
                <a:cs typeface="Arial" panose="020B0604020202020204" pitchFamily="34" charset="0"/>
              </a:rPr>
              <a:t>TH</a:t>
            </a:r>
            <a:r>
              <a:rPr lang="en-GB" sz="4400" b="1" dirty="0">
                <a:solidFill>
                  <a:schemeClr val="accent5">
                    <a:lumMod val="50000"/>
                  </a:schemeClr>
                </a:solidFill>
                <a:latin typeface="Arial" panose="020B0604020202020204" pitchFamily="34" charset="0"/>
                <a:cs typeface="Arial" panose="020B0604020202020204" pitchFamily="34" charset="0"/>
              </a:rPr>
              <a:t> ANNUAL GENERAL MEETING</a:t>
            </a:r>
          </a:p>
        </p:txBody>
      </p:sp>
      <p:sp>
        <p:nvSpPr>
          <p:cNvPr id="8" name="TextBox 7">
            <a:extLst>
              <a:ext uri="{FF2B5EF4-FFF2-40B4-BE49-F238E27FC236}">
                <a16:creationId xmlns:a16="http://schemas.microsoft.com/office/drawing/2014/main" id="{78860280-18EA-1D15-A7EA-FBFA269A30EB}"/>
              </a:ext>
            </a:extLst>
          </p:cNvPr>
          <p:cNvSpPr txBox="1"/>
          <p:nvPr/>
        </p:nvSpPr>
        <p:spPr>
          <a:xfrm>
            <a:off x="881426" y="3024704"/>
            <a:ext cx="5553047" cy="892552"/>
          </a:xfrm>
          <a:prstGeom prst="rect">
            <a:avLst/>
          </a:prstGeom>
          <a:noFill/>
        </p:spPr>
        <p:txBody>
          <a:bodyPr wrap="square" rtlCol="0">
            <a:spAutoFit/>
          </a:bodyPr>
          <a:lstStyle/>
          <a:p>
            <a:pPr algn="ctr"/>
            <a:r>
              <a:rPr lang="en-GB" sz="2400" dirty="0">
                <a:solidFill>
                  <a:schemeClr val="accent6">
                    <a:lumMod val="75000"/>
                  </a:schemeClr>
                </a:solidFill>
                <a:latin typeface="Arial" panose="020B0604020202020204" pitchFamily="34" charset="0"/>
                <a:cs typeface="Arial" panose="020B0604020202020204" pitchFamily="34" charset="0"/>
              </a:rPr>
              <a:t>DETERMINATION OF VOTE WEIGHTS AS AT DECEMBER 2025</a:t>
            </a:r>
            <a:r>
              <a:rPr lang="en-GB" sz="2800" dirty="0">
                <a:latin typeface="Arial" panose="020B0604020202020204" pitchFamily="34" charset="0"/>
                <a:cs typeface="Arial" panose="020B0604020202020204" pitchFamily="34" charset="0"/>
              </a:rPr>
              <a:t> </a:t>
            </a:r>
            <a:endParaRPr lang="en-ZA"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988926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4"/>
          <p:cNvSpPr/>
          <p:nvPr/>
        </p:nvSpPr>
        <p:spPr>
          <a:xfrm>
            <a:off x="365760" y="1524000"/>
            <a:ext cx="6561251" cy="4693920"/>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 name="Shape 8"/>
          <p:cNvSpPr/>
          <p:nvPr/>
        </p:nvSpPr>
        <p:spPr>
          <a:xfrm>
            <a:off x="7433496" y="1524000"/>
            <a:ext cx="4267200" cy="4693920"/>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17" name="Picture 16">
            <a:extLst>
              <a:ext uri="{FF2B5EF4-FFF2-40B4-BE49-F238E27FC236}">
                <a16:creationId xmlns:a16="http://schemas.microsoft.com/office/drawing/2014/main" id="{E6B8DDE7-D232-3CA6-1028-4547DF7DEA4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Shape 0"/>
          <p:cNvSpPr/>
          <p:nvPr/>
        </p:nvSpPr>
        <p:spPr>
          <a:xfrm>
            <a:off x="0" y="0"/>
            <a:ext cx="12192000" cy="1341120"/>
          </a:xfrm>
          <a:prstGeom prst="rect">
            <a:avLst/>
          </a:prstGeom>
          <a:solidFill>
            <a:srgbClr val="1A3A5C"/>
          </a:solidFill>
          <a:ln w="12700">
            <a:solidFill>
              <a:srgbClr val="1A3A5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 name="Text 1"/>
          <p:cNvSpPr/>
          <p:nvPr/>
        </p:nvSpPr>
        <p:spPr>
          <a:xfrm>
            <a:off x="365760" y="286512"/>
            <a:ext cx="4317233" cy="6705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chemeClr val="bg1"/>
                </a:solidFill>
                <a:effectLst/>
                <a:uLnTx/>
                <a:uFillTx/>
                <a:latin typeface="Arial" panose="020B0604020202020204" pitchFamily="34" charset="0"/>
                <a:ea typeface="+mj-ea"/>
                <a:cs typeface="Arial" panose="020B0604020202020204" pitchFamily="34" charset="0"/>
              </a:rPr>
              <a:t>Legislative Mandate </a:t>
            </a:r>
            <a:endParaRPr kumimoji="0" lang="en-US" sz="3400"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5" name="Shape 3"/>
          <p:cNvSpPr/>
          <p:nvPr/>
        </p:nvSpPr>
        <p:spPr>
          <a:xfrm>
            <a:off x="0" y="1341120"/>
            <a:ext cx="12192000" cy="60960"/>
          </a:xfrm>
          <a:prstGeom prst="rect">
            <a:avLst/>
          </a:prstGeom>
          <a:solidFill>
            <a:srgbClr val="C9A03C"/>
          </a:solidFill>
          <a:ln w="12700">
            <a:solidFill>
              <a:srgbClr val="C9A0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 name="Shape 5"/>
          <p:cNvSpPr/>
          <p:nvPr/>
        </p:nvSpPr>
        <p:spPr>
          <a:xfrm>
            <a:off x="365760" y="1524000"/>
            <a:ext cx="76892" cy="4229819"/>
          </a:xfrm>
          <a:prstGeom prst="rect">
            <a:avLst/>
          </a:prstGeom>
          <a:solidFill>
            <a:srgbClr val="1A3A5C"/>
          </a:solidFill>
          <a:ln w="12700">
            <a:solidFill>
              <a:srgbClr val="1A3A5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 name="Text 6"/>
          <p:cNvSpPr/>
          <p:nvPr/>
        </p:nvSpPr>
        <p:spPr>
          <a:xfrm>
            <a:off x="609599" y="1645920"/>
            <a:ext cx="5308121" cy="4876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ZA" sz="2000" b="1" i="0" u="none" strike="noStrike" kern="0" cap="none" spc="0" normalizeH="0" baseline="0" noProof="0" dirty="0">
                <a:ln/>
                <a:solidFill>
                  <a:sysClr val="windowText" lastClr="000000"/>
                </a:solidFill>
                <a:effectLst/>
                <a:uLnTx/>
                <a:uFillTx/>
                <a:latin typeface="Calibri" panose="020F0502020204030204" pitchFamily="34" charset="0"/>
                <a:ea typeface="Calibri" panose="020F0502020204030204" pitchFamily="34" charset="0"/>
                <a:cs typeface="Times New Roman" panose="02020603050405020304" pitchFamily="18" charset="0"/>
              </a:rPr>
              <a:t>Clause 10.1 – Submission of Membership Figures</a:t>
            </a:r>
            <a:endParaRPr kumimoji="0" lang="en-ZA" sz="2000" b="0" i="0" u="none" strike="noStrike" kern="0" cap="none" spc="0" normalizeH="0" baseline="0" noProof="0" dirty="0">
              <a:ln>
                <a:noFill/>
              </a:ln>
              <a:solidFill>
                <a:sysClr val="windowText" lastClr="000000"/>
              </a:solidFill>
              <a:effectLst/>
              <a:uLnTx/>
              <a:uFillTx/>
            </a:endParaRPr>
          </a:p>
        </p:txBody>
      </p:sp>
      <p:sp>
        <p:nvSpPr>
          <p:cNvPr id="9" name="Text 7"/>
          <p:cNvSpPr/>
          <p:nvPr/>
        </p:nvSpPr>
        <p:spPr>
          <a:xfrm>
            <a:off x="609600" y="2231136"/>
            <a:ext cx="6461760" cy="37795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1" name="Shape 9"/>
          <p:cNvSpPr/>
          <p:nvPr/>
        </p:nvSpPr>
        <p:spPr>
          <a:xfrm>
            <a:off x="7348152" y="1524000"/>
            <a:ext cx="85344" cy="4693920"/>
          </a:xfrm>
          <a:prstGeom prst="rect">
            <a:avLst/>
          </a:prstGeom>
          <a:solidFill>
            <a:srgbClr val="C9A03C"/>
          </a:solidFill>
          <a:ln w="12700">
            <a:solidFill>
              <a:srgbClr val="C9A0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2" name="Text 10"/>
          <p:cNvSpPr/>
          <p:nvPr/>
        </p:nvSpPr>
        <p:spPr>
          <a:xfrm>
            <a:off x="7802880" y="1645920"/>
            <a:ext cx="3779520" cy="4876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ZA" sz="2000" b="1" i="0" u="none" strike="noStrike" kern="0" cap="none" spc="0" normalizeH="0" baseline="0" noProof="0" dirty="0">
                <a:ln/>
                <a:solidFill>
                  <a:sysClr val="windowText" lastClr="000000"/>
                </a:solidFill>
                <a:effectLst/>
                <a:uLnTx/>
                <a:uFillTx/>
                <a:latin typeface="Calibri" panose="020F0502020204030204" pitchFamily="34" charset="0"/>
                <a:ea typeface="Calibri" panose="020F0502020204030204" pitchFamily="34" charset="0"/>
                <a:cs typeface="Times New Roman" panose="02020603050405020304" pitchFamily="18" charset="0"/>
              </a:rPr>
              <a:t>Clause 12.2 – Allocation of Seats</a:t>
            </a:r>
            <a:endParaRPr kumimoji="0" lang="en-ZA" sz="2000" b="0" i="0" u="none" strike="noStrike" kern="0" cap="none" spc="0" normalizeH="0" baseline="0" noProof="0" dirty="0">
              <a:ln>
                <a:noFill/>
              </a:ln>
              <a:solidFill>
                <a:sysClr val="windowText" lastClr="000000"/>
              </a:solidFill>
              <a:effectLst/>
              <a:uLnTx/>
              <a:uFillTx/>
            </a:endParaRPr>
          </a:p>
        </p:txBody>
      </p:sp>
      <p:sp>
        <p:nvSpPr>
          <p:cNvPr id="13" name="Text 11"/>
          <p:cNvSpPr/>
          <p:nvPr/>
        </p:nvSpPr>
        <p:spPr>
          <a:xfrm>
            <a:off x="7802880" y="2231136"/>
            <a:ext cx="3779520" cy="3779520"/>
          </a:xfrm>
          <a:prstGeom prst="rect">
            <a:avLst/>
          </a:prstGeom>
          <a:noFill/>
          <a:ln/>
        </p:spPr>
        <p:txBody>
          <a:bodyPr wrap="square" rtlCol="0" anchor="ctr"/>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0" cap="none" spc="0" normalizeH="0" baseline="0" noProof="0" dirty="0">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Three (</a:t>
            </a:r>
            <a:r>
              <a:rPr kumimoji="0" lang="en-US" sz="1800" b="1" i="0" u="none" strike="noStrike" kern="0" cap="none" spc="0" normalizeH="0" baseline="0" noProof="0" dirty="0">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3</a:t>
            </a:r>
            <a:r>
              <a:rPr kumimoji="0" lang="en-US" sz="1800" b="0" i="0" u="none" strike="noStrike" kern="0" cap="none" spc="0" normalizeH="0" baseline="0" noProof="0" dirty="0">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 representatives - first </a:t>
            </a:r>
            <a:r>
              <a:rPr kumimoji="0" lang="en-US" sz="1800" b="1" i="0" u="none" strike="noStrike" kern="0" cap="none" spc="0" normalizeH="0" baseline="0" noProof="0" dirty="0">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50 000 </a:t>
            </a:r>
            <a:r>
              <a:rPr kumimoji="0" lang="en-US" sz="1800" b="0" i="0" u="none" strike="noStrike" kern="0" cap="none" spc="0" normalizeH="0" baseline="0" noProof="0" dirty="0">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members, then</a:t>
            </a:r>
            <a:endParaRPr kumimoji="0" lang="en-ZA" sz="18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endParaRPr>
          </a:p>
          <a:p>
            <a:pPr marL="285750" marR="0" lvl="0" indent="-285750" defTabSz="914400" eaLnBrk="1" fontAlgn="auto" latinLnBrk="0" hangingPunct="1">
              <a:lnSpc>
                <a:spcPct val="100000"/>
              </a:lnSpc>
              <a:spcBef>
                <a:spcPts val="1200"/>
              </a:spcBef>
              <a:spcAft>
                <a:spcPts val="1200"/>
              </a:spcAft>
              <a:buClrTx/>
              <a:buSzTx/>
              <a:buFont typeface="Arial" panose="020B0604020202020204" pitchFamily="34" charset="0"/>
              <a:buChar char="•"/>
              <a:tabLst/>
              <a:defRPr/>
            </a:pPr>
            <a:r>
              <a:rPr kumimoji="0" lang="en-US" sz="1800" b="0" i="0" u="none" strike="noStrike" kern="0" cap="none" spc="0" normalizeH="0" baseline="0" noProof="0" dirty="0">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One (</a:t>
            </a:r>
            <a:r>
              <a:rPr kumimoji="0" lang="en-US" sz="1800" b="1" i="0" u="none" strike="noStrike" kern="0" cap="none" spc="0" normalizeH="0" baseline="0" noProof="0" dirty="0">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1</a:t>
            </a:r>
            <a:r>
              <a:rPr kumimoji="0" lang="en-US" sz="1800" b="0" i="0" u="none" strike="noStrike" kern="0" cap="none" spc="0" normalizeH="0" baseline="0" noProof="0" dirty="0">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 additional representative for every additional </a:t>
            </a:r>
            <a:r>
              <a:rPr kumimoji="0" lang="en-US" sz="1800" b="1" i="0" u="none" strike="noStrike" kern="0" cap="none" spc="0" normalizeH="0" baseline="0" noProof="0" dirty="0">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30 000 </a:t>
            </a:r>
            <a:r>
              <a:rPr kumimoji="0" lang="en-US" sz="1800" b="0" i="0" u="none" strike="noStrike" kern="0" cap="none" spc="0" normalizeH="0" baseline="0" noProof="0" dirty="0">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members or part thereof up to a maximum of five representatives.</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0" cap="none" spc="0" normalizeH="0" baseline="0" noProof="0" dirty="0">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The expression “</a:t>
            </a:r>
            <a:r>
              <a:rPr kumimoji="0" lang="en-US" sz="1800" b="0" i="1" u="none" strike="noStrike" kern="0" cap="none" spc="0" normalizeH="0" baseline="0" noProof="0" dirty="0">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part thereof</a:t>
            </a:r>
            <a:r>
              <a:rPr kumimoji="0" lang="en-US" sz="1800" b="0" i="0" u="none" strike="noStrike" kern="0" cap="none" spc="0" normalizeH="0" baseline="0" noProof="0" dirty="0">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 means members more than </a:t>
            </a:r>
            <a:r>
              <a:rPr kumimoji="0" lang="en-US" sz="1800" b="1" i="0" u="none" strike="noStrike" kern="0" cap="none" spc="0" normalizeH="0" baseline="0" noProof="0" dirty="0">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15 000 </a:t>
            </a:r>
            <a:r>
              <a:rPr kumimoji="0" lang="en-US" sz="1800" b="0" i="0" u="none" strike="noStrike" kern="0" cap="none" spc="0" normalizeH="0" baseline="0" noProof="0" dirty="0">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members</a:t>
            </a:r>
            <a:endParaRPr kumimoji="0" lang="en-ZA" sz="18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5ADA1D89-3099-5062-A6F2-6D927222D347}"/>
              </a:ext>
            </a:extLst>
          </p:cNvPr>
          <p:cNvSpPr txBox="1"/>
          <p:nvPr/>
        </p:nvSpPr>
        <p:spPr>
          <a:xfrm>
            <a:off x="587001" y="2298192"/>
            <a:ext cx="6098874" cy="4001095"/>
          </a:xfrm>
          <a:prstGeom prst="rect">
            <a:avLst/>
          </a:prstGeom>
          <a:noFill/>
        </p:spPr>
        <p:txBody>
          <a:bodyPr wrap="square">
            <a:spAutoFit/>
          </a:bodyPr>
          <a:lstStyle/>
          <a:p>
            <a:pPr marL="285750" lvl="0" indent="-285750" algn="just">
              <a:buClrTx/>
              <a:buSzTx/>
              <a:buFont typeface="Arial" panose="020B0604020202020204" pitchFamily="34" charset="0"/>
              <a:buChar char="•"/>
            </a:pPr>
            <a:r>
              <a:rPr kumimoji="0" lang="en-US" b="0" i="0" u="none" strike="noStrike" cap="none" spc="0" normalizeH="0" baseline="0" noProof="0" dirty="0">
                <a:ln/>
                <a:effectLst/>
                <a:uLnTx/>
                <a:uFillTx/>
                <a:latin typeface="Arial" panose="020B0604020202020204" pitchFamily="34" charset="0"/>
                <a:cs typeface="Arial" panose="020B0604020202020204" pitchFamily="34" charset="0"/>
              </a:rPr>
              <a:t>Each admitted trade union must submit to the Secretary by </a:t>
            </a:r>
            <a:r>
              <a:rPr kumimoji="0" lang="en-US" b="1" i="0" u="none" strike="noStrike" cap="none" spc="0" normalizeH="0" baseline="0" noProof="0" dirty="0">
                <a:ln/>
                <a:effectLst/>
                <a:uLnTx/>
                <a:uFillTx/>
                <a:latin typeface="Arial" panose="020B0604020202020204" pitchFamily="34" charset="0"/>
                <a:cs typeface="Arial" panose="020B0604020202020204" pitchFamily="34" charset="0"/>
              </a:rPr>
              <a:t>31 March </a:t>
            </a:r>
            <a:r>
              <a:rPr kumimoji="0" lang="en-US" b="0" i="0" u="none" strike="noStrike" cap="none" spc="0" normalizeH="0" baseline="0" noProof="0" dirty="0">
                <a:ln/>
                <a:effectLst/>
                <a:uLnTx/>
                <a:uFillTx/>
                <a:latin typeface="Arial" panose="020B0604020202020204" pitchFamily="34" charset="0"/>
                <a:cs typeface="Arial" panose="020B0604020202020204" pitchFamily="34" charset="0"/>
              </a:rPr>
              <a:t>each year its audited or verified membership figures.</a:t>
            </a:r>
            <a:endParaRPr lang="en-ZA" dirty="0">
              <a:latin typeface="Arial" panose="020B0604020202020204" pitchFamily="34" charset="0"/>
              <a:cs typeface="Arial" panose="020B0604020202020204" pitchFamily="34" charset="0"/>
            </a:endParaRPr>
          </a:p>
          <a:p>
            <a:pPr marL="285750" lvl="0" indent="-285750" algn="just">
              <a:spcBef>
                <a:spcPts val="600"/>
              </a:spcBef>
              <a:spcAft>
                <a:spcPts val="600"/>
              </a:spcAft>
              <a:buFont typeface="Arial" panose="020B0604020202020204" pitchFamily="34" charset="0"/>
              <a:buChar char="•"/>
            </a:pPr>
            <a:r>
              <a:rPr kumimoji="0" lang="en-US" b="0" i="0" u="none" strike="noStrike" cap="none" spc="0" normalizeH="0" baseline="0" noProof="0" dirty="0">
                <a:ln/>
                <a:effectLst/>
                <a:uLnTx/>
                <a:uFillTx/>
                <a:latin typeface="Arial" panose="020B0604020202020204" pitchFamily="34" charset="0"/>
                <a:cs typeface="Arial" panose="020B0604020202020204" pitchFamily="34" charset="0"/>
              </a:rPr>
              <a:t>The audited or verified membership figures (</a:t>
            </a:r>
            <a:r>
              <a:rPr kumimoji="0" lang="en-US" b="0" i="1" u="none" strike="noStrike" cap="none" spc="0" normalizeH="0" baseline="0" noProof="0" dirty="0">
                <a:ln/>
                <a:effectLst/>
                <a:uLnTx/>
                <a:uFillTx/>
                <a:latin typeface="Arial" panose="020B0604020202020204" pitchFamily="34" charset="0"/>
                <a:cs typeface="Arial" panose="020B0604020202020204" pitchFamily="34" charset="0"/>
              </a:rPr>
              <a:t>as the case may be</a:t>
            </a:r>
            <a:r>
              <a:rPr kumimoji="0" lang="en-US" b="0" i="0" u="none" strike="noStrike" cap="none" spc="0" normalizeH="0" baseline="0" noProof="0" dirty="0">
                <a:ln/>
                <a:effectLst/>
                <a:uLnTx/>
                <a:uFillTx/>
                <a:latin typeface="Arial" panose="020B0604020202020204" pitchFamily="34" charset="0"/>
                <a:cs typeface="Arial" panose="020B0604020202020204" pitchFamily="34" charset="0"/>
              </a:rPr>
              <a:t>) must be as at </a:t>
            </a:r>
            <a:r>
              <a:rPr kumimoji="0" lang="en-US" b="1" i="0" u="none" strike="noStrike" cap="none" spc="0" normalizeH="0" baseline="0" noProof="0" dirty="0">
                <a:ln/>
                <a:effectLst/>
                <a:uLnTx/>
                <a:uFillTx/>
                <a:latin typeface="Arial" panose="020B0604020202020204" pitchFamily="34" charset="0"/>
                <a:cs typeface="Arial" panose="020B0604020202020204" pitchFamily="34" charset="0"/>
              </a:rPr>
              <a:t>31 December </a:t>
            </a:r>
            <a:r>
              <a:rPr kumimoji="0" lang="en-US" b="0" i="0" u="none" strike="noStrike" cap="none" spc="0" normalizeH="0" baseline="0" noProof="0" dirty="0">
                <a:ln/>
                <a:effectLst/>
                <a:uLnTx/>
                <a:uFillTx/>
                <a:latin typeface="Arial" panose="020B0604020202020204" pitchFamily="34" charset="0"/>
                <a:cs typeface="Arial" panose="020B0604020202020204" pitchFamily="34" charset="0"/>
              </a:rPr>
              <a:t>of the previous year.</a:t>
            </a:r>
          </a:p>
          <a:p>
            <a:pPr marL="285750" lvl="0" indent="-285750" algn="just">
              <a:spcBef>
                <a:spcPts val="600"/>
              </a:spcBef>
              <a:spcAft>
                <a:spcPts val="600"/>
              </a:spcAft>
              <a:buFont typeface="Arial" panose="020B0604020202020204" pitchFamily="34" charset="0"/>
              <a:buChar char="•"/>
            </a:pPr>
            <a:r>
              <a:rPr kumimoji="0" lang="en-US" b="0" i="0" u="none" strike="noStrike" cap="none" spc="0" normalizeH="0" baseline="0" noProof="0" dirty="0">
                <a:ln/>
                <a:effectLst/>
                <a:uLnTx/>
                <a:uFillTx/>
                <a:latin typeface="Arial" panose="020B0604020202020204" pitchFamily="34" charset="0"/>
                <a:cs typeface="Arial" panose="020B0604020202020204" pitchFamily="34" charset="0"/>
              </a:rPr>
              <a:t>Members must fall within the registered scope of the Council and according to the sectors falling within the registered scope of the Council as referred to in section 100(a) of the Act.</a:t>
            </a:r>
          </a:p>
          <a:p>
            <a:pPr marL="285750" lvl="0" indent="-285750" algn="just">
              <a:buFont typeface="Arial" panose="020B0604020202020204" pitchFamily="34" charset="0"/>
              <a:buChar char="•"/>
            </a:pPr>
            <a:r>
              <a:rPr kumimoji="0" lang="en-US" b="0" i="0" u="none" strike="noStrike" cap="none" spc="0" normalizeH="0" baseline="0" noProof="0" dirty="0">
                <a:ln/>
                <a:effectLst/>
                <a:uLnTx/>
                <a:uFillTx/>
                <a:latin typeface="Arial" panose="020B0604020202020204" pitchFamily="34" charset="0"/>
                <a:cs typeface="Arial" panose="020B0604020202020204" pitchFamily="34" charset="0"/>
              </a:rPr>
              <a:t>The Council will determine during which years audited membership figures and during which years verified membership figures must be submitted. </a:t>
            </a:r>
            <a:endParaRPr kumimoji="0" lang="en-ZA" b="0" i="0" u="none" strike="noStrike" cap="none" spc="0" normalizeH="0" baseline="0" noProof="0" dirty="0">
              <a:ln/>
              <a:effectLst/>
              <a:uLnTx/>
              <a:uFillTx/>
              <a:latin typeface="Arial" panose="020B0604020202020204" pitchFamily="34" charset="0"/>
              <a:cs typeface="Arial" panose="020B0604020202020204" pitchFamily="34" charset="0"/>
            </a:endParaRPr>
          </a:p>
        </p:txBody>
      </p:sp>
      <p:pic>
        <p:nvPicPr>
          <p:cNvPr id="18" name="Picture 17">
            <a:extLst>
              <a:ext uri="{FF2B5EF4-FFF2-40B4-BE49-F238E27FC236}">
                <a16:creationId xmlns:a16="http://schemas.microsoft.com/office/drawing/2014/main" id="{32E515EF-B08C-435F-81BB-D95906BA95A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0092" y="5796106"/>
            <a:ext cx="1134646" cy="98874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5DDA8-9A91-CD10-0933-BDA768C6736E}"/>
            </a:ext>
          </a:extLst>
        </p:cNvPr>
        <p:cNvGrpSpPr/>
        <p:nvPr/>
      </p:nvGrpSpPr>
      <p:grpSpPr>
        <a:xfrm>
          <a:off x="0" y="0"/>
          <a:ext cx="0" cy="0"/>
          <a:chOff x="0" y="0"/>
          <a:chExt cx="0" cy="0"/>
        </a:xfrm>
      </p:grpSpPr>
      <p:sp>
        <p:nvSpPr>
          <p:cNvPr id="6" name="Shape 4">
            <a:extLst>
              <a:ext uri="{FF2B5EF4-FFF2-40B4-BE49-F238E27FC236}">
                <a16:creationId xmlns:a16="http://schemas.microsoft.com/office/drawing/2014/main" id="{09964332-2070-9702-BD2D-2A9BE2A3B2A3}"/>
              </a:ext>
            </a:extLst>
          </p:cNvPr>
          <p:cNvSpPr/>
          <p:nvPr/>
        </p:nvSpPr>
        <p:spPr>
          <a:xfrm>
            <a:off x="3065828" y="1524000"/>
            <a:ext cx="6461760" cy="4693920"/>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14" name="Picture 13">
            <a:extLst>
              <a:ext uri="{FF2B5EF4-FFF2-40B4-BE49-F238E27FC236}">
                <a16:creationId xmlns:a16="http://schemas.microsoft.com/office/drawing/2014/main" id="{B1C185F6-6781-CC61-A4F1-F56CD164DDB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
            <a:ext cx="12192000" cy="6858001"/>
          </a:xfrm>
          <a:prstGeom prst="rect">
            <a:avLst/>
          </a:prstGeom>
        </p:spPr>
      </p:pic>
      <p:sp>
        <p:nvSpPr>
          <p:cNvPr id="2" name="Shape 0">
            <a:extLst>
              <a:ext uri="{FF2B5EF4-FFF2-40B4-BE49-F238E27FC236}">
                <a16:creationId xmlns:a16="http://schemas.microsoft.com/office/drawing/2014/main" id="{6D25229F-1AC9-829C-481B-CCA2E6794E13}"/>
              </a:ext>
            </a:extLst>
          </p:cNvPr>
          <p:cNvSpPr/>
          <p:nvPr/>
        </p:nvSpPr>
        <p:spPr>
          <a:xfrm>
            <a:off x="0" y="0"/>
            <a:ext cx="12192000" cy="1341120"/>
          </a:xfrm>
          <a:prstGeom prst="rect">
            <a:avLst/>
          </a:prstGeom>
          <a:solidFill>
            <a:srgbClr val="1A3A5C"/>
          </a:solidFill>
          <a:ln w="12700">
            <a:solidFill>
              <a:srgbClr val="1A3A5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 name="Text 1">
            <a:extLst>
              <a:ext uri="{FF2B5EF4-FFF2-40B4-BE49-F238E27FC236}">
                <a16:creationId xmlns:a16="http://schemas.microsoft.com/office/drawing/2014/main" id="{0FCF55E5-ACA8-52C1-5DC2-18C486F0DA71}"/>
              </a:ext>
            </a:extLst>
          </p:cNvPr>
          <p:cNvSpPr/>
          <p:nvPr/>
        </p:nvSpPr>
        <p:spPr>
          <a:xfrm>
            <a:off x="365760" y="286512"/>
            <a:ext cx="4317233" cy="6705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chemeClr val="bg1"/>
                </a:solidFill>
                <a:effectLst/>
                <a:uLnTx/>
                <a:uFillTx/>
                <a:latin typeface="Arial" panose="020B0604020202020204" pitchFamily="34" charset="0"/>
                <a:ea typeface="+mj-ea"/>
                <a:cs typeface="Arial" panose="020B0604020202020204" pitchFamily="34" charset="0"/>
              </a:rPr>
              <a:t>Legislative Mandate </a:t>
            </a:r>
            <a:endParaRPr kumimoji="0" lang="en-US" sz="3400"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5" name="Shape 3">
            <a:extLst>
              <a:ext uri="{FF2B5EF4-FFF2-40B4-BE49-F238E27FC236}">
                <a16:creationId xmlns:a16="http://schemas.microsoft.com/office/drawing/2014/main" id="{514CB768-706C-C4CC-6515-B8B08729EF0F}"/>
              </a:ext>
            </a:extLst>
          </p:cNvPr>
          <p:cNvSpPr/>
          <p:nvPr/>
        </p:nvSpPr>
        <p:spPr>
          <a:xfrm>
            <a:off x="0" y="1341120"/>
            <a:ext cx="12192000" cy="60960"/>
          </a:xfrm>
          <a:prstGeom prst="rect">
            <a:avLst/>
          </a:prstGeom>
          <a:solidFill>
            <a:srgbClr val="C9A03C"/>
          </a:solidFill>
          <a:ln w="12700">
            <a:solidFill>
              <a:srgbClr val="C9A0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 name="Shape 5">
            <a:extLst>
              <a:ext uri="{FF2B5EF4-FFF2-40B4-BE49-F238E27FC236}">
                <a16:creationId xmlns:a16="http://schemas.microsoft.com/office/drawing/2014/main" id="{C1BAA01D-8F4B-9694-00C4-1625714F85E6}"/>
              </a:ext>
            </a:extLst>
          </p:cNvPr>
          <p:cNvSpPr/>
          <p:nvPr/>
        </p:nvSpPr>
        <p:spPr>
          <a:xfrm>
            <a:off x="2957567" y="1524000"/>
            <a:ext cx="85344" cy="4693920"/>
          </a:xfrm>
          <a:prstGeom prst="rect">
            <a:avLst/>
          </a:prstGeom>
          <a:solidFill>
            <a:srgbClr val="1A3A5C"/>
          </a:solidFill>
          <a:ln w="12700">
            <a:solidFill>
              <a:srgbClr val="1A3A5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 name="Text 6">
            <a:extLst>
              <a:ext uri="{FF2B5EF4-FFF2-40B4-BE49-F238E27FC236}">
                <a16:creationId xmlns:a16="http://schemas.microsoft.com/office/drawing/2014/main" id="{A749FBD4-BE78-1F6C-ED68-60CD4B47C5F3}"/>
              </a:ext>
            </a:extLst>
          </p:cNvPr>
          <p:cNvSpPr/>
          <p:nvPr/>
        </p:nvSpPr>
        <p:spPr>
          <a:xfrm>
            <a:off x="609600" y="1645920"/>
            <a:ext cx="3505200" cy="4876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ZA" sz="2000" b="0" i="0" u="none" strike="noStrike" kern="0" cap="none" spc="0" normalizeH="0" baseline="0" noProof="0" dirty="0">
              <a:ln>
                <a:noFill/>
              </a:ln>
              <a:solidFill>
                <a:sysClr val="windowText" lastClr="000000"/>
              </a:solidFill>
              <a:effectLst/>
              <a:uLnTx/>
              <a:uFillTx/>
            </a:endParaRPr>
          </a:p>
        </p:txBody>
      </p:sp>
      <p:sp>
        <p:nvSpPr>
          <p:cNvPr id="9" name="Text 7">
            <a:extLst>
              <a:ext uri="{FF2B5EF4-FFF2-40B4-BE49-F238E27FC236}">
                <a16:creationId xmlns:a16="http://schemas.microsoft.com/office/drawing/2014/main" id="{B35F663E-5FD2-647F-2FE6-2A2D40D55D69}"/>
              </a:ext>
            </a:extLst>
          </p:cNvPr>
          <p:cNvSpPr/>
          <p:nvPr/>
        </p:nvSpPr>
        <p:spPr>
          <a:xfrm>
            <a:off x="609600" y="2231136"/>
            <a:ext cx="6461760" cy="37795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2" name="Text 10">
            <a:extLst>
              <a:ext uri="{FF2B5EF4-FFF2-40B4-BE49-F238E27FC236}">
                <a16:creationId xmlns:a16="http://schemas.microsoft.com/office/drawing/2014/main" id="{38E2ED0A-37A1-A62B-0713-D4E746AB7C80}"/>
              </a:ext>
            </a:extLst>
          </p:cNvPr>
          <p:cNvSpPr/>
          <p:nvPr/>
        </p:nvSpPr>
        <p:spPr>
          <a:xfrm>
            <a:off x="3333822" y="1627632"/>
            <a:ext cx="2666656" cy="4876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ZA" sz="2000" b="1" i="0" u="none" strike="noStrike" kern="0" cap="none" spc="0" normalizeH="0" baseline="0" noProof="0" dirty="0">
                <a:ln>
                  <a:noFill/>
                </a:ln>
                <a:solidFill>
                  <a:sysClr val="windowText" lastClr="000000"/>
                </a:solidFill>
                <a:effectLst/>
                <a:uLnTx/>
                <a:uFillTx/>
                <a:latin typeface="Calibri" panose="020F0502020204030204" pitchFamily="34" charset="0"/>
                <a:ea typeface="Calibri" panose="020F0502020204030204" pitchFamily="34" charset="0"/>
                <a:cs typeface="Times New Roman" panose="02020603050405020304" pitchFamily="18" charset="0"/>
              </a:rPr>
              <a:t>Clause 11.12 – Disputes </a:t>
            </a:r>
            <a:endParaRPr kumimoji="0" lang="en-ZA" sz="2000" b="0" i="0" u="none" strike="noStrike" kern="0" cap="none" spc="0" normalizeH="0" baseline="0" noProof="0" dirty="0">
              <a:ln>
                <a:noFill/>
              </a:ln>
              <a:solidFill>
                <a:sysClr val="windowText" lastClr="000000"/>
              </a:solidFill>
              <a:effectLst/>
              <a:uLnTx/>
              <a:uFillTx/>
            </a:endParaRPr>
          </a:p>
        </p:txBody>
      </p:sp>
      <p:sp>
        <p:nvSpPr>
          <p:cNvPr id="4" name="Text 11">
            <a:extLst>
              <a:ext uri="{FF2B5EF4-FFF2-40B4-BE49-F238E27FC236}">
                <a16:creationId xmlns:a16="http://schemas.microsoft.com/office/drawing/2014/main" id="{6C457DE6-3AB8-379A-70D9-E6CDBAF739B1}"/>
              </a:ext>
            </a:extLst>
          </p:cNvPr>
          <p:cNvSpPr/>
          <p:nvPr/>
        </p:nvSpPr>
        <p:spPr>
          <a:xfrm>
            <a:off x="3197007" y="2948566"/>
            <a:ext cx="6222320" cy="1447800"/>
          </a:xfrm>
          <a:prstGeom prst="rect">
            <a:avLst/>
          </a:prstGeom>
          <a:noFill/>
          <a:ln/>
        </p:spPr>
        <p:txBody>
          <a:bodyPr wrap="square" rtlCol="0" anchor="ctr"/>
          <a:lstStyle/>
          <a:p>
            <a:pPr marL="285750" marR="0" lvl="0" indent="-285750" algn="just"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0" cap="none" spc="0" normalizeH="0" baseline="0" noProof="0" dirty="0">
                <a:ln>
                  <a:noFill/>
                </a:ln>
                <a:solidFill>
                  <a:srgbClr val="0A0A0A"/>
                </a:solidFill>
                <a:effectLst/>
                <a:uLnTx/>
                <a:uFillTx/>
                <a:latin typeface="Arial" panose="020B0604020202020204" pitchFamily="34" charset="0"/>
                <a:ea typeface="Times New Roman" panose="02020603050405020304" pitchFamily="18" charset="0"/>
                <a:cs typeface="Arial" panose="020B0604020202020204" pitchFamily="34" charset="0"/>
              </a:rPr>
              <a:t>Any admitted </a:t>
            </a:r>
            <a:r>
              <a:rPr kumimoji="0" lang="en-US" sz="1800" b="0" i="1" u="none" strike="noStrike" kern="0" cap="none" spc="0" normalizeH="0" baseline="0" noProof="0" dirty="0">
                <a:ln>
                  <a:noFill/>
                </a:ln>
                <a:solidFill>
                  <a:srgbClr val="0A0A0A"/>
                </a:solidFill>
                <a:effectLst/>
                <a:uLnTx/>
                <a:uFillTx/>
                <a:latin typeface="Arial" panose="020B0604020202020204" pitchFamily="34" charset="0"/>
                <a:ea typeface="Times New Roman" panose="02020603050405020304" pitchFamily="18" charset="0"/>
                <a:cs typeface="Arial" panose="020B0604020202020204" pitchFamily="34" charset="0"/>
              </a:rPr>
              <a:t>trade union </a:t>
            </a:r>
            <a:r>
              <a:rPr kumimoji="0" lang="en-US" sz="1800" b="0" i="0" u="none" strike="noStrike" kern="0" cap="none" spc="0" normalizeH="0" baseline="0" noProof="0" dirty="0">
                <a:ln>
                  <a:noFill/>
                </a:ln>
                <a:solidFill>
                  <a:srgbClr val="0A0A0A"/>
                </a:solidFill>
                <a:effectLst/>
                <a:uLnTx/>
                <a:uFillTx/>
                <a:latin typeface="Arial" panose="020B0604020202020204" pitchFamily="34" charset="0"/>
                <a:ea typeface="Times New Roman" panose="02020603050405020304" pitchFamily="18" charset="0"/>
                <a:cs typeface="Arial" panose="020B0604020202020204" pitchFamily="34" charset="0"/>
              </a:rPr>
              <a:t>that disputes a determination of votes by the </a:t>
            </a:r>
            <a:r>
              <a:rPr kumimoji="0" lang="en-US" sz="1800" b="0" i="1" u="none" strike="noStrike" kern="0" cap="none" spc="0" normalizeH="0" baseline="0" noProof="0" dirty="0">
                <a:ln>
                  <a:noFill/>
                </a:ln>
                <a:solidFill>
                  <a:srgbClr val="0A0A0A"/>
                </a:solidFill>
                <a:effectLst/>
                <a:uLnTx/>
                <a:uFillTx/>
                <a:latin typeface="Arial" panose="020B0604020202020204" pitchFamily="34" charset="0"/>
                <a:ea typeface="Times New Roman" panose="02020603050405020304" pitchFamily="18" charset="0"/>
                <a:cs typeface="Arial" panose="020B0604020202020204" pitchFamily="34" charset="0"/>
              </a:rPr>
              <a:t>General Secretary </a:t>
            </a:r>
            <a:r>
              <a:rPr kumimoji="0" lang="en-US" sz="1800" b="0" i="0" u="none" strike="noStrike" kern="0" cap="none" spc="0" normalizeH="0" baseline="0" noProof="0" dirty="0">
                <a:ln>
                  <a:noFill/>
                </a:ln>
                <a:solidFill>
                  <a:srgbClr val="0A0A0A"/>
                </a:solidFill>
                <a:effectLst/>
                <a:uLnTx/>
                <a:uFillTx/>
                <a:latin typeface="Arial" panose="020B0604020202020204" pitchFamily="34" charset="0"/>
                <a:ea typeface="Times New Roman" panose="02020603050405020304" pitchFamily="18" charset="0"/>
                <a:cs typeface="Arial" panose="020B0604020202020204" pitchFamily="34" charset="0"/>
              </a:rPr>
              <a:t>in terms of clauses 11.2, 11.5, 11.6, 11.7 and 11.8 may refer such a dispute to the </a:t>
            </a:r>
            <a:r>
              <a:rPr kumimoji="0" lang="en-US" sz="1800" b="0" i="1" u="none" strike="noStrike" kern="0" cap="none" spc="0" normalizeH="0" baseline="0" noProof="0" dirty="0">
                <a:ln>
                  <a:noFill/>
                </a:ln>
                <a:solidFill>
                  <a:srgbClr val="0A0A0A"/>
                </a:solidFill>
                <a:effectLst/>
                <a:uLnTx/>
                <a:uFillTx/>
                <a:latin typeface="Arial" panose="020B0604020202020204" pitchFamily="34" charset="0"/>
                <a:ea typeface="Times New Roman" panose="02020603050405020304" pitchFamily="18" charset="0"/>
                <a:cs typeface="Arial" panose="020B0604020202020204" pitchFamily="34" charset="0"/>
              </a:rPr>
              <a:t>Council </a:t>
            </a:r>
            <a:r>
              <a:rPr kumimoji="0" lang="en-US" sz="1800" b="0" i="0" u="none" strike="noStrike" kern="0" cap="none" spc="0" normalizeH="0" baseline="0" noProof="0" dirty="0">
                <a:ln>
                  <a:noFill/>
                </a:ln>
                <a:solidFill>
                  <a:srgbClr val="0A0A0A"/>
                </a:solidFill>
                <a:effectLst/>
                <a:uLnTx/>
                <a:uFillTx/>
                <a:latin typeface="Arial" panose="020B0604020202020204" pitchFamily="34" charset="0"/>
                <a:ea typeface="Times New Roman" panose="02020603050405020304" pitchFamily="18" charset="0"/>
                <a:cs typeface="Arial" panose="020B0604020202020204" pitchFamily="34" charset="0"/>
              </a:rPr>
              <a:t>in terms of its </a:t>
            </a:r>
            <a:r>
              <a:rPr kumimoji="0" lang="en-US" sz="1800" b="0" i="1" u="none" strike="noStrike" kern="0" cap="none" spc="0" normalizeH="0" baseline="0" noProof="0" dirty="0">
                <a:ln>
                  <a:noFill/>
                </a:ln>
                <a:solidFill>
                  <a:srgbClr val="0A0A0A"/>
                </a:solidFill>
                <a:effectLst/>
                <a:uLnTx/>
                <a:uFillTx/>
                <a:latin typeface="Arial" panose="020B0604020202020204" pitchFamily="34" charset="0"/>
                <a:ea typeface="Times New Roman" panose="02020603050405020304" pitchFamily="18" charset="0"/>
                <a:cs typeface="Arial" panose="020B0604020202020204" pitchFamily="34" charset="0"/>
              </a:rPr>
              <a:t>dispute resolution procedures.</a:t>
            </a:r>
            <a:r>
              <a:rPr kumimoji="0" lang="en-US" sz="1800" b="0" i="1" u="none" strike="noStrike" kern="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 </a:t>
            </a:r>
            <a:endParaRPr kumimoji="0" lang="en-ZA" sz="18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endParaRPr>
          </a:p>
        </p:txBody>
      </p:sp>
      <p:pic>
        <p:nvPicPr>
          <p:cNvPr id="16" name="Picture 15">
            <a:extLst>
              <a:ext uri="{FF2B5EF4-FFF2-40B4-BE49-F238E27FC236}">
                <a16:creationId xmlns:a16="http://schemas.microsoft.com/office/drawing/2014/main" id="{25D12A9B-E2E2-142A-0D99-2CCB71FF988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0538" y="5723549"/>
            <a:ext cx="1134646" cy="988742"/>
          </a:xfrm>
          <a:prstGeom prst="rect">
            <a:avLst/>
          </a:prstGeom>
        </p:spPr>
      </p:pic>
    </p:spTree>
    <p:extLst>
      <p:ext uri="{BB962C8B-B14F-4D97-AF65-F5344CB8AC3E}">
        <p14:creationId xmlns:p14="http://schemas.microsoft.com/office/powerpoint/2010/main" val="185248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73874-4082-0FC1-B5F7-C8791C0653C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D4E3FDC-E4E9-A749-BBF7-B82FEAF72C3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7471" y="0"/>
            <a:ext cx="12695579" cy="6858000"/>
          </a:xfrm>
          <a:prstGeom prst="rect">
            <a:avLst/>
          </a:prstGeom>
        </p:spPr>
      </p:pic>
      <p:pic>
        <p:nvPicPr>
          <p:cNvPr id="6" name="Picture 5">
            <a:extLst>
              <a:ext uri="{FF2B5EF4-FFF2-40B4-BE49-F238E27FC236}">
                <a16:creationId xmlns:a16="http://schemas.microsoft.com/office/drawing/2014/main" id="{79B0472B-223A-6252-6A83-8B3F4B77D74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0148" y="5697090"/>
            <a:ext cx="1134646" cy="988742"/>
          </a:xfrm>
          <a:prstGeom prst="rect">
            <a:avLst/>
          </a:prstGeom>
        </p:spPr>
      </p:pic>
      <p:sp>
        <p:nvSpPr>
          <p:cNvPr id="2" name="Title 1">
            <a:extLst>
              <a:ext uri="{FF2B5EF4-FFF2-40B4-BE49-F238E27FC236}">
                <a16:creationId xmlns:a16="http://schemas.microsoft.com/office/drawing/2014/main" id="{A7E70C50-4327-28EB-B205-EEF8D070F6B6}"/>
              </a:ext>
            </a:extLst>
          </p:cNvPr>
          <p:cNvSpPr>
            <a:spLocks noGrp="1"/>
          </p:cNvSpPr>
          <p:nvPr>
            <p:ph type="title"/>
          </p:nvPr>
        </p:nvSpPr>
        <p:spPr>
          <a:xfrm>
            <a:off x="3727386" y="316012"/>
            <a:ext cx="4505864" cy="484591"/>
          </a:xfrm>
        </p:spPr>
        <p:txBody>
          <a:bodyPr>
            <a:normAutofit fontScale="90000"/>
          </a:bodyPr>
          <a:lstStyle/>
          <a:p>
            <a:r>
              <a:rPr lang="en-US" b="1" dirty="0">
                <a:solidFill>
                  <a:schemeClr val="accent5">
                    <a:lumMod val="50000"/>
                  </a:schemeClr>
                </a:solidFill>
                <a:latin typeface="Arial" panose="020B0604020202020204" pitchFamily="34" charset="0"/>
                <a:cs typeface="Arial" panose="020B0604020202020204" pitchFamily="34" charset="0"/>
              </a:rPr>
              <a:t>DETERMINATION</a:t>
            </a:r>
          </a:p>
        </p:txBody>
      </p:sp>
      <p:graphicFrame>
        <p:nvGraphicFramePr>
          <p:cNvPr id="4" name="Table 3">
            <a:extLst>
              <a:ext uri="{FF2B5EF4-FFF2-40B4-BE49-F238E27FC236}">
                <a16:creationId xmlns:a16="http://schemas.microsoft.com/office/drawing/2014/main" id="{5197D2CE-F928-CC55-9BB0-77F097508A93}"/>
              </a:ext>
            </a:extLst>
          </p:cNvPr>
          <p:cNvGraphicFramePr>
            <a:graphicFrameLocks noGrp="1"/>
          </p:cNvGraphicFramePr>
          <p:nvPr>
            <p:extLst>
              <p:ext uri="{D42A27DB-BD31-4B8C-83A1-F6EECF244321}">
                <p14:modId xmlns:p14="http://schemas.microsoft.com/office/powerpoint/2010/main" val="1487256648"/>
              </p:ext>
            </p:extLst>
          </p:nvPr>
        </p:nvGraphicFramePr>
        <p:xfrm>
          <a:off x="3267310" y="1109274"/>
          <a:ext cx="5426016" cy="1501140"/>
        </p:xfrm>
        <a:graphic>
          <a:graphicData uri="http://schemas.openxmlformats.org/drawingml/2006/table">
            <a:tbl>
              <a:tblPr/>
              <a:tblGrid>
                <a:gridCol w="1356504">
                  <a:extLst>
                    <a:ext uri="{9D8B030D-6E8A-4147-A177-3AD203B41FA5}">
                      <a16:colId xmlns:a16="http://schemas.microsoft.com/office/drawing/2014/main" val="112463790"/>
                    </a:ext>
                  </a:extLst>
                </a:gridCol>
                <a:gridCol w="1356504">
                  <a:extLst>
                    <a:ext uri="{9D8B030D-6E8A-4147-A177-3AD203B41FA5}">
                      <a16:colId xmlns:a16="http://schemas.microsoft.com/office/drawing/2014/main" val="275349100"/>
                    </a:ext>
                  </a:extLst>
                </a:gridCol>
                <a:gridCol w="1356504">
                  <a:extLst>
                    <a:ext uri="{9D8B030D-6E8A-4147-A177-3AD203B41FA5}">
                      <a16:colId xmlns:a16="http://schemas.microsoft.com/office/drawing/2014/main" val="1919196804"/>
                    </a:ext>
                  </a:extLst>
                </a:gridCol>
                <a:gridCol w="1356504">
                  <a:extLst>
                    <a:ext uri="{9D8B030D-6E8A-4147-A177-3AD203B41FA5}">
                      <a16:colId xmlns:a16="http://schemas.microsoft.com/office/drawing/2014/main" val="3008147112"/>
                    </a:ext>
                  </a:extLst>
                </a:gridCol>
              </a:tblGrid>
              <a:tr h="190500">
                <a:tc>
                  <a:txBody>
                    <a:bodyPr/>
                    <a:lstStyle/>
                    <a:p>
                      <a:pPr algn="l" fontAlgn="b"/>
                      <a:r>
                        <a:rPr lang="en-ZA" sz="1600" b="1" i="0" u="none" strike="noStrike">
                          <a:solidFill>
                            <a:srgbClr val="FFFFFF"/>
                          </a:solidFill>
                          <a:effectLst/>
                          <a:latin typeface="Calibri" panose="020F0502020204030204" pitchFamily="34" charset="0"/>
                        </a:rPr>
                        <a:t>TRADE UNION</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fontAlgn="b"/>
                      <a:r>
                        <a:rPr lang="en-ZA" sz="1600" b="1" i="0" u="none" strike="noStrike">
                          <a:solidFill>
                            <a:srgbClr val="FFFFFF"/>
                          </a:solidFill>
                          <a:effectLst/>
                          <a:latin typeface="Calibri" panose="020F0502020204030204" pitchFamily="34" charset="0"/>
                        </a:rPr>
                        <a:t>TOTAL</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fontAlgn="b"/>
                      <a:r>
                        <a:rPr lang="en-ZA" sz="1600" b="1" i="0" u="none" strike="noStrike">
                          <a:solidFill>
                            <a:srgbClr val="FFFFFF"/>
                          </a:solidFill>
                          <a:effectLst/>
                          <a:latin typeface="Calibri" panose="020F0502020204030204" pitchFamily="34" charset="0"/>
                        </a:rPr>
                        <a:t>VOTE WEIGHT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fontAlgn="b"/>
                      <a:r>
                        <a:rPr lang="en-ZA" sz="1600" b="1" i="0" u="none" strike="noStrike" dirty="0">
                          <a:solidFill>
                            <a:srgbClr val="FFFFFF"/>
                          </a:solidFill>
                          <a:effectLst/>
                          <a:latin typeface="Calibri" panose="020F0502020204030204" pitchFamily="34" charset="0"/>
                        </a:rPr>
                        <a:t>REPS</a:t>
                      </a:r>
                    </a:p>
                  </a:txBody>
                  <a:tcPr marL="6350" marR="6350" marT="635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2418784984"/>
                  </a:ext>
                </a:extLst>
              </a:tr>
              <a:tr h="184150">
                <a:tc>
                  <a:txBody>
                    <a:bodyPr/>
                    <a:lstStyle/>
                    <a:p>
                      <a:pPr algn="l" fontAlgn="b"/>
                      <a:r>
                        <a:rPr lang="en-ZA" sz="1600" b="1" i="0" u="none" strike="noStrike">
                          <a:solidFill>
                            <a:srgbClr val="203764"/>
                          </a:solidFill>
                          <a:effectLst/>
                          <a:latin typeface="Calibri" panose="020F0502020204030204" pitchFamily="34" charset="0"/>
                        </a:rPr>
                        <a:t>DENOSA</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ZA" sz="1600" b="0" i="0" u="none" strike="noStrike">
                          <a:solidFill>
                            <a:srgbClr val="002060"/>
                          </a:solidFill>
                          <a:effectLst/>
                          <a:latin typeface="Calibri" panose="020F0502020204030204" pitchFamily="34" charset="0"/>
                        </a:rPr>
                        <a:t>70 568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5">
                  <a:txBody>
                    <a:bodyPr/>
                    <a:lstStyle/>
                    <a:p>
                      <a:pPr algn="ctr" fontAlgn="ctr"/>
                      <a:r>
                        <a:rPr lang="en-ZA" sz="1600" b="0" i="0" u="none" strike="noStrike" dirty="0">
                          <a:solidFill>
                            <a:srgbClr val="000000"/>
                          </a:solidFill>
                          <a:effectLst/>
                          <a:latin typeface="Calibri" panose="020F0502020204030204" pitchFamily="34" charset="0"/>
                        </a:rPr>
                        <a:t>6,65%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5">
                  <a:txBody>
                    <a:bodyPr/>
                    <a:lstStyle/>
                    <a:p>
                      <a:pPr algn="ctr" fontAlgn="ctr"/>
                      <a:r>
                        <a:rPr lang="en-ZA" sz="1600" b="1" i="0" u="none" strike="noStrike" dirty="0">
                          <a:solidFill>
                            <a:srgbClr val="000000"/>
                          </a:solidFill>
                          <a:effectLst/>
                          <a:latin typeface="Calibri" panose="020F0502020204030204" pitchFamily="34" charset="0"/>
                        </a:rPr>
                        <a:t>4</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47786328"/>
                  </a:ext>
                </a:extLst>
              </a:tr>
              <a:tr h="184150">
                <a:tc>
                  <a:txBody>
                    <a:bodyPr/>
                    <a:lstStyle/>
                    <a:p>
                      <a:pPr algn="l" fontAlgn="b"/>
                      <a:r>
                        <a:rPr lang="en-ZA" sz="1600" b="1" i="0" u="none" strike="noStrike">
                          <a:solidFill>
                            <a:srgbClr val="833C0C"/>
                          </a:solidFill>
                          <a:effectLst/>
                          <a:latin typeface="Calibri" panose="020F0502020204030204" pitchFamily="34" charset="0"/>
                        </a:rPr>
                        <a:t>SAMATU</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ZA" sz="1600" b="0" i="0" u="none" strike="noStrike" dirty="0">
                          <a:solidFill>
                            <a:srgbClr val="002060"/>
                          </a:solidFill>
                          <a:effectLst/>
                          <a:latin typeface="Calibri" panose="020F0502020204030204" pitchFamily="34" charset="0"/>
                        </a:rPr>
                        <a:t>8 184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ZA"/>
                    </a:p>
                  </a:txBody>
                  <a:tcPr/>
                </a:tc>
                <a:tc vMerge="1">
                  <a:txBody>
                    <a:bodyPr/>
                    <a:lstStyle/>
                    <a:p>
                      <a:endParaRPr lang="en-ZA"/>
                    </a:p>
                  </a:txBody>
                  <a:tcPr/>
                </a:tc>
                <a:extLst>
                  <a:ext uri="{0D108BD9-81ED-4DB2-BD59-A6C34878D82A}">
                    <a16:rowId xmlns:a16="http://schemas.microsoft.com/office/drawing/2014/main" val="1820139514"/>
                  </a:ext>
                </a:extLst>
              </a:tr>
              <a:tr h="212725">
                <a:tc>
                  <a:txBody>
                    <a:bodyPr/>
                    <a:lstStyle/>
                    <a:p>
                      <a:pPr algn="l" fontAlgn="b"/>
                      <a:r>
                        <a:rPr lang="en-ZA" sz="1600" b="1" i="0" u="none" strike="noStrike">
                          <a:solidFill>
                            <a:srgbClr val="833C0C"/>
                          </a:solidFill>
                          <a:effectLst/>
                          <a:latin typeface="Calibri" panose="020F0502020204030204" pitchFamily="34" charset="0"/>
                        </a:rPr>
                        <a:t>PAWUSA</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ZA" sz="1600" b="0" i="0" u="none" strike="noStrike" dirty="0">
                          <a:solidFill>
                            <a:srgbClr val="002060"/>
                          </a:solidFill>
                          <a:effectLst/>
                          <a:latin typeface="Calibri" panose="020F0502020204030204" pitchFamily="34" charset="0"/>
                        </a:rPr>
                        <a:t>4 916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ZA"/>
                    </a:p>
                  </a:txBody>
                  <a:tcPr/>
                </a:tc>
                <a:tc vMerge="1">
                  <a:txBody>
                    <a:bodyPr/>
                    <a:lstStyle/>
                    <a:p>
                      <a:endParaRPr lang="en-ZA"/>
                    </a:p>
                  </a:txBody>
                  <a:tcPr/>
                </a:tc>
                <a:extLst>
                  <a:ext uri="{0D108BD9-81ED-4DB2-BD59-A6C34878D82A}">
                    <a16:rowId xmlns:a16="http://schemas.microsoft.com/office/drawing/2014/main" val="45352096"/>
                  </a:ext>
                </a:extLst>
              </a:tr>
              <a:tr h="184150">
                <a:tc>
                  <a:txBody>
                    <a:bodyPr/>
                    <a:lstStyle/>
                    <a:p>
                      <a:pPr algn="l" fontAlgn="b"/>
                      <a:r>
                        <a:rPr lang="en-ZA" sz="1600" b="1" i="0" u="none" strike="noStrike">
                          <a:solidFill>
                            <a:srgbClr val="833C0C"/>
                          </a:solidFill>
                          <a:effectLst/>
                          <a:latin typeface="Calibri" panose="020F0502020204030204" pitchFamily="34" charset="0"/>
                        </a:rPr>
                        <a:t>SAEPU</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ZA" sz="1600" b="0" i="0" u="none" strike="noStrike" dirty="0">
                          <a:solidFill>
                            <a:srgbClr val="002060"/>
                          </a:solidFill>
                          <a:effectLst/>
                          <a:latin typeface="Calibri" panose="020F0502020204030204" pitchFamily="34" charset="0"/>
                        </a:rPr>
                        <a:t>2 416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ZA"/>
                    </a:p>
                  </a:txBody>
                  <a:tcPr/>
                </a:tc>
                <a:tc vMerge="1">
                  <a:txBody>
                    <a:bodyPr/>
                    <a:lstStyle/>
                    <a:p>
                      <a:endParaRPr lang="en-ZA"/>
                    </a:p>
                  </a:txBody>
                  <a:tcPr/>
                </a:tc>
                <a:extLst>
                  <a:ext uri="{0D108BD9-81ED-4DB2-BD59-A6C34878D82A}">
                    <a16:rowId xmlns:a16="http://schemas.microsoft.com/office/drawing/2014/main" val="3467652137"/>
                  </a:ext>
                </a:extLst>
              </a:tr>
              <a:tr h="184150">
                <a:tc>
                  <a:txBody>
                    <a:bodyPr/>
                    <a:lstStyle/>
                    <a:p>
                      <a:pPr algn="l" fontAlgn="b"/>
                      <a:r>
                        <a:rPr lang="en-ZA" sz="1600" b="1" i="0" u="sng" strike="noStrike">
                          <a:solidFill>
                            <a:srgbClr val="000000"/>
                          </a:solidFill>
                          <a:effectLst/>
                          <a:latin typeface="Calibri" panose="020F0502020204030204" pitchFamily="34" charset="0"/>
                        </a:rPr>
                        <a:t>SUB TOTAL</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ctr" fontAlgn="b"/>
                      <a:r>
                        <a:rPr lang="en-ZA" sz="1600" b="1" i="0" u="sng" strike="noStrike" dirty="0">
                          <a:solidFill>
                            <a:srgbClr val="000000"/>
                          </a:solidFill>
                          <a:effectLst/>
                          <a:latin typeface="Calibri" panose="020F0502020204030204" pitchFamily="34" charset="0"/>
                        </a:rPr>
                        <a:t>86 084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vMerge="1">
                  <a:txBody>
                    <a:bodyPr/>
                    <a:lstStyle/>
                    <a:p>
                      <a:endParaRPr lang="en-ZA"/>
                    </a:p>
                  </a:txBody>
                  <a:tcPr/>
                </a:tc>
                <a:tc vMerge="1">
                  <a:txBody>
                    <a:bodyPr/>
                    <a:lstStyle/>
                    <a:p>
                      <a:endParaRPr lang="en-ZA"/>
                    </a:p>
                  </a:txBody>
                  <a:tcPr/>
                </a:tc>
                <a:extLst>
                  <a:ext uri="{0D108BD9-81ED-4DB2-BD59-A6C34878D82A}">
                    <a16:rowId xmlns:a16="http://schemas.microsoft.com/office/drawing/2014/main" val="1260946022"/>
                  </a:ext>
                </a:extLst>
              </a:tr>
            </a:tbl>
          </a:graphicData>
        </a:graphic>
      </p:graphicFrame>
      <p:graphicFrame>
        <p:nvGraphicFramePr>
          <p:cNvPr id="16" name="Table 15">
            <a:extLst>
              <a:ext uri="{FF2B5EF4-FFF2-40B4-BE49-F238E27FC236}">
                <a16:creationId xmlns:a16="http://schemas.microsoft.com/office/drawing/2014/main" id="{B49A2817-6B1A-ABDF-E902-405CA34D926D}"/>
              </a:ext>
            </a:extLst>
          </p:cNvPr>
          <p:cNvGraphicFramePr>
            <a:graphicFrameLocks noGrp="1"/>
          </p:cNvGraphicFramePr>
          <p:nvPr>
            <p:extLst>
              <p:ext uri="{D42A27DB-BD31-4B8C-83A1-F6EECF244321}">
                <p14:modId xmlns:p14="http://schemas.microsoft.com/office/powerpoint/2010/main" val="2377118065"/>
              </p:ext>
            </p:extLst>
          </p:nvPr>
        </p:nvGraphicFramePr>
        <p:xfrm>
          <a:off x="3267310" y="2909692"/>
          <a:ext cx="5426016" cy="762912"/>
        </p:xfrm>
        <a:graphic>
          <a:graphicData uri="http://schemas.openxmlformats.org/drawingml/2006/table">
            <a:tbl>
              <a:tblPr/>
              <a:tblGrid>
                <a:gridCol w="1356504">
                  <a:extLst>
                    <a:ext uri="{9D8B030D-6E8A-4147-A177-3AD203B41FA5}">
                      <a16:colId xmlns:a16="http://schemas.microsoft.com/office/drawing/2014/main" val="276777422"/>
                    </a:ext>
                  </a:extLst>
                </a:gridCol>
                <a:gridCol w="1356504">
                  <a:extLst>
                    <a:ext uri="{9D8B030D-6E8A-4147-A177-3AD203B41FA5}">
                      <a16:colId xmlns:a16="http://schemas.microsoft.com/office/drawing/2014/main" val="1148585892"/>
                    </a:ext>
                  </a:extLst>
                </a:gridCol>
                <a:gridCol w="1356504">
                  <a:extLst>
                    <a:ext uri="{9D8B030D-6E8A-4147-A177-3AD203B41FA5}">
                      <a16:colId xmlns:a16="http://schemas.microsoft.com/office/drawing/2014/main" val="2139769057"/>
                    </a:ext>
                  </a:extLst>
                </a:gridCol>
                <a:gridCol w="1356504">
                  <a:extLst>
                    <a:ext uri="{9D8B030D-6E8A-4147-A177-3AD203B41FA5}">
                      <a16:colId xmlns:a16="http://schemas.microsoft.com/office/drawing/2014/main" val="54200557"/>
                    </a:ext>
                  </a:extLst>
                </a:gridCol>
              </a:tblGrid>
              <a:tr h="254304">
                <a:tc>
                  <a:txBody>
                    <a:bodyPr/>
                    <a:lstStyle/>
                    <a:p>
                      <a:pPr algn="l" fontAlgn="b"/>
                      <a:r>
                        <a:rPr lang="en-ZA" sz="1600" b="1" i="0" u="none" strike="noStrike">
                          <a:solidFill>
                            <a:srgbClr val="002060"/>
                          </a:solidFill>
                          <a:effectLst/>
                          <a:latin typeface="Calibri" panose="020F0502020204030204" pitchFamily="34" charset="0"/>
                        </a:rPr>
                        <a:t>HOSPERSA</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ZA" sz="1600" b="0" i="0" u="none" strike="noStrike" dirty="0">
                          <a:solidFill>
                            <a:srgbClr val="002060"/>
                          </a:solidFill>
                          <a:effectLst/>
                          <a:latin typeface="Calibri" panose="020F0502020204030204" pitchFamily="34" charset="0"/>
                        </a:rPr>
                        <a:t>61 019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ctr" fontAlgn="ctr"/>
                      <a:r>
                        <a:rPr lang="en-ZA" sz="1600" b="0" i="0" u="none" strike="noStrike" dirty="0">
                          <a:solidFill>
                            <a:srgbClr val="000000"/>
                          </a:solidFill>
                          <a:effectLst/>
                          <a:latin typeface="Calibri" panose="020F0502020204030204" pitchFamily="34" charset="0"/>
                        </a:rPr>
                        <a:t>7,84%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ctr" fontAlgn="ctr"/>
                      <a:r>
                        <a:rPr lang="en-ZA" sz="1600" b="1" i="0" u="none" strike="noStrike" dirty="0">
                          <a:solidFill>
                            <a:srgbClr val="000000"/>
                          </a:solidFill>
                          <a:effectLst/>
                          <a:latin typeface="Calibri" panose="020F0502020204030204" pitchFamily="34" charset="0"/>
                        </a:rPr>
                        <a:t>5</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99230658"/>
                  </a:ext>
                </a:extLst>
              </a:tr>
              <a:tr h="254304">
                <a:tc>
                  <a:txBody>
                    <a:bodyPr/>
                    <a:lstStyle/>
                    <a:p>
                      <a:pPr algn="l" fontAlgn="b"/>
                      <a:r>
                        <a:rPr lang="en-ZA" sz="1600" b="1" i="0" u="none" strike="noStrike">
                          <a:solidFill>
                            <a:srgbClr val="833C0C"/>
                          </a:solidFill>
                          <a:effectLst/>
                          <a:latin typeface="Calibri" panose="020F0502020204030204" pitchFamily="34" charset="0"/>
                        </a:rPr>
                        <a:t>NATU</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ZA" sz="1600" b="0" i="0" u="none" strike="noStrike" dirty="0">
                          <a:solidFill>
                            <a:srgbClr val="002060"/>
                          </a:solidFill>
                          <a:effectLst/>
                          <a:latin typeface="Calibri" panose="020F0502020204030204" pitchFamily="34" charset="0"/>
                        </a:rPr>
                        <a:t>40 483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ZA"/>
                    </a:p>
                  </a:txBody>
                  <a:tcPr/>
                </a:tc>
                <a:tc vMerge="1">
                  <a:txBody>
                    <a:bodyPr/>
                    <a:lstStyle/>
                    <a:p>
                      <a:endParaRPr lang="en-ZA"/>
                    </a:p>
                  </a:txBody>
                  <a:tcPr/>
                </a:tc>
                <a:extLst>
                  <a:ext uri="{0D108BD9-81ED-4DB2-BD59-A6C34878D82A}">
                    <a16:rowId xmlns:a16="http://schemas.microsoft.com/office/drawing/2014/main" val="1372013208"/>
                  </a:ext>
                </a:extLst>
              </a:tr>
              <a:tr h="254304">
                <a:tc>
                  <a:txBody>
                    <a:bodyPr/>
                    <a:lstStyle/>
                    <a:p>
                      <a:pPr algn="l" fontAlgn="b"/>
                      <a:r>
                        <a:rPr lang="en-ZA" sz="1600" b="1" i="0" u="sng" strike="noStrike">
                          <a:solidFill>
                            <a:srgbClr val="000000"/>
                          </a:solidFill>
                          <a:effectLst/>
                          <a:latin typeface="Calibri" panose="020F0502020204030204" pitchFamily="34" charset="0"/>
                        </a:rPr>
                        <a:t>SUB TOTAL</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ctr" fontAlgn="b"/>
                      <a:r>
                        <a:rPr lang="en-ZA" sz="1600" b="1" i="0" u="sng" strike="noStrike" dirty="0">
                          <a:solidFill>
                            <a:srgbClr val="000000"/>
                          </a:solidFill>
                          <a:effectLst/>
                          <a:latin typeface="Calibri" panose="020F0502020204030204" pitchFamily="34" charset="0"/>
                        </a:rPr>
                        <a:t>101 502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vMerge="1">
                  <a:txBody>
                    <a:bodyPr/>
                    <a:lstStyle/>
                    <a:p>
                      <a:endParaRPr lang="en-ZA"/>
                    </a:p>
                  </a:txBody>
                  <a:tcPr/>
                </a:tc>
                <a:tc vMerge="1">
                  <a:txBody>
                    <a:bodyPr/>
                    <a:lstStyle/>
                    <a:p>
                      <a:endParaRPr lang="en-ZA"/>
                    </a:p>
                  </a:txBody>
                  <a:tcPr/>
                </a:tc>
                <a:extLst>
                  <a:ext uri="{0D108BD9-81ED-4DB2-BD59-A6C34878D82A}">
                    <a16:rowId xmlns:a16="http://schemas.microsoft.com/office/drawing/2014/main" val="4103367574"/>
                  </a:ext>
                </a:extLst>
              </a:tr>
            </a:tbl>
          </a:graphicData>
        </a:graphic>
      </p:graphicFrame>
      <p:graphicFrame>
        <p:nvGraphicFramePr>
          <p:cNvPr id="17" name="Table 16">
            <a:extLst>
              <a:ext uri="{FF2B5EF4-FFF2-40B4-BE49-F238E27FC236}">
                <a16:creationId xmlns:a16="http://schemas.microsoft.com/office/drawing/2014/main" id="{EF7AA05C-8E9E-B1FF-B28A-784B476DD12F}"/>
              </a:ext>
            </a:extLst>
          </p:cNvPr>
          <p:cNvGraphicFramePr>
            <a:graphicFrameLocks noGrp="1"/>
          </p:cNvGraphicFramePr>
          <p:nvPr>
            <p:extLst>
              <p:ext uri="{D42A27DB-BD31-4B8C-83A1-F6EECF244321}">
                <p14:modId xmlns:p14="http://schemas.microsoft.com/office/powerpoint/2010/main" val="2871074819"/>
              </p:ext>
            </p:extLst>
          </p:nvPr>
        </p:nvGraphicFramePr>
        <p:xfrm>
          <a:off x="3267310" y="3971882"/>
          <a:ext cx="5426015" cy="790976"/>
        </p:xfrm>
        <a:graphic>
          <a:graphicData uri="http://schemas.openxmlformats.org/drawingml/2006/table">
            <a:tbl>
              <a:tblPr/>
              <a:tblGrid>
                <a:gridCol w="1241102">
                  <a:extLst>
                    <a:ext uri="{9D8B030D-6E8A-4147-A177-3AD203B41FA5}">
                      <a16:colId xmlns:a16="http://schemas.microsoft.com/office/drawing/2014/main" val="49060380"/>
                    </a:ext>
                  </a:extLst>
                </a:gridCol>
                <a:gridCol w="1435187">
                  <a:extLst>
                    <a:ext uri="{9D8B030D-6E8A-4147-A177-3AD203B41FA5}">
                      <a16:colId xmlns:a16="http://schemas.microsoft.com/office/drawing/2014/main" val="2558646493"/>
                    </a:ext>
                  </a:extLst>
                </a:gridCol>
                <a:gridCol w="1388853">
                  <a:extLst>
                    <a:ext uri="{9D8B030D-6E8A-4147-A177-3AD203B41FA5}">
                      <a16:colId xmlns:a16="http://schemas.microsoft.com/office/drawing/2014/main" val="2805738289"/>
                    </a:ext>
                  </a:extLst>
                </a:gridCol>
                <a:gridCol w="1360873">
                  <a:extLst>
                    <a:ext uri="{9D8B030D-6E8A-4147-A177-3AD203B41FA5}">
                      <a16:colId xmlns:a16="http://schemas.microsoft.com/office/drawing/2014/main" val="450452264"/>
                    </a:ext>
                  </a:extLst>
                </a:gridCol>
              </a:tblGrid>
              <a:tr h="270393">
                <a:tc>
                  <a:txBody>
                    <a:bodyPr/>
                    <a:lstStyle/>
                    <a:p>
                      <a:pPr algn="l" fontAlgn="b"/>
                      <a:r>
                        <a:rPr lang="en-ZA" sz="1600" b="1" i="0" u="none" strike="noStrike">
                          <a:solidFill>
                            <a:srgbClr val="002060"/>
                          </a:solidFill>
                          <a:effectLst/>
                          <a:latin typeface="Calibri" panose="020F0502020204030204" pitchFamily="34" charset="0"/>
                        </a:rPr>
                        <a:t>NAPTOSA</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ZA" sz="1600" b="0" i="0" u="none" strike="noStrike">
                          <a:solidFill>
                            <a:srgbClr val="002060"/>
                          </a:solidFill>
                          <a:effectLst/>
                          <a:latin typeface="Calibri" panose="020F0502020204030204" pitchFamily="34" charset="0"/>
                        </a:rPr>
                        <a:t>46 191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ctr" fontAlgn="ctr"/>
                      <a:r>
                        <a:rPr lang="en-ZA" sz="1600" b="0" i="0" u="none" strike="noStrike" dirty="0">
                          <a:solidFill>
                            <a:srgbClr val="000000"/>
                          </a:solidFill>
                          <a:effectLst/>
                          <a:latin typeface="Calibri" panose="020F0502020204030204" pitchFamily="34" charset="0"/>
                        </a:rPr>
                        <a:t>5,93%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ctr" fontAlgn="ctr"/>
                      <a:r>
                        <a:rPr lang="en-ZA" sz="1600" b="1" i="0" u="none" strike="noStrike" dirty="0">
                          <a:solidFill>
                            <a:srgbClr val="000000"/>
                          </a:solidFill>
                          <a:effectLst/>
                          <a:latin typeface="Calibri" panose="020F0502020204030204" pitchFamily="34" charset="0"/>
                        </a:rPr>
                        <a:t>4</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17025137"/>
                  </a:ext>
                </a:extLst>
              </a:tr>
              <a:tr h="270393">
                <a:tc>
                  <a:txBody>
                    <a:bodyPr/>
                    <a:lstStyle/>
                    <a:p>
                      <a:pPr algn="l" fontAlgn="b"/>
                      <a:r>
                        <a:rPr lang="en-ZA" sz="1600" b="1" i="0" u="none" strike="noStrike">
                          <a:solidFill>
                            <a:srgbClr val="833C0C"/>
                          </a:solidFill>
                          <a:effectLst/>
                          <a:latin typeface="Calibri" panose="020F0502020204030204" pitchFamily="34" charset="0"/>
                        </a:rPr>
                        <a:t>SAOU</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ZA" sz="1600" b="0" i="0" u="none" strike="noStrike" dirty="0">
                          <a:solidFill>
                            <a:srgbClr val="002060"/>
                          </a:solidFill>
                          <a:effectLst/>
                          <a:latin typeface="Calibri" panose="020F0502020204030204" pitchFamily="34" charset="0"/>
                        </a:rPr>
                        <a:t>30 534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ZA"/>
                    </a:p>
                  </a:txBody>
                  <a:tcPr/>
                </a:tc>
                <a:tc vMerge="1">
                  <a:txBody>
                    <a:bodyPr/>
                    <a:lstStyle/>
                    <a:p>
                      <a:endParaRPr lang="en-ZA"/>
                    </a:p>
                  </a:txBody>
                  <a:tcPr/>
                </a:tc>
                <a:extLst>
                  <a:ext uri="{0D108BD9-81ED-4DB2-BD59-A6C34878D82A}">
                    <a16:rowId xmlns:a16="http://schemas.microsoft.com/office/drawing/2014/main" val="2108521103"/>
                  </a:ext>
                </a:extLst>
              </a:tr>
              <a:tr h="200425">
                <a:tc>
                  <a:txBody>
                    <a:bodyPr/>
                    <a:lstStyle/>
                    <a:p>
                      <a:pPr algn="l" fontAlgn="b"/>
                      <a:r>
                        <a:rPr lang="en-ZA" sz="1600" b="1" i="0" u="sng" strike="noStrike" dirty="0">
                          <a:solidFill>
                            <a:srgbClr val="000000"/>
                          </a:solidFill>
                          <a:effectLst/>
                          <a:latin typeface="Calibri" panose="020F0502020204030204" pitchFamily="34" charset="0"/>
                        </a:rPr>
                        <a:t>SUB TOTAL</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ctr" fontAlgn="b"/>
                      <a:r>
                        <a:rPr lang="en-ZA" sz="1600" b="1" i="0" u="sng" strike="noStrike" dirty="0">
                          <a:solidFill>
                            <a:srgbClr val="000000"/>
                          </a:solidFill>
                          <a:effectLst/>
                          <a:latin typeface="Calibri" panose="020F0502020204030204" pitchFamily="34" charset="0"/>
                        </a:rPr>
                        <a:t>76 725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vMerge="1">
                  <a:txBody>
                    <a:bodyPr/>
                    <a:lstStyle/>
                    <a:p>
                      <a:endParaRPr lang="en-ZA"/>
                    </a:p>
                  </a:txBody>
                  <a:tcPr/>
                </a:tc>
                <a:tc vMerge="1">
                  <a:txBody>
                    <a:bodyPr/>
                    <a:lstStyle/>
                    <a:p>
                      <a:endParaRPr lang="en-ZA"/>
                    </a:p>
                  </a:txBody>
                  <a:tcPr/>
                </a:tc>
                <a:extLst>
                  <a:ext uri="{0D108BD9-81ED-4DB2-BD59-A6C34878D82A}">
                    <a16:rowId xmlns:a16="http://schemas.microsoft.com/office/drawing/2014/main" val="2089432010"/>
                  </a:ext>
                </a:extLst>
              </a:tr>
            </a:tbl>
          </a:graphicData>
        </a:graphic>
      </p:graphicFrame>
      <p:graphicFrame>
        <p:nvGraphicFramePr>
          <p:cNvPr id="18" name="Table 17">
            <a:extLst>
              <a:ext uri="{FF2B5EF4-FFF2-40B4-BE49-F238E27FC236}">
                <a16:creationId xmlns:a16="http://schemas.microsoft.com/office/drawing/2014/main" id="{1537B663-3548-587B-FEF1-A0A55228F4DC}"/>
              </a:ext>
            </a:extLst>
          </p:cNvPr>
          <p:cNvGraphicFramePr>
            <a:graphicFrameLocks noGrp="1"/>
          </p:cNvGraphicFramePr>
          <p:nvPr>
            <p:extLst>
              <p:ext uri="{D42A27DB-BD31-4B8C-83A1-F6EECF244321}">
                <p14:modId xmlns:p14="http://schemas.microsoft.com/office/powerpoint/2010/main" val="1828105975"/>
              </p:ext>
            </p:extLst>
          </p:nvPr>
        </p:nvGraphicFramePr>
        <p:xfrm>
          <a:off x="3267310" y="5062136"/>
          <a:ext cx="5426016" cy="549500"/>
        </p:xfrm>
        <a:graphic>
          <a:graphicData uri="http://schemas.openxmlformats.org/drawingml/2006/table">
            <a:tbl>
              <a:tblPr/>
              <a:tblGrid>
                <a:gridCol w="1356504">
                  <a:extLst>
                    <a:ext uri="{9D8B030D-6E8A-4147-A177-3AD203B41FA5}">
                      <a16:colId xmlns:a16="http://schemas.microsoft.com/office/drawing/2014/main" val="1660033667"/>
                    </a:ext>
                  </a:extLst>
                </a:gridCol>
                <a:gridCol w="1356504">
                  <a:extLst>
                    <a:ext uri="{9D8B030D-6E8A-4147-A177-3AD203B41FA5}">
                      <a16:colId xmlns:a16="http://schemas.microsoft.com/office/drawing/2014/main" val="2948955155"/>
                    </a:ext>
                  </a:extLst>
                </a:gridCol>
                <a:gridCol w="1356504">
                  <a:extLst>
                    <a:ext uri="{9D8B030D-6E8A-4147-A177-3AD203B41FA5}">
                      <a16:colId xmlns:a16="http://schemas.microsoft.com/office/drawing/2014/main" val="1105976734"/>
                    </a:ext>
                  </a:extLst>
                </a:gridCol>
                <a:gridCol w="1356504">
                  <a:extLst>
                    <a:ext uri="{9D8B030D-6E8A-4147-A177-3AD203B41FA5}">
                      <a16:colId xmlns:a16="http://schemas.microsoft.com/office/drawing/2014/main" val="1491742365"/>
                    </a:ext>
                  </a:extLst>
                </a:gridCol>
              </a:tblGrid>
              <a:tr h="274750">
                <a:tc>
                  <a:txBody>
                    <a:bodyPr/>
                    <a:lstStyle/>
                    <a:p>
                      <a:pPr algn="l" fontAlgn="b"/>
                      <a:r>
                        <a:rPr lang="en-ZA" sz="1600" b="1" i="0" u="none" strike="noStrike">
                          <a:solidFill>
                            <a:srgbClr val="002060"/>
                          </a:solidFill>
                          <a:effectLst/>
                          <a:latin typeface="Calibri" panose="020F0502020204030204" pitchFamily="34" charset="0"/>
                        </a:rPr>
                        <a:t>NEHAWU</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ZA" sz="1600" b="1" i="0" u="none" strike="noStrike">
                          <a:solidFill>
                            <a:srgbClr val="002060"/>
                          </a:solidFill>
                          <a:effectLst/>
                          <a:latin typeface="Calibri" panose="020F0502020204030204" pitchFamily="34" charset="0"/>
                        </a:rPr>
                        <a:t>196 851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r>
                        <a:rPr lang="en-ZA" sz="1600" b="0" i="0" u="none" strike="noStrike" dirty="0">
                          <a:solidFill>
                            <a:srgbClr val="000000"/>
                          </a:solidFill>
                          <a:effectLst/>
                          <a:latin typeface="Calibri" panose="020F0502020204030204" pitchFamily="34" charset="0"/>
                        </a:rPr>
                        <a:t>15,21%</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r>
                        <a:rPr lang="en-ZA" sz="1600" b="1" i="0" u="none" strike="noStrike" dirty="0">
                          <a:solidFill>
                            <a:srgbClr val="000000"/>
                          </a:solidFill>
                          <a:effectLst/>
                          <a:latin typeface="Calibri" panose="020F0502020204030204" pitchFamily="34" charset="0"/>
                        </a:rPr>
                        <a:t>5</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76647919"/>
                  </a:ext>
                </a:extLst>
              </a:tr>
              <a:tr h="274750">
                <a:tc>
                  <a:txBody>
                    <a:bodyPr/>
                    <a:lstStyle/>
                    <a:p>
                      <a:pPr algn="l" fontAlgn="b"/>
                      <a:r>
                        <a:rPr lang="en-ZA" sz="1600" b="1" i="0" u="none" strike="noStrike">
                          <a:solidFill>
                            <a:srgbClr val="000000"/>
                          </a:solidFill>
                          <a:effectLst/>
                          <a:latin typeface="Calibri" panose="020F0502020204030204" pitchFamily="34" charset="0"/>
                        </a:rPr>
                        <a:t>SUB TOTAL</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ctr" fontAlgn="b"/>
                      <a:r>
                        <a:rPr lang="en-ZA" sz="1600" b="1" i="0" u="sng" strike="noStrike" dirty="0">
                          <a:solidFill>
                            <a:srgbClr val="000000"/>
                          </a:solidFill>
                          <a:effectLst/>
                          <a:latin typeface="Calibri" panose="020F0502020204030204" pitchFamily="34" charset="0"/>
                        </a:rPr>
                        <a:t>196 851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vMerge="1">
                  <a:txBody>
                    <a:bodyPr/>
                    <a:lstStyle/>
                    <a:p>
                      <a:endParaRPr lang="en-ZA"/>
                    </a:p>
                  </a:txBody>
                  <a:tcPr/>
                </a:tc>
                <a:tc vMerge="1">
                  <a:txBody>
                    <a:bodyPr/>
                    <a:lstStyle/>
                    <a:p>
                      <a:endParaRPr lang="en-ZA"/>
                    </a:p>
                  </a:txBody>
                  <a:tcPr/>
                </a:tc>
                <a:extLst>
                  <a:ext uri="{0D108BD9-81ED-4DB2-BD59-A6C34878D82A}">
                    <a16:rowId xmlns:a16="http://schemas.microsoft.com/office/drawing/2014/main" val="169177761"/>
                  </a:ext>
                </a:extLst>
              </a:tr>
            </a:tbl>
          </a:graphicData>
        </a:graphic>
      </p:graphicFrame>
    </p:spTree>
    <p:extLst>
      <p:ext uri="{BB962C8B-B14F-4D97-AF65-F5344CB8AC3E}">
        <p14:creationId xmlns:p14="http://schemas.microsoft.com/office/powerpoint/2010/main" val="32453488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14D51-E840-D288-0F88-5FD6FCF4177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A71140B-291E-72AB-443D-967906BE66C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7471" y="0"/>
            <a:ext cx="12695579" cy="6858000"/>
          </a:xfrm>
          <a:prstGeom prst="rect">
            <a:avLst/>
          </a:prstGeom>
        </p:spPr>
      </p:pic>
      <p:pic>
        <p:nvPicPr>
          <p:cNvPr id="6" name="Picture 5">
            <a:extLst>
              <a:ext uri="{FF2B5EF4-FFF2-40B4-BE49-F238E27FC236}">
                <a16:creationId xmlns:a16="http://schemas.microsoft.com/office/drawing/2014/main" id="{477752BD-2300-E41E-166C-A64EA4A7AB5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0148" y="5697090"/>
            <a:ext cx="1134646" cy="988742"/>
          </a:xfrm>
          <a:prstGeom prst="rect">
            <a:avLst/>
          </a:prstGeom>
        </p:spPr>
      </p:pic>
      <p:sp>
        <p:nvSpPr>
          <p:cNvPr id="2" name="Title 1">
            <a:extLst>
              <a:ext uri="{FF2B5EF4-FFF2-40B4-BE49-F238E27FC236}">
                <a16:creationId xmlns:a16="http://schemas.microsoft.com/office/drawing/2014/main" id="{F4C86504-90EC-64CD-10B5-E0DB1AEE87DC}"/>
              </a:ext>
            </a:extLst>
          </p:cNvPr>
          <p:cNvSpPr>
            <a:spLocks noGrp="1"/>
          </p:cNvSpPr>
          <p:nvPr>
            <p:ph type="title"/>
          </p:nvPr>
        </p:nvSpPr>
        <p:spPr>
          <a:xfrm>
            <a:off x="3727386" y="316012"/>
            <a:ext cx="4505864" cy="484591"/>
          </a:xfrm>
        </p:spPr>
        <p:txBody>
          <a:bodyPr>
            <a:normAutofit fontScale="90000"/>
          </a:bodyPr>
          <a:lstStyle/>
          <a:p>
            <a:r>
              <a:rPr lang="en-US" b="1" dirty="0">
                <a:solidFill>
                  <a:schemeClr val="accent5">
                    <a:lumMod val="50000"/>
                  </a:schemeClr>
                </a:solidFill>
                <a:latin typeface="Arial" panose="020B0604020202020204" pitchFamily="34" charset="0"/>
                <a:cs typeface="Arial" panose="020B0604020202020204" pitchFamily="34" charset="0"/>
              </a:rPr>
              <a:t>DETERMINATION</a:t>
            </a:r>
          </a:p>
        </p:txBody>
      </p:sp>
      <p:graphicFrame>
        <p:nvGraphicFramePr>
          <p:cNvPr id="3" name="Table 2">
            <a:extLst>
              <a:ext uri="{FF2B5EF4-FFF2-40B4-BE49-F238E27FC236}">
                <a16:creationId xmlns:a16="http://schemas.microsoft.com/office/drawing/2014/main" id="{D726B10B-222D-77C5-CACB-F5629AB7B586}"/>
              </a:ext>
            </a:extLst>
          </p:cNvPr>
          <p:cNvGraphicFramePr>
            <a:graphicFrameLocks noGrp="1"/>
          </p:cNvGraphicFramePr>
          <p:nvPr>
            <p:extLst>
              <p:ext uri="{D42A27DB-BD31-4B8C-83A1-F6EECF244321}">
                <p14:modId xmlns:p14="http://schemas.microsoft.com/office/powerpoint/2010/main" val="1729091192"/>
              </p:ext>
            </p:extLst>
          </p:nvPr>
        </p:nvGraphicFramePr>
        <p:xfrm>
          <a:off x="3267305" y="1344182"/>
          <a:ext cx="5426016" cy="500380"/>
        </p:xfrm>
        <a:graphic>
          <a:graphicData uri="http://schemas.openxmlformats.org/drawingml/2006/table">
            <a:tbl>
              <a:tblPr/>
              <a:tblGrid>
                <a:gridCol w="1356504">
                  <a:extLst>
                    <a:ext uri="{9D8B030D-6E8A-4147-A177-3AD203B41FA5}">
                      <a16:colId xmlns:a16="http://schemas.microsoft.com/office/drawing/2014/main" val="2405203853"/>
                    </a:ext>
                  </a:extLst>
                </a:gridCol>
                <a:gridCol w="1356504">
                  <a:extLst>
                    <a:ext uri="{9D8B030D-6E8A-4147-A177-3AD203B41FA5}">
                      <a16:colId xmlns:a16="http://schemas.microsoft.com/office/drawing/2014/main" val="682350917"/>
                    </a:ext>
                  </a:extLst>
                </a:gridCol>
                <a:gridCol w="1356504">
                  <a:extLst>
                    <a:ext uri="{9D8B030D-6E8A-4147-A177-3AD203B41FA5}">
                      <a16:colId xmlns:a16="http://schemas.microsoft.com/office/drawing/2014/main" val="2508741899"/>
                    </a:ext>
                  </a:extLst>
                </a:gridCol>
                <a:gridCol w="1356504">
                  <a:extLst>
                    <a:ext uri="{9D8B030D-6E8A-4147-A177-3AD203B41FA5}">
                      <a16:colId xmlns:a16="http://schemas.microsoft.com/office/drawing/2014/main" val="634612321"/>
                    </a:ext>
                  </a:extLst>
                </a:gridCol>
              </a:tblGrid>
              <a:tr h="184150">
                <a:tc>
                  <a:txBody>
                    <a:bodyPr/>
                    <a:lstStyle/>
                    <a:p>
                      <a:pPr algn="l" fontAlgn="b"/>
                      <a:r>
                        <a:rPr lang="en-ZA" sz="1600" b="1" i="0" u="none" strike="noStrike">
                          <a:solidFill>
                            <a:srgbClr val="002060"/>
                          </a:solidFill>
                          <a:effectLst/>
                          <a:latin typeface="Calibri" panose="020F0502020204030204" pitchFamily="34" charset="0"/>
                        </a:rPr>
                        <a:t>POPCRU</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ZA" sz="1600" b="1" i="0" u="sng" strike="noStrike" dirty="0">
                          <a:solidFill>
                            <a:srgbClr val="002060"/>
                          </a:solidFill>
                          <a:effectLst/>
                          <a:latin typeface="Calibri" panose="020F0502020204030204" pitchFamily="34" charset="0"/>
                        </a:rPr>
                        <a:t>147 673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r>
                        <a:rPr lang="en-ZA" sz="1600" b="0" i="0" u="none" strike="noStrike" dirty="0">
                          <a:solidFill>
                            <a:srgbClr val="000000"/>
                          </a:solidFill>
                          <a:effectLst/>
                          <a:latin typeface="Calibri" panose="020F0502020204030204" pitchFamily="34" charset="0"/>
                        </a:rPr>
                        <a:t>11,41%</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r>
                        <a:rPr lang="en-ZA" sz="1600" b="0" i="0" u="none" strike="noStrike" dirty="0">
                          <a:solidFill>
                            <a:srgbClr val="000000"/>
                          </a:solidFill>
                          <a:effectLst/>
                          <a:latin typeface="Calibri" panose="020F0502020204030204" pitchFamily="34" charset="0"/>
                        </a:rPr>
                        <a:t>5</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83882470"/>
                  </a:ext>
                </a:extLst>
              </a:tr>
              <a:tr h="184150">
                <a:tc>
                  <a:txBody>
                    <a:bodyPr/>
                    <a:lstStyle/>
                    <a:p>
                      <a:pPr algn="l" fontAlgn="b"/>
                      <a:r>
                        <a:rPr lang="en-ZA" sz="1600" b="1" i="0" u="none" strike="noStrike">
                          <a:solidFill>
                            <a:srgbClr val="000000"/>
                          </a:solidFill>
                          <a:effectLst/>
                          <a:latin typeface="Calibri" panose="020F0502020204030204" pitchFamily="34" charset="0"/>
                        </a:rPr>
                        <a:t>SUB TOTAL</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ctr" fontAlgn="b"/>
                      <a:r>
                        <a:rPr lang="en-ZA" sz="1600" b="1" i="0" u="sng" strike="noStrike" dirty="0">
                          <a:solidFill>
                            <a:srgbClr val="000000"/>
                          </a:solidFill>
                          <a:effectLst/>
                          <a:latin typeface="Calibri" panose="020F0502020204030204" pitchFamily="34" charset="0"/>
                        </a:rPr>
                        <a:t>147 673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vMerge="1">
                  <a:txBody>
                    <a:bodyPr/>
                    <a:lstStyle/>
                    <a:p>
                      <a:endParaRPr lang="en-ZA"/>
                    </a:p>
                  </a:txBody>
                  <a:tcPr/>
                </a:tc>
                <a:tc vMerge="1">
                  <a:txBody>
                    <a:bodyPr/>
                    <a:lstStyle/>
                    <a:p>
                      <a:endParaRPr lang="en-ZA"/>
                    </a:p>
                  </a:txBody>
                  <a:tcPr/>
                </a:tc>
                <a:extLst>
                  <a:ext uri="{0D108BD9-81ED-4DB2-BD59-A6C34878D82A}">
                    <a16:rowId xmlns:a16="http://schemas.microsoft.com/office/drawing/2014/main" val="3627783930"/>
                  </a:ext>
                </a:extLst>
              </a:tr>
            </a:tbl>
          </a:graphicData>
        </a:graphic>
      </p:graphicFrame>
      <p:graphicFrame>
        <p:nvGraphicFramePr>
          <p:cNvPr id="4" name="Table 3">
            <a:extLst>
              <a:ext uri="{FF2B5EF4-FFF2-40B4-BE49-F238E27FC236}">
                <a16:creationId xmlns:a16="http://schemas.microsoft.com/office/drawing/2014/main" id="{5A562169-8B33-43A1-B3B6-408F7D9CCEF2}"/>
              </a:ext>
            </a:extLst>
          </p:cNvPr>
          <p:cNvGraphicFramePr>
            <a:graphicFrameLocks noGrp="1"/>
          </p:cNvGraphicFramePr>
          <p:nvPr>
            <p:extLst>
              <p:ext uri="{D42A27DB-BD31-4B8C-83A1-F6EECF244321}">
                <p14:modId xmlns:p14="http://schemas.microsoft.com/office/powerpoint/2010/main" val="3977416980"/>
              </p:ext>
            </p:extLst>
          </p:nvPr>
        </p:nvGraphicFramePr>
        <p:xfrm>
          <a:off x="3267305" y="2113175"/>
          <a:ext cx="5426016" cy="750570"/>
        </p:xfrm>
        <a:graphic>
          <a:graphicData uri="http://schemas.openxmlformats.org/drawingml/2006/table">
            <a:tbl>
              <a:tblPr/>
              <a:tblGrid>
                <a:gridCol w="1356504">
                  <a:extLst>
                    <a:ext uri="{9D8B030D-6E8A-4147-A177-3AD203B41FA5}">
                      <a16:colId xmlns:a16="http://schemas.microsoft.com/office/drawing/2014/main" val="340958843"/>
                    </a:ext>
                  </a:extLst>
                </a:gridCol>
                <a:gridCol w="1356504">
                  <a:extLst>
                    <a:ext uri="{9D8B030D-6E8A-4147-A177-3AD203B41FA5}">
                      <a16:colId xmlns:a16="http://schemas.microsoft.com/office/drawing/2014/main" val="3239538460"/>
                    </a:ext>
                  </a:extLst>
                </a:gridCol>
                <a:gridCol w="1356504">
                  <a:extLst>
                    <a:ext uri="{9D8B030D-6E8A-4147-A177-3AD203B41FA5}">
                      <a16:colId xmlns:a16="http://schemas.microsoft.com/office/drawing/2014/main" val="2679319367"/>
                    </a:ext>
                  </a:extLst>
                </a:gridCol>
                <a:gridCol w="1356504">
                  <a:extLst>
                    <a:ext uri="{9D8B030D-6E8A-4147-A177-3AD203B41FA5}">
                      <a16:colId xmlns:a16="http://schemas.microsoft.com/office/drawing/2014/main" val="1549743744"/>
                    </a:ext>
                  </a:extLst>
                </a:gridCol>
              </a:tblGrid>
              <a:tr h="217547">
                <a:tc>
                  <a:txBody>
                    <a:bodyPr/>
                    <a:lstStyle/>
                    <a:p>
                      <a:pPr algn="l" fontAlgn="b"/>
                      <a:r>
                        <a:rPr lang="en-ZA" sz="1600" b="1" i="0" u="none" strike="noStrike">
                          <a:solidFill>
                            <a:srgbClr val="002060"/>
                          </a:solidFill>
                          <a:effectLst/>
                          <a:latin typeface="Calibri" panose="020F0502020204030204" pitchFamily="34" charset="0"/>
                        </a:rPr>
                        <a:t>PSA</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ZA" sz="1600" b="0" i="0" u="none" strike="noStrike">
                          <a:solidFill>
                            <a:srgbClr val="002060"/>
                          </a:solidFill>
                          <a:effectLst/>
                          <a:latin typeface="Calibri" panose="020F0502020204030204" pitchFamily="34" charset="0"/>
                        </a:rPr>
                        <a:t>228 233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ctr" fontAlgn="ctr"/>
                      <a:r>
                        <a:rPr lang="en-ZA" sz="1600" b="0" i="0" u="none" strike="noStrike" dirty="0">
                          <a:solidFill>
                            <a:srgbClr val="000000"/>
                          </a:solidFill>
                          <a:effectLst/>
                          <a:latin typeface="Calibri" panose="020F0502020204030204" pitchFamily="34" charset="0"/>
                        </a:rPr>
                        <a:t>18,61%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ctr" fontAlgn="ctr"/>
                      <a:r>
                        <a:rPr lang="en-ZA" sz="1600" b="0" i="0" u="none" strike="noStrike" dirty="0">
                          <a:solidFill>
                            <a:srgbClr val="000000"/>
                          </a:solidFill>
                          <a:effectLst/>
                          <a:latin typeface="Calibri" panose="020F0502020204030204" pitchFamily="34" charset="0"/>
                        </a:rPr>
                        <a:t>5</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98840797"/>
                  </a:ext>
                </a:extLst>
              </a:tr>
              <a:tr h="217547">
                <a:tc>
                  <a:txBody>
                    <a:bodyPr/>
                    <a:lstStyle/>
                    <a:p>
                      <a:pPr algn="l" fontAlgn="b"/>
                      <a:r>
                        <a:rPr lang="en-ZA" sz="1600" b="1" i="0" u="none" strike="noStrike" dirty="0">
                          <a:solidFill>
                            <a:srgbClr val="833C0C"/>
                          </a:solidFill>
                          <a:effectLst/>
                          <a:latin typeface="Calibri" panose="020F0502020204030204" pitchFamily="34" charset="0"/>
                        </a:rPr>
                        <a:t>NPSWU</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ZA" sz="1600" b="0" i="0" u="none" strike="noStrike" dirty="0">
                          <a:solidFill>
                            <a:srgbClr val="002060"/>
                          </a:solidFill>
                          <a:effectLst/>
                          <a:latin typeface="Calibri" panose="020F0502020204030204" pitchFamily="34" charset="0"/>
                        </a:rPr>
                        <a:t>12 635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ZA"/>
                    </a:p>
                  </a:txBody>
                  <a:tcPr/>
                </a:tc>
                <a:tc vMerge="1">
                  <a:txBody>
                    <a:bodyPr/>
                    <a:lstStyle/>
                    <a:p>
                      <a:endParaRPr lang="en-ZA"/>
                    </a:p>
                  </a:txBody>
                  <a:tcPr/>
                </a:tc>
                <a:extLst>
                  <a:ext uri="{0D108BD9-81ED-4DB2-BD59-A6C34878D82A}">
                    <a16:rowId xmlns:a16="http://schemas.microsoft.com/office/drawing/2014/main" val="546754469"/>
                  </a:ext>
                </a:extLst>
              </a:tr>
              <a:tr h="217547">
                <a:tc>
                  <a:txBody>
                    <a:bodyPr/>
                    <a:lstStyle/>
                    <a:p>
                      <a:pPr algn="l" fontAlgn="b"/>
                      <a:r>
                        <a:rPr lang="en-ZA" sz="1600" b="1" i="0" u="none" strike="noStrike" dirty="0">
                          <a:solidFill>
                            <a:srgbClr val="000000"/>
                          </a:solidFill>
                          <a:effectLst/>
                          <a:latin typeface="Calibri" panose="020F0502020204030204" pitchFamily="34" charset="0"/>
                        </a:rPr>
                        <a:t>SUB TOTAL</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ctr" fontAlgn="b"/>
                      <a:r>
                        <a:rPr lang="en-ZA" sz="1600" b="1" i="0" u="sng" strike="noStrike" dirty="0">
                          <a:solidFill>
                            <a:srgbClr val="000000"/>
                          </a:solidFill>
                          <a:effectLst/>
                          <a:latin typeface="Calibri" panose="020F0502020204030204" pitchFamily="34" charset="0"/>
                        </a:rPr>
                        <a:t>240 868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vMerge="1">
                  <a:txBody>
                    <a:bodyPr/>
                    <a:lstStyle/>
                    <a:p>
                      <a:endParaRPr lang="en-ZA"/>
                    </a:p>
                  </a:txBody>
                  <a:tcPr/>
                </a:tc>
                <a:tc vMerge="1">
                  <a:txBody>
                    <a:bodyPr/>
                    <a:lstStyle/>
                    <a:p>
                      <a:endParaRPr lang="en-ZA"/>
                    </a:p>
                  </a:txBody>
                  <a:tcPr/>
                </a:tc>
                <a:extLst>
                  <a:ext uri="{0D108BD9-81ED-4DB2-BD59-A6C34878D82A}">
                    <a16:rowId xmlns:a16="http://schemas.microsoft.com/office/drawing/2014/main" val="3157400320"/>
                  </a:ext>
                </a:extLst>
              </a:tr>
            </a:tbl>
          </a:graphicData>
        </a:graphic>
      </p:graphicFrame>
      <p:graphicFrame>
        <p:nvGraphicFramePr>
          <p:cNvPr id="7" name="Table 6">
            <a:extLst>
              <a:ext uri="{FF2B5EF4-FFF2-40B4-BE49-F238E27FC236}">
                <a16:creationId xmlns:a16="http://schemas.microsoft.com/office/drawing/2014/main" id="{56EBE981-987D-FA52-0BBC-1D7ADAE92D78}"/>
              </a:ext>
            </a:extLst>
          </p:cNvPr>
          <p:cNvGraphicFramePr>
            <a:graphicFrameLocks noGrp="1"/>
          </p:cNvGraphicFramePr>
          <p:nvPr>
            <p:extLst>
              <p:ext uri="{D42A27DB-BD31-4B8C-83A1-F6EECF244321}">
                <p14:modId xmlns:p14="http://schemas.microsoft.com/office/powerpoint/2010/main" val="3852761688"/>
              </p:ext>
            </p:extLst>
          </p:nvPr>
        </p:nvGraphicFramePr>
        <p:xfrm>
          <a:off x="3267305" y="3132358"/>
          <a:ext cx="5426016" cy="500380"/>
        </p:xfrm>
        <a:graphic>
          <a:graphicData uri="http://schemas.openxmlformats.org/drawingml/2006/table">
            <a:tbl>
              <a:tblPr/>
              <a:tblGrid>
                <a:gridCol w="1356504">
                  <a:extLst>
                    <a:ext uri="{9D8B030D-6E8A-4147-A177-3AD203B41FA5}">
                      <a16:colId xmlns:a16="http://schemas.microsoft.com/office/drawing/2014/main" val="3470523051"/>
                    </a:ext>
                  </a:extLst>
                </a:gridCol>
                <a:gridCol w="1356504">
                  <a:extLst>
                    <a:ext uri="{9D8B030D-6E8A-4147-A177-3AD203B41FA5}">
                      <a16:colId xmlns:a16="http://schemas.microsoft.com/office/drawing/2014/main" val="1322527896"/>
                    </a:ext>
                  </a:extLst>
                </a:gridCol>
                <a:gridCol w="1356504">
                  <a:extLst>
                    <a:ext uri="{9D8B030D-6E8A-4147-A177-3AD203B41FA5}">
                      <a16:colId xmlns:a16="http://schemas.microsoft.com/office/drawing/2014/main" val="13806050"/>
                    </a:ext>
                  </a:extLst>
                </a:gridCol>
                <a:gridCol w="1356504">
                  <a:extLst>
                    <a:ext uri="{9D8B030D-6E8A-4147-A177-3AD203B41FA5}">
                      <a16:colId xmlns:a16="http://schemas.microsoft.com/office/drawing/2014/main" val="978723536"/>
                    </a:ext>
                  </a:extLst>
                </a:gridCol>
              </a:tblGrid>
              <a:tr h="184150">
                <a:tc>
                  <a:txBody>
                    <a:bodyPr/>
                    <a:lstStyle/>
                    <a:p>
                      <a:pPr algn="l" fontAlgn="b"/>
                      <a:r>
                        <a:rPr lang="en-ZA" sz="1600" b="1" i="0" u="none" strike="noStrike">
                          <a:solidFill>
                            <a:srgbClr val="000000"/>
                          </a:solidFill>
                          <a:effectLst/>
                          <a:latin typeface="Calibri" panose="020F0502020204030204" pitchFamily="34" charset="0"/>
                        </a:rPr>
                        <a:t>SADTU</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ZA" sz="1600" b="1" i="0" u="sng" strike="noStrike">
                          <a:solidFill>
                            <a:srgbClr val="000000"/>
                          </a:solidFill>
                          <a:effectLst/>
                          <a:latin typeface="Calibri" panose="020F0502020204030204" pitchFamily="34" charset="0"/>
                        </a:rPr>
                        <a:t>286 066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r>
                        <a:rPr lang="en-ZA" sz="1600" b="0" i="0" u="none" strike="noStrike" dirty="0">
                          <a:solidFill>
                            <a:srgbClr val="000000"/>
                          </a:solidFill>
                          <a:effectLst/>
                          <a:latin typeface="Calibri" panose="020F0502020204030204" pitchFamily="34" charset="0"/>
                        </a:rPr>
                        <a:t>22,10%</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r>
                        <a:rPr lang="en-ZA" sz="1600" b="0" i="0" u="none" strike="noStrike" dirty="0">
                          <a:solidFill>
                            <a:srgbClr val="000000"/>
                          </a:solidFill>
                          <a:effectLst/>
                          <a:latin typeface="Calibri" panose="020F0502020204030204" pitchFamily="34" charset="0"/>
                        </a:rPr>
                        <a:t>5</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41145705"/>
                  </a:ext>
                </a:extLst>
              </a:tr>
              <a:tr h="184150">
                <a:tc>
                  <a:txBody>
                    <a:bodyPr/>
                    <a:lstStyle/>
                    <a:p>
                      <a:pPr algn="l" fontAlgn="b"/>
                      <a:r>
                        <a:rPr lang="en-ZA" sz="1600" b="1" i="0" u="none" strike="noStrike">
                          <a:solidFill>
                            <a:srgbClr val="000000"/>
                          </a:solidFill>
                          <a:effectLst/>
                          <a:latin typeface="Calibri" panose="020F0502020204030204" pitchFamily="34" charset="0"/>
                        </a:rPr>
                        <a:t>SUB TOTAL</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ctr" fontAlgn="b"/>
                      <a:r>
                        <a:rPr lang="en-ZA" sz="1600" b="1" i="0" u="sng" strike="noStrike" dirty="0">
                          <a:solidFill>
                            <a:srgbClr val="000000"/>
                          </a:solidFill>
                          <a:effectLst/>
                          <a:latin typeface="Calibri" panose="020F0502020204030204" pitchFamily="34" charset="0"/>
                        </a:rPr>
                        <a:t>286 066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vMerge="1">
                  <a:txBody>
                    <a:bodyPr/>
                    <a:lstStyle/>
                    <a:p>
                      <a:endParaRPr lang="en-ZA"/>
                    </a:p>
                  </a:txBody>
                  <a:tcPr/>
                </a:tc>
                <a:tc vMerge="1">
                  <a:txBody>
                    <a:bodyPr/>
                    <a:lstStyle/>
                    <a:p>
                      <a:endParaRPr lang="en-ZA"/>
                    </a:p>
                  </a:txBody>
                  <a:tcPr/>
                </a:tc>
                <a:extLst>
                  <a:ext uri="{0D108BD9-81ED-4DB2-BD59-A6C34878D82A}">
                    <a16:rowId xmlns:a16="http://schemas.microsoft.com/office/drawing/2014/main" val="3569633107"/>
                  </a:ext>
                </a:extLst>
              </a:tr>
            </a:tbl>
          </a:graphicData>
        </a:graphic>
      </p:graphicFrame>
      <p:graphicFrame>
        <p:nvGraphicFramePr>
          <p:cNvPr id="8" name="Table 7">
            <a:extLst>
              <a:ext uri="{FF2B5EF4-FFF2-40B4-BE49-F238E27FC236}">
                <a16:creationId xmlns:a16="http://schemas.microsoft.com/office/drawing/2014/main" id="{DC4A1AB1-8085-05A3-7BD7-20E12D06097E}"/>
              </a:ext>
            </a:extLst>
          </p:cNvPr>
          <p:cNvGraphicFramePr>
            <a:graphicFrameLocks noGrp="1"/>
          </p:cNvGraphicFramePr>
          <p:nvPr>
            <p:extLst>
              <p:ext uri="{D42A27DB-BD31-4B8C-83A1-F6EECF244321}">
                <p14:modId xmlns:p14="http://schemas.microsoft.com/office/powerpoint/2010/main" val="3302065098"/>
              </p:ext>
            </p:extLst>
          </p:nvPr>
        </p:nvGraphicFramePr>
        <p:xfrm>
          <a:off x="3267304" y="3901351"/>
          <a:ext cx="5426016" cy="1000760"/>
        </p:xfrm>
        <a:graphic>
          <a:graphicData uri="http://schemas.openxmlformats.org/drawingml/2006/table">
            <a:tbl>
              <a:tblPr/>
              <a:tblGrid>
                <a:gridCol w="1356504">
                  <a:extLst>
                    <a:ext uri="{9D8B030D-6E8A-4147-A177-3AD203B41FA5}">
                      <a16:colId xmlns:a16="http://schemas.microsoft.com/office/drawing/2014/main" val="2501883099"/>
                    </a:ext>
                  </a:extLst>
                </a:gridCol>
                <a:gridCol w="1356504">
                  <a:extLst>
                    <a:ext uri="{9D8B030D-6E8A-4147-A177-3AD203B41FA5}">
                      <a16:colId xmlns:a16="http://schemas.microsoft.com/office/drawing/2014/main" val="618540998"/>
                    </a:ext>
                  </a:extLst>
                </a:gridCol>
                <a:gridCol w="1356504">
                  <a:extLst>
                    <a:ext uri="{9D8B030D-6E8A-4147-A177-3AD203B41FA5}">
                      <a16:colId xmlns:a16="http://schemas.microsoft.com/office/drawing/2014/main" val="1449056318"/>
                    </a:ext>
                  </a:extLst>
                </a:gridCol>
                <a:gridCol w="1356504">
                  <a:extLst>
                    <a:ext uri="{9D8B030D-6E8A-4147-A177-3AD203B41FA5}">
                      <a16:colId xmlns:a16="http://schemas.microsoft.com/office/drawing/2014/main" val="1867660056"/>
                    </a:ext>
                  </a:extLst>
                </a:gridCol>
              </a:tblGrid>
              <a:tr h="184150">
                <a:tc>
                  <a:txBody>
                    <a:bodyPr/>
                    <a:lstStyle/>
                    <a:p>
                      <a:pPr algn="l" fontAlgn="b"/>
                      <a:r>
                        <a:rPr lang="en-ZA" sz="1600" b="1" i="0" u="none" strike="noStrike">
                          <a:solidFill>
                            <a:srgbClr val="002060"/>
                          </a:solidFill>
                          <a:effectLst/>
                          <a:latin typeface="Calibri" panose="020F0502020204030204" pitchFamily="34" charset="0"/>
                        </a:rPr>
                        <a:t>SAPU</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ZA" sz="1600" b="0" i="0" u="none" strike="noStrike">
                          <a:solidFill>
                            <a:srgbClr val="002060"/>
                          </a:solidFill>
                          <a:effectLst/>
                          <a:latin typeface="Calibri" panose="020F0502020204030204" pitchFamily="34" charset="0"/>
                        </a:rPr>
                        <a:t>95 260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4">
                  <a:txBody>
                    <a:bodyPr/>
                    <a:lstStyle/>
                    <a:p>
                      <a:pPr algn="ctr" fontAlgn="ctr"/>
                      <a:r>
                        <a:rPr lang="en-ZA" sz="1600" b="0" i="0" u="none" strike="noStrike" dirty="0">
                          <a:solidFill>
                            <a:srgbClr val="000000"/>
                          </a:solidFill>
                          <a:effectLst/>
                          <a:latin typeface="Calibri" panose="020F0502020204030204" pitchFamily="34" charset="0"/>
                        </a:rPr>
                        <a:t>12,26%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4">
                  <a:txBody>
                    <a:bodyPr/>
                    <a:lstStyle/>
                    <a:p>
                      <a:pPr algn="ctr" fontAlgn="ctr"/>
                      <a:r>
                        <a:rPr lang="en-ZA" sz="1600" b="0" i="0" u="none" strike="noStrike" dirty="0">
                          <a:solidFill>
                            <a:srgbClr val="000000"/>
                          </a:solidFill>
                          <a:effectLst/>
                          <a:latin typeface="Calibri" panose="020F0502020204030204" pitchFamily="34" charset="0"/>
                        </a:rPr>
                        <a:t>5</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57105913"/>
                  </a:ext>
                </a:extLst>
              </a:tr>
              <a:tr h="184150">
                <a:tc>
                  <a:txBody>
                    <a:bodyPr/>
                    <a:lstStyle/>
                    <a:p>
                      <a:pPr algn="l" fontAlgn="b"/>
                      <a:r>
                        <a:rPr lang="en-ZA" sz="1600" b="1" i="0" u="none" strike="noStrike">
                          <a:solidFill>
                            <a:srgbClr val="833C0C"/>
                          </a:solidFill>
                          <a:effectLst/>
                          <a:latin typeface="Calibri" panose="020F0502020204030204" pitchFamily="34" charset="0"/>
                        </a:rPr>
                        <a:t>PEU</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ZA" sz="1600" b="0" i="0" u="none" strike="noStrike">
                          <a:solidFill>
                            <a:srgbClr val="002060"/>
                          </a:solidFill>
                          <a:effectLst/>
                          <a:latin typeface="Calibri" panose="020F0502020204030204" pitchFamily="34" charset="0"/>
                        </a:rPr>
                        <a:t>7 583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ZA"/>
                    </a:p>
                  </a:txBody>
                  <a:tcPr/>
                </a:tc>
                <a:tc vMerge="1">
                  <a:txBody>
                    <a:bodyPr/>
                    <a:lstStyle/>
                    <a:p>
                      <a:endParaRPr lang="en-ZA"/>
                    </a:p>
                  </a:txBody>
                  <a:tcPr/>
                </a:tc>
                <a:extLst>
                  <a:ext uri="{0D108BD9-81ED-4DB2-BD59-A6C34878D82A}">
                    <a16:rowId xmlns:a16="http://schemas.microsoft.com/office/drawing/2014/main" val="2342834987"/>
                  </a:ext>
                </a:extLst>
              </a:tr>
              <a:tr h="184150">
                <a:tc>
                  <a:txBody>
                    <a:bodyPr/>
                    <a:lstStyle/>
                    <a:p>
                      <a:pPr algn="l" fontAlgn="b"/>
                      <a:r>
                        <a:rPr lang="en-ZA" sz="1600" b="1" i="0" u="none" strike="noStrike">
                          <a:solidFill>
                            <a:srgbClr val="833C0C"/>
                          </a:solidFill>
                          <a:effectLst/>
                          <a:latin typeface="Calibri" panose="020F0502020204030204" pitchFamily="34" charset="0"/>
                        </a:rPr>
                        <a:t>NUPSAW</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ZA" sz="1600" b="0" i="0" u="none" strike="noStrike" dirty="0">
                          <a:solidFill>
                            <a:srgbClr val="002060"/>
                          </a:solidFill>
                          <a:effectLst/>
                          <a:latin typeface="Calibri" panose="020F0502020204030204" pitchFamily="34" charset="0"/>
                        </a:rPr>
                        <a:t>55 823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ZA"/>
                    </a:p>
                  </a:txBody>
                  <a:tcPr/>
                </a:tc>
                <a:tc vMerge="1">
                  <a:txBody>
                    <a:bodyPr/>
                    <a:lstStyle/>
                    <a:p>
                      <a:endParaRPr lang="en-ZA"/>
                    </a:p>
                  </a:txBody>
                  <a:tcPr/>
                </a:tc>
                <a:extLst>
                  <a:ext uri="{0D108BD9-81ED-4DB2-BD59-A6C34878D82A}">
                    <a16:rowId xmlns:a16="http://schemas.microsoft.com/office/drawing/2014/main" val="655339528"/>
                  </a:ext>
                </a:extLst>
              </a:tr>
              <a:tr h="184150">
                <a:tc>
                  <a:txBody>
                    <a:bodyPr/>
                    <a:lstStyle/>
                    <a:p>
                      <a:pPr algn="l" fontAlgn="b"/>
                      <a:r>
                        <a:rPr lang="en-ZA" sz="1600" b="1" i="0" u="none" strike="noStrike">
                          <a:solidFill>
                            <a:srgbClr val="000000"/>
                          </a:solidFill>
                          <a:effectLst/>
                          <a:latin typeface="Calibri" panose="020F0502020204030204" pitchFamily="34" charset="0"/>
                        </a:rPr>
                        <a:t>SUB TOTAL</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ctr" fontAlgn="b"/>
                      <a:r>
                        <a:rPr lang="en-ZA" sz="1600" b="1" i="0" u="sng" strike="noStrike" dirty="0">
                          <a:solidFill>
                            <a:srgbClr val="000000"/>
                          </a:solidFill>
                          <a:effectLst/>
                          <a:latin typeface="Calibri" panose="020F0502020204030204" pitchFamily="34" charset="0"/>
                        </a:rPr>
                        <a:t>158 666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vMerge="1">
                  <a:txBody>
                    <a:bodyPr/>
                    <a:lstStyle/>
                    <a:p>
                      <a:endParaRPr lang="en-ZA"/>
                    </a:p>
                  </a:txBody>
                  <a:tcPr/>
                </a:tc>
                <a:tc vMerge="1">
                  <a:txBody>
                    <a:bodyPr/>
                    <a:lstStyle/>
                    <a:p>
                      <a:endParaRPr lang="en-ZA"/>
                    </a:p>
                  </a:txBody>
                  <a:tcPr/>
                </a:tc>
                <a:extLst>
                  <a:ext uri="{0D108BD9-81ED-4DB2-BD59-A6C34878D82A}">
                    <a16:rowId xmlns:a16="http://schemas.microsoft.com/office/drawing/2014/main" val="3680263468"/>
                  </a:ext>
                </a:extLst>
              </a:tr>
            </a:tbl>
          </a:graphicData>
        </a:graphic>
      </p:graphicFrame>
      <p:graphicFrame>
        <p:nvGraphicFramePr>
          <p:cNvPr id="12" name="Object 11">
            <a:extLst>
              <a:ext uri="{FF2B5EF4-FFF2-40B4-BE49-F238E27FC236}">
                <a16:creationId xmlns:a16="http://schemas.microsoft.com/office/drawing/2014/main" id="{A1F4DB28-0C19-5125-BB41-3BE468403C87}"/>
              </a:ext>
            </a:extLst>
          </p:cNvPr>
          <p:cNvGraphicFramePr>
            <a:graphicFrameLocks noChangeAspect="1"/>
          </p:cNvGraphicFramePr>
          <p:nvPr>
            <p:extLst>
              <p:ext uri="{D42A27DB-BD31-4B8C-83A1-F6EECF244321}">
                <p14:modId xmlns:p14="http://schemas.microsoft.com/office/powerpoint/2010/main" val="278880836"/>
              </p:ext>
            </p:extLst>
          </p:nvPr>
        </p:nvGraphicFramePr>
        <p:xfrm>
          <a:off x="3267305" y="1043959"/>
          <a:ext cx="5426015" cy="301762"/>
        </p:xfrm>
        <a:graphic>
          <a:graphicData uri="http://schemas.openxmlformats.org/presentationml/2006/ole">
            <mc:AlternateContent xmlns:mc="http://schemas.openxmlformats.org/markup-compatibility/2006">
              <mc:Choice xmlns:v="urn:schemas-microsoft-com:vml" Requires="v">
                <p:oleObj name="Worksheet" r:id="rId4" imgW="4349830" imgH="196985" progId="Excel.Sheet.12">
                  <p:embed/>
                </p:oleObj>
              </mc:Choice>
              <mc:Fallback>
                <p:oleObj name="Worksheet" r:id="rId4" imgW="4349830" imgH="196985" progId="Excel.Sheet.12">
                  <p:embed/>
                  <p:pic>
                    <p:nvPicPr>
                      <p:cNvPr id="12" name="Object 11">
                        <a:extLst>
                          <a:ext uri="{FF2B5EF4-FFF2-40B4-BE49-F238E27FC236}">
                            <a16:creationId xmlns:a16="http://schemas.microsoft.com/office/drawing/2014/main" id="{A1F4DB28-0C19-5125-BB41-3BE468403C87}"/>
                          </a:ext>
                        </a:extLst>
                      </p:cNvPr>
                      <p:cNvPicPr/>
                      <p:nvPr/>
                    </p:nvPicPr>
                    <p:blipFill>
                      <a:blip r:embed="rId5"/>
                      <a:stretch>
                        <a:fillRect/>
                      </a:stretch>
                    </p:blipFill>
                    <p:spPr>
                      <a:xfrm>
                        <a:off x="3267305" y="1043959"/>
                        <a:ext cx="5426015" cy="301762"/>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2DB191F3-7551-159E-F8E6-9388522C5FB7}"/>
              </a:ext>
            </a:extLst>
          </p:cNvPr>
          <p:cNvGraphicFramePr>
            <a:graphicFrameLocks noChangeAspect="1"/>
          </p:cNvGraphicFramePr>
          <p:nvPr>
            <p:extLst>
              <p:ext uri="{D42A27DB-BD31-4B8C-83A1-F6EECF244321}">
                <p14:modId xmlns:p14="http://schemas.microsoft.com/office/powerpoint/2010/main" val="4108510410"/>
              </p:ext>
            </p:extLst>
          </p:nvPr>
        </p:nvGraphicFramePr>
        <p:xfrm>
          <a:off x="3267304" y="5170724"/>
          <a:ext cx="5426016" cy="291293"/>
        </p:xfrm>
        <a:graphic>
          <a:graphicData uri="http://schemas.openxmlformats.org/presentationml/2006/ole">
            <mc:AlternateContent xmlns:mc="http://schemas.openxmlformats.org/markup-compatibility/2006">
              <mc:Choice xmlns:v="urn:schemas-microsoft-com:vml" Requires="v">
                <p:oleObj name="Worksheet" r:id="rId6" imgW="4349830" imgH="196985" progId="Excel.Sheet.12">
                  <p:embed/>
                </p:oleObj>
              </mc:Choice>
              <mc:Fallback>
                <p:oleObj name="Worksheet" r:id="rId6" imgW="4349830" imgH="196985" progId="Excel.Sheet.12">
                  <p:embed/>
                  <p:pic>
                    <p:nvPicPr>
                      <p:cNvPr id="0" name=""/>
                      <p:cNvPicPr/>
                      <p:nvPr/>
                    </p:nvPicPr>
                    <p:blipFill>
                      <a:blip r:embed="rId7"/>
                      <a:stretch>
                        <a:fillRect/>
                      </a:stretch>
                    </p:blipFill>
                    <p:spPr>
                      <a:xfrm>
                        <a:off x="3267304" y="5170724"/>
                        <a:ext cx="5426016" cy="291293"/>
                      </a:xfrm>
                      <a:prstGeom prst="rect">
                        <a:avLst/>
                      </a:prstGeom>
                    </p:spPr>
                  </p:pic>
                </p:oleObj>
              </mc:Fallback>
            </mc:AlternateContent>
          </a:graphicData>
        </a:graphic>
      </p:graphicFrame>
    </p:spTree>
    <p:extLst>
      <p:ext uri="{BB962C8B-B14F-4D97-AF65-F5344CB8AC3E}">
        <p14:creationId xmlns:p14="http://schemas.microsoft.com/office/powerpoint/2010/main" val="973599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251789" y="0"/>
            <a:ext cx="12695578" cy="6857999"/>
          </a:xfrm>
          <a:prstGeom prst="rect">
            <a:avLst/>
          </a:prstGeom>
        </p:spPr>
      </p:pic>
      <p:sp>
        <p:nvSpPr>
          <p:cNvPr id="4" name="TextBox 3"/>
          <p:cNvSpPr txBox="1"/>
          <p:nvPr/>
        </p:nvSpPr>
        <p:spPr>
          <a:xfrm>
            <a:off x="8871058" y="3063776"/>
            <a:ext cx="3090205" cy="2123658"/>
          </a:xfrm>
          <a:prstGeom prst="rect">
            <a:avLst/>
          </a:prstGeom>
          <a:noFill/>
        </p:spPr>
        <p:txBody>
          <a:bodyPr wrap="square" rtlCol="0">
            <a:spAutoFit/>
          </a:bodyPr>
          <a:lstStyle/>
          <a:p>
            <a:pPr algn="r"/>
            <a:r>
              <a:rPr lang="en-ZA" sz="6600" b="1" dirty="0">
                <a:solidFill>
                  <a:schemeClr val="bg1"/>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10003417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B9D6D9FC-37DA-4639-AF0B-61EB9C54753A}" vid="{725E97AF-1180-44A5-9052-E7BBF75953D9}"/>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B9D6D9FC-37DA-4639-AF0B-61EB9C54753A}" vid="{725E97AF-1180-44A5-9052-E7BBF75953D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2981</TotalTime>
  <Words>343</Words>
  <Application>Microsoft Office PowerPoint</Application>
  <PresentationFormat>Widescreen</PresentationFormat>
  <Paragraphs>88</Paragraphs>
  <Slides>6</Slides>
  <Notes>2</Notes>
  <HiddenSlides>0</HiddenSlides>
  <MMClips>0</MMClips>
  <ScaleCrop>false</ScaleCrop>
  <HeadingPairs>
    <vt:vector size="8" baseType="variant">
      <vt:variant>
        <vt:lpstr>Fonts Used</vt:lpstr>
      </vt:variant>
      <vt:variant>
        <vt:i4>4</vt:i4>
      </vt:variant>
      <vt:variant>
        <vt:lpstr>Theme</vt:lpstr>
      </vt:variant>
      <vt:variant>
        <vt:i4>2</vt:i4>
      </vt:variant>
      <vt:variant>
        <vt:lpstr>Embedded OLE Servers</vt:lpstr>
      </vt:variant>
      <vt:variant>
        <vt:i4>2</vt:i4>
      </vt:variant>
      <vt:variant>
        <vt:lpstr>Slide Titles</vt:lpstr>
      </vt:variant>
      <vt:variant>
        <vt:i4>6</vt:i4>
      </vt:variant>
    </vt:vector>
  </HeadingPairs>
  <TitlesOfParts>
    <vt:vector size="14" baseType="lpstr">
      <vt:lpstr>Aptos</vt:lpstr>
      <vt:lpstr>Arial</vt:lpstr>
      <vt:lpstr>Calibri</vt:lpstr>
      <vt:lpstr>Calibri Light</vt:lpstr>
      <vt:lpstr>Office Theme</vt:lpstr>
      <vt:lpstr>1_Office Theme</vt:lpstr>
      <vt:lpstr>Worksheet</vt:lpstr>
      <vt:lpstr>Microsoft Excel Worksheet</vt:lpstr>
      <vt:lpstr>PowerPoint Presentation</vt:lpstr>
      <vt:lpstr>PowerPoint Presentation</vt:lpstr>
      <vt:lpstr>PowerPoint Presentation</vt:lpstr>
      <vt:lpstr>DETERMINATION</vt:lpstr>
      <vt:lpstr>DETERMINATION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 Of A Baguette</dc:creator>
  <cp:lastModifiedBy>Mpho Moseki</cp:lastModifiedBy>
  <cp:revision>12</cp:revision>
  <dcterms:created xsi:type="dcterms:W3CDTF">2025-02-18T12:08:31Z</dcterms:created>
  <dcterms:modified xsi:type="dcterms:W3CDTF">2026-06-25T08:21:55Z</dcterms:modified>
</cp:coreProperties>
</file>